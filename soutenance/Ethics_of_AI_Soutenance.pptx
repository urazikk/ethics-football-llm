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e et biais" id="{8fb80d62-35d9-fbea-e13a-2085aba25bf0}">
          <p14:sldIdLst>
            <p14:sldId id="256"/>
            <p14:sldId id="257"/>
            <p14:sldId id="258"/>
            <p14:sldId id="259"/>
          </p14:sldIdLst>
        </p14:section>
        <p14:section name="Méthode" id="{ff8d1232-ad6a-427c-b38e-3c1b55d2f977}">
          <p14:sldIdLst>
            <p14:sldId id="260"/>
            <p14:sldId id="261"/>
            <p14:sldId id="262"/>
            <p14:sldId id="263"/>
          </p14:sldIdLst>
        </p14:section>
        <p14:section name="Démo et limites" id="{2cd09194-5fd5-d20f-75a7-915170416099}">
          <p14:sldIdLst>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GAUTIER (15 s). Bonjour. Notre projet : un petit LLM qui aide un club à construire sa short-list d'attaquants, et qui ne doit pas discriminer selon la nationalité.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GAUTIER (40 s). Le cas d'usage : un club veut un assistant qui décide si un attaquant entre dans sa short-list. C'est une décision qui touche des personnes, donc on a commencé par cartographier les parties prenantes : les joueurs, le club, les agents, et les régulateurs, puisque le recrutement serait un usage à fort impact au sens de l'AI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GAUTIER (30 s). Les données viennent de Transfermarkt via Kaggle : près de 6 900 saisons d'attaquants dans les cinq grands championnats, sur 14 saisons. Pour chaque saison on a les stats, la nationalité, le club et la valeur marchande.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GAUTIER (45 s). Exemple : Gervinho et Higuaín, même saison, même championnat, exactement 6 buts et 4 passes. L'un vaut 5,5 millions, l'autre 25,5. Sur tout le dataset, à performance égale, un attaquant sud-américain vaut 25 % de plus, un africain 8 % de moins. Si on apprend la short-list sur ces valeurs historiques, le disparate impact tombe à 0,65, sous le seuil légal de 80 %. Je laisse Simon expliquer comment on corrige ça.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SIMON (50 s). On agit à trois endroits. Sur les données : on remplace le label historique par un label corrigé, la valeur que justifie la seule performance, et on repondère les exemples (reweighing de Kamiran et Calders). Sur l'entrée : on masque la nationalité du prompt, mais l'ablation montre que ça ne suffit pas, le club sert de proxy. En sortie : des seuils par groupe pour la parité démographique.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SIMON (50 s). Le LLM est Qwen2.5 0,5 milliard, il tourne sur un GPU Colab. On l'adapte avec les trois méthodes vues en cours : fine-tuning complet, LoRA, et distillation, où un élève de 8 couches imite le modèle fine-tuné. Chacune existe en version biaisée, sur les labels historiques, et corrigée. Few-shot et RAG servent de références sans entraînement.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SIMON (60 s). [Chiffres à compléter après le run Colab.] On compare la F1 par rapport au label corrigé, le disparate impact, et l'efficacité : paramètres entraînés et temps d'entraînement. Le critère est explicite : la F1, pénalisée si le disparate impact passe sous 0,8. Point d'honnêteté : les versions corrigées sont notées sur le label qu'elles apprennent, donc on regarde aussi la F1 sur le label historique.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SIMON (60 s). Le LLM lit du texte, donc on encode le profil en variables, on les perturbe, on reconstruit un prompt à chaque fois et on lit P(YES). LIME donne les variables qui portent la décision localement, SHAP la contribution de chacune. [Commenter la figure : poids de la nationalité avant, puis après correction.] Limite assumée : une explication n'est pas une justification.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MATHIS (50 s). Plutôt qu'un profil inventé, on reprend notre vraie paire : Gervinho et Higuaín, mêmes stats. Avec le modèle biaisé, [chiffres] : Higuaín est favorisé. Avec le modèle corrigé, [chiffres] : les deux sont traités de la même façon. Et si on donne à Gervinho la nationalité argentine, sans rien changer d'autre, le modèle biaisé [chiffre] : c'est la preuve que la nationalité seule faisait la différence. SHAP, qu'a montré Simon, explique pourquoi.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MATHIS (40 s). En bonus, un widget dans le notebook : on choisit un joueur et une saison, et on compare sa valeur Transfermarkt à la valeur que justifient ses stats. Au-delà de +20 % il est surcoté, en dessous de -20 % sous-coté. [Démo live possible : un joueur connu.]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MATHIS (40 s). On a joué l'adversaire : injection de texte dans le profil, et proxy en plaçant le joueur dans un club brésilien. Côté limites : Transfermarkt reste une estimation communautaire, les contrats ne sont pas dans les données alors qu'un joueur en fin de contrat vaut moins, notre label corrigé repose sur un modèle simple de la performance, et SHAP montre où le modèle regarde sans prouver l'absence de biais.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MATHIS (20 s). Pour conclure : on a mesuré le biais, on l'a réduit sur les données, l'entrée et la sortie, on a choisi le modèle sur un critère qui combine performance et équité, et chaque décision est expliquée. Merci, place aux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ELOUSE_TITRE">
    <p:bg>
      <p:bgPr>
        <a:solidFill>
          <a:srgbClr val="1F4A1A"/>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F4A1A"/>
          </a:solidFill>
          <a:ln/>
        </p:spPr>
      </p:sp>
      <p:sp>
        <p:nvSpPr>
          <p:cNvPr id="3" name="Shape 1"/>
          <p:cNvSpPr/>
          <p:nvPr/>
        </p:nvSpPr>
        <p:spPr>
          <a:xfrm>
            <a:off x="0" y="0"/>
            <a:ext cx="914400" cy="5143500"/>
          </a:xfrm>
          <a:prstGeom prst="rect">
            <a:avLst/>
          </a:prstGeom>
          <a:solidFill>
            <a:srgbClr val="245421"/>
          </a:solidFill>
          <a:ln/>
        </p:spPr>
      </p:sp>
      <p:sp>
        <p:nvSpPr>
          <p:cNvPr id="4" name="Shape 2"/>
          <p:cNvSpPr/>
          <p:nvPr/>
        </p:nvSpPr>
        <p:spPr>
          <a:xfrm>
            <a:off x="1828800" y="0"/>
            <a:ext cx="914400" cy="5143500"/>
          </a:xfrm>
          <a:prstGeom prst="rect">
            <a:avLst/>
          </a:prstGeom>
          <a:solidFill>
            <a:srgbClr val="245421"/>
          </a:solidFill>
          <a:ln/>
        </p:spPr>
      </p:sp>
      <p:sp>
        <p:nvSpPr>
          <p:cNvPr id="5" name="Shape 3"/>
          <p:cNvSpPr/>
          <p:nvPr/>
        </p:nvSpPr>
        <p:spPr>
          <a:xfrm>
            <a:off x="3657600" y="0"/>
            <a:ext cx="914400" cy="5143500"/>
          </a:xfrm>
          <a:prstGeom prst="rect">
            <a:avLst/>
          </a:prstGeom>
          <a:solidFill>
            <a:srgbClr val="245421"/>
          </a:solidFill>
          <a:ln/>
        </p:spPr>
      </p:sp>
      <p:sp>
        <p:nvSpPr>
          <p:cNvPr id="6" name="Shape 4"/>
          <p:cNvSpPr/>
          <p:nvPr/>
        </p:nvSpPr>
        <p:spPr>
          <a:xfrm>
            <a:off x="5486400" y="0"/>
            <a:ext cx="914400" cy="5143500"/>
          </a:xfrm>
          <a:prstGeom prst="rect">
            <a:avLst/>
          </a:prstGeom>
          <a:solidFill>
            <a:srgbClr val="245421"/>
          </a:solidFill>
          <a:ln/>
        </p:spPr>
      </p:sp>
      <p:sp>
        <p:nvSpPr>
          <p:cNvPr id="7" name="Shape 5"/>
          <p:cNvSpPr/>
          <p:nvPr/>
        </p:nvSpPr>
        <p:spPr>
          <a:xfrm>
            <a:off x="7315200" y="0"/>
            <a:ext cx="914400" cy="5143500"/>
          </a:xfrm>
          <a:prstGeom prst="rect">
            <a:avLst/>
          </a:prstGeom>
          <a:solidFill>
            <a:srgbClr val="245421"/>
          </a:solidFill>
          <a:ln/>
        </p:spPr>
      </p:sp>
      <p:sp>
        <p:nvSpPr>
          <p:cNvPr id="8" name="Shape 6"/>
          <p:cNvSpPr/>
          <p:nvPr/>
        </p:nvSpPr>
        <p:spPr>
          <a:xfrm>
            <a:off x="4572000" y="0"/>
            <a:ext cx="0" cy="5143500"/>
          </a:xfrm>
          <a:prstGeom prst="line">
            <a:avLst/>
          </a:prstGeom>
          <a:noFill/>
          <a:ln w="15875">
            <a:solidFill>
              <a:srgbClr val="3F6D38"/>
            </a:solidFill>
            <a:prstDash val="solid"/>
          </a:ln>
        </p:spPr>
      </p:sp>
      <p:sp>
        <p:nvSpPr>
          <p:cNvPr id="9" name="Shape 7"/>
          <p:cNvSpPr/>
          <p:nvPr/>
        </p:nvSpPr>
        <p:spPr>
          <a:xfrm>
            <a:off x="3749040" y="1746504"/>
            <a:ext cx="1645920" cy="1645920"/>
          </a:xfrm>
          <a:prstGeom prst="rect">
            <a:avLst/>
          </a:prstGeom>
          <a:ln w="15875">
            <a:solidFill>
              <a:srgbClr val="3F6D38"/>
            </a:solidFill>
            <a:prstDash val="solid"/>
          </a:ln>
        </p:spPr>
      </p:sp>
      <p:sp>
        <p:nvSpPr>
          <p:cNvPr id="10" name="Shape 8"/>
          <p:cNvSpPr/>
          <p:nvPr/>
        </p:nvSpPr>
        <p:spPr>
          <a:xfrm>
            <a:off x="320040" y="320040"/>
            <a:ext cx="8503920" cy="4503420"/>
          </a:xfrm>
          <a:prstGeom prst="rect">
            <a:avLst/>
          </a:prstGeom>
          <a:ln w="15875">
            <a:solidFill>
              <a:srgbClr val="3F6D38"/>
            </a:solidFill>
            <a:prstDash val="solid"/>
          </a:ln>
        </p:spPr>
      </p:sp>
      <p:sp>
        <p:nvSpPr>
          <p:cNvPr id="11" name="Shape 9"/>
          <p:cNvSpPr/>
          <p:nvPr/>
        </p:nvSpPr>
        <p:spPr>
          <a:xfrm>
            <a:off x="7635240" y="1463040"/>
            <a:ext cx="1188720" cy="2217420"/>
          </a:xfrm>
          <a:prstGeom prst="rect">
            <a:avLst/>
          </a:prstGeom>
          <a:ln w="15875">
            <a:solidFill>
              <a:srgbClr val="3F6D38"/>
            </a:solidFill>
            <a:prstDash val="solid"/>
          </a:ln>
        </p:spPr>
      </p:sp>
      <p:sp>
        <p:nvSpPr>
          <p:cNvPr id="12" name="Shape 10"/>
          <p:cNvSpPr/>
          <p:nvPr/>
        </p:nvSpPr>
        <p:spPr>
          <a:xfrm>
            <a:off x="320040" y="1463040"/>
            <a:ext cx="1188720" cy="2217420"/>
          </a:xfrm>
          <a:prstGeom prst="rect">
            <a:avLst/>
          </a:prstGeom>
          <a:ln w="15875">
            <a:solidFill>
              <a:srgbClr val="3F6D38"/>
            </a:solidFill>
            <a:prstDash val="solid"/>
          </a:ln>
        </p:spPr>
      </p:sp>
      <p:sp>
        <p:nvSpPr>
          <p:cNvPr id="13" name="Text 11"/>
          <p:cNvSpPr/>
          <p:nvPr>
            <p:ph idx="111" type="body" hasCustomPrompt="1"/>
          </p:nvPr>
        </p:nvSpPr>
        <p:spPr>
          <a:xfrm>
            <a:off x="731520" y="731520"/>
            <a:ext cx="7315200" cy="274320"/>
          </a:xfrm>
          <a:prstGeom prst="rect">
            <a:avLst/>
          </a:prstGeom>
          <a:noFill/>
          <a:ln/>
        </p:spPr>
        <p:txBody>
          <a:bodyPr wrap="square" rtlCol="0"/>
          <a:lstStyle>
            <a:lvl1pPr indent="0" marL="0">
              <a:buNone/>
              <a:defRPr lang="en-US" sz="1100" b="1" spc="300" kern="0" dirty="0">
                <a:solidFill>
                  <a:schemeClr val="accent6"/>
                </a:solidFill>
                <a:latin typeface="Calibri" pitchFamily="34" charset="0"/>
                <a:ea typeface="Calibri" pitchFamily="34" charset="-122"/>
                <a:cs typeface="Calibri" pitchFamily="34" charset="-120"/>
              </a:defRPr>
            </a:lvl1pPr>
          </a:lstStyle>
          <a:p>
            <a:pPr indent="0" marL="0">
              <a:buNone/>
            </a:pPr>
            <a:endParaRPr lang="en-US" sz="1100" dirty="0"/>
          </a:p>
        </p:txBody>
      </p:sp>
      <p:sp>
        <p:nvSpPr>
          <p:cNvPr id="14" name="Text 11"/>
          <p:cNvSpPr/>
          <p:nvPr>
            <p:ph idx="112" type="title" hasCustomPrompt="1"/>
          </p:nvPr>
        </p:nvSpPr>
        <p:spPr>
          <a:xfrm>
            <a:off x="731520" y="1874520"/>
            <a:ext cx="7680960" cy="1371600"/>
          </a:xfrm>
          <a:prstGeom prst="rect">
            <a:avLst/>
          </a:prstGeom>
          <a:noFill/>
          <a:ln/>
        </p:spPr>
        <p:txBody>
          <a:bodyPr wrap="square" rtlCol="0"/>
          <a:lstStyle>
            <a:lvl1pPr algn="l" indent="0" marL="0">
              <a:buNone/>
              <a:defRPr lang="en-US" sz="5400" b="1" dirty="0">
                <a:solidFill>
                  <a:schemeClr val="bg1"/>
                </a:solidFill>
                <a:latin typeface="Arial Narrow" pitchFamily="34" charset="0"/>
                <a:ea typeface="Arial Narrow" pitchFamily="34" charset="-122"/>
                <a:cs typeface="Arial Narrow" pitchFamily="34" charset="-120"/>
              </a:defRPr>
            </a:lvl1pPr>
          </a:lstStyle>
          <a:p>
            <a:pPr algn="l" indent="0" marL="0">
              <a:buNone/>
            </a:pPr>
            <a:endParaRPr lang="en-US" sz="5400" dirty="0"/>
          </a:p>
        </p:txBody>
      </p:sp>
      <p:sp>
        <p:nvSpPr>
          <p:cNvPr id="15" name="Text 11"/>
          <p:cNvSpPr/>
          <p:nvPr>
            <p:ph idx="113" type="body" hasCustomPrompt="1"/>
          </p:nvPr>
        </p:nvSpPr>
        <p:spPr>
          <a:xfrm>
            <a:off x="731520" y="3337560"/>
            <a:ext cx="7680960" cy="457200"/>
          </a:xfrm>
          <a:prstGeom prst="rect">
            <a:avLst/>
          </a:prstGeom>
          <a:noFill/>
          <a:ln/>
        </p:spPr>
        <p:txBody>
          <a:bodyPr wrap="square" rtlCol="0"/>
          <a:lstStyle>
            <a:lvl1pPr indent="0" marL="0">
              <a:buNone/>
              <a:defRPr lang="en-US" sz="2000" dirty="0">
                <a:solidFill>
                  <a:schemeClr val="accent6"/>
                </a:solidFill>
                <a:latin typeface="Calibri" pitchFamily="34" charset="0"/>
                <a:ea typeface="Calibri" pitchFamily="34" charset="-122"/>
                <a:cs typeface="Calibri" pitchFamily="34" charset="-120"/>
              </a:defRPr>
            </a:lvl1pPr>
          </a:lstStyle>
          <a:p>
            <a:pPr indent="0" marL="0">
              <a:buNone/>
            </a:pPr>
            <a:endParaRPr lang="en-US" sz="2000" dirty="0"/>
          </a:p>
        </p:txBody>
      </p:sp>
      <p:sp>
        <p:nvSpPr>
          <p:cNvPr id="16" name="Text 11"/>
          <p:cNvSpPr/>
          <p:nvPr>
            <p:ph idx="114" type="body" hasCustomPrompt="1"/>
          </p:nvPr>
        </p:nvSpPr>
        <p:spPr>
          <a:xfrm>
            <a:off x="731520" y="4160520"/>
            <a:ext cx="7680960" cy="320040"/>
          </a:xfrm>
          <a:prstGeom prst="rect">
            <a:avLst/>
          </a:prstGeom>
          <a:noFill/>
          <a:ln/>
        </p:spPr>
        <p:txBody>
          <a:bodyPr wrap="square" rtlCol="0"/>
          <a:lstStyle>
            <a:lvl1pPr indent="0" marL="0">
              <a:buNone/>
              <a:defRPr lang="en-US" sz="1200" dirty="0">
                <a:solidFill>
                  <a:schemeClr val="bg2"/>
                </a:solidFill>
                <a:latin typeface="Calibri" pitchFamily="34" charset="0"/>
                <a:ea typeface="Calibri" pitchFamily="34" charset="-122"/>
                <a:cs typeface="Calibri" pitchFamily="34" charset="-120"/>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ELOUSE_CONTENU">
    <p:bg>
      <p:bgPr>
        <a:solidFill>
          <a:srgbClr val="1F4A1A"/>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F4A1A"/>
          </a:solidFill>
          <a:ln/>
        </p:spPr>
      </p:sp>
      <p:sp>
        <p:nvSpPr>
          <p:cNvPr id="3" name="Shape 1"/>
          <p:cNvSpPr/>
          <p:nvPr/>
        </p:nvSpPr>
        <p:spPr>
          <a:xfrm>
            <a:off x="0" y="0"/>
            <a:ext cx="914400" cy="5143500"/>
          </a:xfrm>
          <a:prstGeom prst="rect">
            <a:avLst/>
          </a:prstGeom>
          <a:solidFill>
            <a:srgbClr val="245421"/>
          </a:solidFill>
          <a:ln/>
        </p:spPr>
      </p:sp>
      <p:sp>
        <p:nvSpPr>
          <p:cNvPr id="4" name="Shape 2"/>
          <p:cNvSpPr/>
          <p:nvPr/>
        </p:nvSpPr>
        <p:spPr>
          <a:xfrm>
            <a:off x="1828800" y="0"/>
            <a:ext cx="914400" cy="5143500"/>
          </a:xfrm>
          <a:prstGeom prst="rect">
            <a:avLst/>
          </a:prstGeom>
          <a:solidFill>
            <a:srgbClr val="245421"/>
          </a:solidFill>
          <a:ln/>
        </p:spPr>
      </p:sp>
      <p:sp>
        <p:nvSpPr>
          <p:cNvPr id="5" name="Shape 3"/>
          <p:cNvSpPr/>
          <p:nvPr/>
        </p:nvSpPr>
        <p:spPr>
          <a:xfrm>
            <a:off x="3657600" y="0"/>
            <a:ext cx="914400" cy="5143500"/>
          </a:xfrm>
          <a:prstGeom prst="rect">
            <a:avLst/>
          </a:prstGeom>
          <a:solidFill>
            <a:srgbClr val="245421"/>
          </a:solidFill>
          <a:ln/>
        </p:spPr>
      </p:sp>
      <p:sp>
        <p:nvSpPr>
          <p:cNvPr id="6" name="Shape 4"/>
          <p:cNvSpPr/>
          <p:nvPr/>
        </p:nvSpPr>
        <p:spPr>
          <a:xfrm>
            <a:off x="5486400" y="0"/>
            <a:ext cx="914400" cy="5143500"/>
          </a:xfrm>
          <a:prstGeom prst="rect">
            <a:avLst/>
          </a:prstGeom>
          <a:solidFill>
            <a:srgbClr val="245421"/>
          </a:solidFill>
          <a:ln/>
        </p:spPr>
      </p:sp>
      <p:sp>
        <p:nvSpPr>
          <p:cNvPr id="7" name="Shape 5"/>
          <p:cNvSpPr/>
          <p:nvPr/>
        </p:nvSpPr>
        <p:spPr>
          <a:xfrm>
            <a:off x="7315200" y="0"/>
            <a:ext cx="914400" cy="5143500"/>
          </a:xfrm>
          <a:prstGeom prst="rect">
            <a:avLst/>
          </a:prstGeom>
          <a:solidFill>
            <a:srgbClr val="245421"/>
          </a:solidFill>
          <a:ln/>
        </p:spPr>
      </p:sp>
      <p:sp>
        <p:nvSpPr>
          <p:cNvPr id="8" name="Shape 6"/>
          <p:cNvSpPr/>
          <p:nvPr/>
        </p:nvSpPr>
        <p:spPr>
          <a:xfrm>
            <a:off x="4572000" y="0"/>
            <a:ext cx="0" cy="5143500"/>
          </a:xfrm>
          <a:prstGeom prst="line">
            <a:avLst/>
          </a:prstGeom>
          <a:noFill/>
          <a:ln w="15875">
            <a:solidFill>
              <a:srgbClr val="3F6D38"/>
            </a:solidFill>
            <a:prstDash val="solid"/>
          </a:ln>
        </p:spPr>
      </p:sp>
      <p:sp>
        <p:nvSpPr>
          <p:cNvPr id="9" name="Shape 7"/>
          <p:cNvSpPr/>
          <p:nvPr/>
        </p:nvSpPr>
        <p:spPr>
          <a:xfrm>
            <a:off x="3749040" y="1746504"/>
            <a:ext cx="1645920" cy="1645920"/>
          </a:xfrm>
          <a:prstGeom prst="rect">
            <a:avLst/>
          </a:prstGeom>
          <a:ln w="15875">
            <a:solidFill>
              <a:srgbClr val="3F6D38"/>
            </a:solidFill>
            <a:prstDash val="solid"/>
          </a:ln>
        </p:spPr>
      </p:sp>
      <p:sp>
        <p:nvSpPr>
          <p:cNvPr id="10" name="Text 8"/>
          <p:cNvSpPr/>
          <p:nvPr>
            <p:ph idx="108" type="body" hasCustomPrompt="1"/>
          </p:nvPr>
        </p:nvSpPr>
        <p:spPr>
          <a:xfrm>
            <a:off x="548640" y="411480"/>
            <a:ext cx="5486400" cy="274320"/>
          </a:xfrm>
          <a:prstGeom prst="rect">
            <a:avLst/>
          </a:prstGeom>
          <a:noFill/>
          <a:ln/>
        </p:spPr>
        <p:txBody>
          <a:bodyPr wrap="square" rtlCol="0"/>
          <a:lstStyle>
            <a:lvl1pPr indent="0" marL="0">
              <a:buNone/>
              <a:defRPr lang="en-US" sz="1100" b="1" spc="300" kern="0" dirty="0">
                <a:solidFill>
                  <a:schemeClr val="accent6"/>
                </a:solidFill>
                <a:latin typeface="Calibri" pitchFamily="34" charset="0"/>
                <a:ea typeface="Calibri" pitchFamily="34" charset="-122"/>
                <a:cs typeface="Calibri" pitchFamily="34" charset="-120"/>
              </a:defRPr>
            </a:lvl1pPr>
          </a:lstStyle>
          <a:p>
            <a:pPr indent="0" marL="0">
              <a:buNone/>
            </a:pPr>
            <a:endParaRPr lang="en-US" sz="1100" dirty="0"/>
          </a:p>
        </p:txBody>
      </p:sp>
      <p:sp>
        <p:nvSpPr>
          <p:cNvPr id="11" name="Text 8"/>
          <p:cNvSpPr/>
          <p:nvPr>
            <p:ph idx="109" type="title" hasCustomPrompt="1"/>
          </p:nvPr>
        </p:nvSpPr>
        <p:spPr>
          <a:xfrm>
            <a:off x="548640" y="658368"/>
            <a:ext cx="8046720" cy="731520"/>
          </a:xfrm>
          <a:prstGeom prst="rect">
            <a:avLst/>
          </a:prstGeom>
          <a:noFill/>
          <a:ln/>
        </p:spPr>
        <p:txBody>
          <a:bodyPr wrap="square" rtlCol="0"/>
          <a:lstStyle>
            <a:lvl1pPr algn="l" indent="0" marL="0">
              <a:buNone/>
              <a:defRPr lang="en-US" sz="3600" b="1" dirty="0">
                <a:solidFill>
                  <a:schemeClr val="bg1"/>
                </a:solidFill>
                <a:latin typeface="Arial Narrow" pitchFamily="34" charset="0"/>
                <a:ea typeface="Arial Narrow" pitchFamily="34" charset="-122"/>
                <a:cs typeface="Arial Narrow" pitchFamily="34" charset="-120"/>
              </a:defRPr>
            </a:lvl1pPr>
          </a:lstStyle>
          <a:p>
            <a:pPr algn="l" indent="0" marL="0">
              <a:buNone/>
            </a:pPr>
            <a:endParaRPr lang="en-US" sz="3600" dirty="0"/>
          </a:p>
        </p:txBody>
      </p:sp>
      <p:sp>
        <p:nvSpPr>
          <p:cNvPr id="12" name="Text 8"/>
          <p:cNvSpPr/>
          <p:nvPr>
            <p:ph idx="110" type="body" hasCustomPrompt="1"/>
          </p:nvPr>
        </p:nvSpPr>
        <p:spPr>
          <a:xfrm>
            <a:off x="5943600" y="4754880"/>
            <a:ext cx="2651760" cy="228600"/>
          </a:xfrm>
          <a:prstGeom prst="rect">
            <a:avLst/>
          </a:prstGeom>
          <a:noFill/>
          <a:ln/>
        </p:spPr>
        <p:txBody>
          <a:bodyPr wrap="square" rtlCol="0"/>
          <a:lstStyle>
            <a:lvl1pPr algn="r" indent="0" marL="0">
              <a:buNone/>
              <a:defRPr lang="en-US" sz="1000" dirty="0">
                <a:solidFill>
                  <a:schemeClr val="accent6"/>
                </a:solidFill>
                <a:latin typeface="Calibri" pitchFamily="34" charset="0"/>
                <a:ea typeface="Calibri" pitchFamily="34" charset="-122"/>
                <a:cs typeface="Calibri" pitchFamily="34" charset="-120"/>
              </a:defRPr>
            </a:lvl1pPr>
          </a:lstStyle>
          <a:p>
            <a:pPr algn="r" indent="0" marL="0">
              <a:buNone/>
            </a:pPr>
            <a:endParaRPr lang="en-US" sz="1000" dirty="0"/>
          </a:p>
        </p:txBody>
      </p:sp>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AIR_CONTENU">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486400" cy="274320"/>
          </a:xfrm>
          <a:prstGeom prst="rect">
            <a:avLst/>
          </a:prstGeom>
          <a:noFill/>
          <a:ln/>
        </p:spPr>
        <p:txBody>
          <a:bodyPr wrap="square" rtlCol="0"/>
          <a:lstStyle>
            <a:lvl1pPr indent="0" marL="0">
              <a:buNone/>
              <a:defRPr lang="en-US" sz="1100" b="1" spc="300" kern="0" dirty="0">
                <a:solidFill>
                  <a:schemeClr val="accent1"/>
                </a:solidFill>
                <a:latin typeface="Calibri" pitchFamily="34" charset="0"/>
                <a:ea typeface="Calibri" pitchFamily="34" charset="-122"/>
                <a:cs typeface="Calibri" pitchFamily="34" charset="-120"/>
              </a:defRPr>
            </a:lvl1pPr>
          </a:lstStyle>
          <a:p>
            <a:pPr indent="0" marL="0">
              <a:buNone/>
            </a:pPr>
            <a:endParaRPr lang="en-US" sz="1100" dirty="0"/>
          </a:p>
        </p:txBody>
      </p:sp>
      <p:sp>
        <p:nvSpPr>
          <p:cNvPr id="3" name="Text 0"/>
          <p:cNvSpPr/>
          <p:nvPr>
            <p:ph idx="101" type="title" hasCustomPrompt="1"/>
          </p:nvPr>
        </p:nvSpPr>
        <p:spPr>
          <a:xfrm>
            <a:off x="548640" y="658368"/>
            <a:ext cx="8046720" cy="731520"/>
          </a:xfrm>
          <a:prstGeom prst="rect">
            <a:avLst/>
          </a:prstGeom>
          <a:noFill/>
          <a:ln/>
        </p:spPr>
        <p:txBody>
          <a:bodyPr wrap="square" rtlCol="0"/>
          <a:lstStyle>
            <a:lvl1pPr algn="l" indent="0" marL="0">
              <a:buNone/>
              <a:defRPr lang="en-US" sz="3600" b="1" dirty="0">
                <a:solidFill>
                  <a:schemeClr val="tx1"/>
                </a:solidFill>
                <a:latin typeface="Arial Narrow" pitchFamily="34" charset="0"/>
                <a:ea typeface="Arial Narrow" pitchFamily="34" charset="-122"/>
                <a:cs typeface="Arial Narrow" pitchFamily="34" charset="-120"/>
              </a:defRPr>
            </a:lvl1pPr>
          </a:lstStyle>
          <a:p>
            <a:pPr algn="l" indent="0" marL="0">
              <a:buNone/>
            </a:pPr>
            <a:endParaRPr lang="en-US" sz="3600" dirty="0"/>
          </a:p>
        </p:txBody>
      </p:sp>
      <p:sp>
        <p:nvSpPr>
          <p:cNvPr id="4" name="Text 0"/>
          <p:cNvSpPr/>
          <p:nvPr>
            <p:ph idx="102" type="body" hasCustomPrompt="1"/>
          </p:nvPr>
        </p:nvSpPr>
        <p:spPr>
          <a:xfrm>
            <a:off x="5943600" y="4754880"/>
            <a:ext cx="2651760" cy="228600"/>
          </a:xfrm>
          <a:prstGeom prst="rect">
            <a:avLst/>
          </a:prstGeom>
          <a:noFill/>
          <a:ln/>
        </p:spPr>
        <p:txBody>
          <a:bodyPr wrap="square" rtlCol="0"/>
          <a:lstStyle>
            <a:lvl1pPr algn="r" indent="0" marL="0">
              <a:buNone/>
              <a:defRPr lang="en-US" sz="1000" dirty="0">
                <a:solidFill>
                  <a:schemeClr val="accent5"/>
                </a:solidFill>
                <a:latin typeface="Calibri" pitchFamily="34" charset="0"/>
                <a:ea typeface="Calibri" pitchFamily="34" charset="-122"/>
                <a:cs typeface="Calibri" pitchFamily="34" charset="-120"/>
              </a:defRPr>
            </a:lvl1pPr>
          </a:lstStyle>
          <a:p>
            <a:pPr algn="r" indent="0" marL="0">
              <a:buNone/>
            </a:pPr>
            <a:endParaRPr lang="en-US" sz="1000" dirty="0"/>
          </a:p>
        </p:txBody>
      </p:sp>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1"/>
          <p:cNvSpPr/>
          <p:nvPr>
            <p:ph idx="111" type="body" hasCustomPrompt="1"/>
          </p:nvPr>
        </p:nvSpPr>
        <p:spPr>
          <a:xfrm>
            <a:off x="731520" y="731520"/>
            <a:ext cx="7315200" cy="274320"/>
          </a:xfrm>
          <a:prstGeom prst="rect">
            <a:avLst/>
          </a:prstGeom>
          <a:noFill/>
          <a:ln/>
        </p:spPr>
        <p:txBody>
          <a:bodyPr wrap="square" lIns="0" tIns="0" rIns="0" bIns="0" rtlCol="0"/>
          <a:lstStyle/>
          <a:p>
            <a:pPr indent="0" marL="0">
              <a:buNone/>
            </a:pPr>
            <a:r>
              <a:rPr lang="en-US" sz="1100" b="1" spc="300" kern="0" dirty="0">
                <a:solidFill>
                  <a:schemeClr val="accent6"/>
                </a:solidFill>
                <a:latin typeface="Calibri" pitchFamily="34" charset="0"/>
                <a:ea typeface="Calibri" pitchFamily="34" charset="-122"/>
                <a:cs typeface="Calibri" pitchFamily="34" charset="-120"/>
              </a:rPr>
              <a:t>ETHICS OF AI #4 · ECE PARIS · ING5 DATA &amp; IA</a:t>
            </a:r>
            <a:endParaRPr lang="en-US" sz="1100" dirty="0"/>
          </a:p>
        </p:txBody>
      </p:sp>
      <p:sp>
        <p:nvSpPr>
          <p:cNvPr id="3" name="Text 11"/>
          <p:cNvSpPr/>
          <p:nvPr>
            <p:ph idx="112" type="title" hasCustomPrompt="1"/>
          </p:nvPr>
        </p:nvSpPr>
        <p:spPr>
          <a:xfrm>
            <a:off x="731520" y="1874520"/>
            <a:ext cx="7680960" cy="1371600"/>
          </a:xfrm>
          <a:prstGeom prst="rect">
            <a:avLst/>
          </a:prstGeom>
          <a:noFill/>
          <a:ln/>
        </p:spPr>
        <p:txBody>
          <a:bodyPr wrap="square" lIns="0" tIns="0" rIns="0" bIns="0" rtlCol="0" anchor="b"/>
          <a:lstStyle/>
          <a:p>
            <a:pPr algn="l" indent="0" marL="0">
              <a:buNone/>
            </a:pPr>
            <a:r>
              <a:rPr lang="en-US" sz="5400" b="1" dirty="0">
                <a:solidFill>
                  <a:schemeClr val="bg1"/>
                </a:solidFill>
                <a:latin typeface="Arial Narrow" pitchFamily="34" charset="0"/>
                <a:ea typeface="Arial Narrow" pitchFamily="34" charset="-122"/>
                <a:cs typeface="Arial Narrow" pitchFamily="34" charset="-120"/>
              </a:rPr>
              <a:t>MÊME STATS, PAS LE MÊME PRIX</a:t>
            </a:r>
            <a:endParaRPr lang="en-US" sz="5400" dirty="0"/>
          </a:p>
        </p:txBody>
      </p:sp>
      <p:sp>
        <p:nvSpPr>
          <p:cNvPr id="4" name="Text 11"/>
          <p:cNvSpPr/>
          <p:nvPr>
            <p:ph idx="113" type="body" hasCustomPrompt="1"/>
          </p:nvPr>
        </p:nvSpPr>
        <p:spPr>
          <a:xfrm>
            <a:off x="731520" y="3337560"/>
            <a:ext cx="7680960" cy="457200"/>
          </a:xfrm>
          <a:prstGeom prst="rect">
            <a:avLst/>
          </a:prstGeom>
          <a:noFill/>
          <a:ln/>
        </p:spPr>
        <p:txBody>
          <a:bodyPr wrap="square" lIns="0" tIns="0" rIns="0" bIns="0" rtlCol="0"/>
          <a:lstStyle/>
          <a:p>
            <a:pPr indent="0" marL="0">
              <a:buNone/>
            </a:pPr>
            <a:r>
              <a:rPr lang="en-US" sz="2000" dirty="0">
                <a:solidFill>
                  <a:schemeClr val="accent6"/>
                </a:solidFill>
                <a:latin typeface="Calibri" pitchFamily="34" charset="0"/>
                <a:ea typeface="Calibri" pitchFamily="34" charset="-122"/>
                <a:cs typeface="Calibri" pitchFamily="34" charset="-120"/>
              </a:rPr>
              <a:t>Débiaiser un LLM de recrutement d'attaquants</a:t>
            </a:r>
            <a:endParaRPr lang="en-US" sz="2000" dirty="0"/>
          </a:p>
        </p:txBody>
      </p:sp>
      <p:sp>
        <p:nvSpPr>
          <p:cNvPr id="5" name="Text 11"/>
          <p:cNvSpPr/>
          <p:nvPr>
            <p:ph idx="114" type="body" hasCustomPrompt="1"/>
          </p:nvPr>
        </p:nvSpPr>
        <p:spPr>
          <a:xfrm>
            <a:off x="731520" y="4160520"/>
            <a:ext cx="7680960" cy="320040"/>
          </a:xfrm>
          <a:prstGeom prst="rect">
            <a:avLst/>
          </a:prstGeom>
          <a:noFill/>
          <a:ln/>
        </p:spPr>
        <p:txBody>
          <a:bodyPr wrap="square" lIns="0" tIns="0" rIns="0" bIns="0" rtlCol="0"/>
          <a:lstStyle/>
          <a:p>
            <a:pPr indent="0" marL="0">
              <a:buNone/>
            </a:pPr>
            <a:r>
              <a:rPr lang="en-US" sz="1200" dirty="0">
                <a:solidFill>
                  <a:schemeClr val="bg2"/>
                </a:solidFill>
                <a:latin typeface="Calibri" pitchFamily="34" charset="0"/>
                <a:ea typeface="Calibri" pitchFamily="34" charset="-122"/>
                <a:cs typeface="Calibri" pitchFamily="34" charset="-120"/>
              </a:rPr>
              <a:t>Simon Gallais · Gautier Deplanque · Mathis Leitao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486400" cy="274320"/>
          </a:xfrm>
          <a:prstGeom prst="rect">
            <a:avLst/>
          </a:prstGeom>
          <a:noFill/>
          <a:ln/>
        </p:spPr>
        <p:txBody>
          <a:bodyPr wrap="square" lIns="0" tIns="0" rIns="0" bIns="0" rtlCol="0"/>
          <a:lstStyle/>
          <a:p>
            <a:pPr indent="0" marL="0">
              <a:buNone/>
            </a:pPr>
            <a:r>
              <a:rPr lang="en-US" sz="1100" b="1" spc="300" kern="0" dirty="0">
                <a:solidFill>
                  <a:schemeClr val="accent1"/>
                </a:solidFill>
                <a:latin typeface="Calibri" pitchFamily="34" charset="0"/>
                <a:ea typeface="Calibri" pitchFamily="34" charset="-122"/>
                <a:cs typeface="Calibri" pitchFamily="34" charset="-120"/>
              </a:rPr>
              <a:t>01 · LE CAS D'USAGE</a:t>
            </a:r>
            <a:endParaRPr lang="en-US" sz="1100" dirty="0"/>
          </a:p>
        </p:txBody>
      </p:sp>
      <p:sp>
        <p:nvSpPr>
          <p:cNvPr id="3" name="Text 0"/>
          <p:cNvSpPr/>
          <p:nvPr>
            <p:ph idx="101" type="title" hasCustomPrompt="1"/>
          </p:nvPr>
        </p:nvSpPr>
        <p:spPr>
          <a:xfrm>
            <a:off x="548640" y="658368"/>
            <a:ext cx="8046720" cy="731520"/>
          </a:xfrm>
          <a:prstGeom prst="rect">
            <a:avLst/>
          </a:prstGeom>
          <a:noFill/>
          <a:ln/>
        </p:spPr>
        <p:txBody>
          <a:bodyPr wrap="square" lIns="0" tIns="0" rIns="0" bIns="0" rtlCol="0" anchor="t"/>
          <a:lstStyle/>
          <a:p>
            <a:pPr algn="l" indent="0" marL="0">
              <a:buNone/>
            </a:pPr>
            <a:r>
              <a:rPr lang="en-US" sz="3600" b="1" dirty="0">
                <a:solidFill>
                  <a:schemeClr val="tx1"/>
                </a:solidFill>
                <a:latin typeface="Arial Narrow" pitchFamily="34" charset="0"/>
                <a:ea typeface="Arial Narrow" pitchFamily="34" charset="-122"/>
                <a:cs typeface="Arial Narrow" pitchFamily="34" charset="-120"/>
              </a:rPr>
              <a:t>UN ASSISTANT DE SHORT-LIST</a:t>
            </a:r>
            <a:endParaRPr lang="en-US" sz="3600" dirty="0"/>
          </a:p>
        </p:txBody>
      </p:sp>
      <p:sp>
        <p:nvSpPr>
          <p:cNvPr id="4" name="Text 0"/>
          <p:cNvSpPr/>
          <p:nvPr>
            <p:ph idx="102" type="body" hasCustomPrompt="1"/>
          </p:nvPr>
        </p:nvSpPr>
        <p:spPr>
          <a:xfrm>
            <a:off x="5943600" y="4754880"/>
            <a:ext cx="2651760" cy="228600"/>
          </a:xfrm>
          <a:prstGeom prst="rect">
            <a:avLst/>
          </a:prstGeom>
          <a:noFill/>
          <a:ln/>
        </p:spPr>
        <p:txBody>
          <a:bodyPr wrap="square" lIns="0" tIns="0" rIns="0" bIns="0" rtlCol="0"/>
          <a:lstStyle/>
          <a:p>
            <a:pPr algn="r" indent="0" marL="0">
              <a:buNone/>
            </a:pPr>
            <a:r>
              <a:rPr lang="en-US" sz="1000" dirty="0">
                <a:solidFill>
                  <a:schemeClr val="accent5"/>
                </a:solidFill>
                <a:latin typeface="Calibri" pitchFamily="34" charset="0"/>
                <a:ea typeface="Calibri" pitchFamily="34" charset="-122"/>
                <a:cs typeface="Calibri" pitchFamily="34" charset="-120"/>
              </a:rPr>
              <a:t>Gautier</a:t>
            </a:r>
            <a:endParaRPr lang="en-US" sz="1000" dirty="0"/>
          </a:p>
        </p:txBody>
      </p:sp>
      <p:sp>
        <p:nvSpPr>
          <p:cNvPr id="5" name="Text 3"/>
          <p:cNvSpPr txBox="1"/>
          <p:nvPr/>
        </p:nvSpPr>
        <p:spPr>
          <a:xfrm>
            <a:off x="548640" y="1417320"/>
            <a:ext cx="3749040" cy="91440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Le club demande : cet attaquant doit-il entrer dans la short-list des cibles prioritaires (valeur attendue ≥ 10 M€) ?</a:t>
            </a:r>
            <a:endParaRPr lang="en-US" sz="1600" dirty="0"/>
          </a:p>
        </p:txBody>
      </p:sp>
      <p:sp>
        <p:nvSpPr>
          <p:cNvPr id="6" name="Text 4"/>
          <p:cNvSpPr txBox="1"/>
          <p:nvPr/>
        </p:nvSpPr>
        <p:spPr>
          <a:xfrm>
            <a:off x="548640" y="2468880"/>
            <a:ext cx="3749040" cy="640080"/>
          </a:xfrm>
          <a:prstGeom prst="rect">
            <a:avLst/>
          </a:prstGeom>
          <a:noFill/>
          <a:ln/>
        </p:spPr>
        <p:txBody>
          <a:bodyPr wrap="square" lIns="0" tIns="0" rIns="0" bIns="0" rtlCol="0" anchor="t"/>
          <a:lstStyle/>
          <a:p>
            <a:pPr indent="0" marL="0">
              <a:buNone/>
            </a:pPr>
            <a:r>
              <a:rPr lang="en-US" sz="1400" i="1" dirty="0">
                <a:solidFill>
                  <a:schemeClr val="accent1"/>
                </a:solidFill>
                <a:latin typeface="Calibri" pitchFamily="34" charset="0"/>
                <a:ea typeface="Calibri" pitchFamily="34" charset="-122"/>
                <a:cs typeface="Calibri" pitchFamily="34" charset="-120"/>
              </a:rPr>
              <a:t>Une décision à fort impact sur des personnes : transfert, salaire, carrière.</a:t>
            </a:r>
            <a:endParaRPr lang="en-US" sz="1400" dirty="0"/>
          </a:p>
        </p:txBody>
      </p:sp>
      <p:sp>
        <p:nvSpPr>
          <p:cNvPr id="7" name="Text 5"/>
          <p:cNvSpPr txBox="1"/>
          <p:nvPr/>
        </p:nvSpPr>
        <p:spPr>
          <a:xfrm>
            <a:off x="4754880" y="1417320"/>
            <a:ext cx="3840480" cy="274320"/>
          </a:xfrm>
          <a:prstGeom prst="rect">
            <a:avLst/>
          </a:prstGeom>
          <a:noFill/>
          <a:ln/>
        </p:spPr>
        <p:txBody>
          <a:bodyPr wrap="square" lIns="0" tIns="0" rIns="0" bIns="0" rtlCol="0" anchor="ctr"/>
          <a:lstStyle/>
          <a:p>
            <a:pPr indent="0" marL="0">
              <a:buNone/>
            </a:pPr>
            <a:r>
              <a:rPr lang="en-US" sz="1100" b="1" spc="300" kern="0" dirty="0">
                <a:solidFill>
                  <a:schemeClr val="accent5"/>
                </a:solidFill>
                <a:latin typeface="Calibri" pitchFamily="34" charset="0"/>
                <a:ea typeface="Calibri" pitchFamily="34" charset="-122"/>
                <a:cs typeface="Calibri" pitchFamily="34" charset="-120"/>
              </a:rPr>
              <a:t>PARTIES PRENANTES</a:t>
            </a:r>
            <a:endParaRPr lang="en-US" sz="1100" dirty="0"/>
          </a:p>
        </p:txBody>
      </p:sp>
      <p:sp>
        <p:nvSpPr>
          <p:cNvPr id="8" name="partie_0"/>
          <p:cNvSpPr/>
          <p:nvPr/>
        </p:nvSpPr>
        <p:spPr>
          <a:xfrm>
            <a:off x="4754880" y="1783080"/>
            <a:ext cx="3840480" cy="566928"/>
          </a:xfrm>
          <a:prstGeom prst="roundRect">
            <a:avLst>
              <a:gd name="adj" fmla="val 12903"/>
            </a:avLst>
          </a:prstGeom>
          <a:solidFill>
            <a:srgbClr val="EEF3EA"/>
          </a:solidFill>
          <a:ln/>
        </p:spPr>
      </p:sp>
      <p:sp>
        <p:nvSpPr>
          <p:cNvPr id="9" name="Text 7"/>
          <p:cNvSpPr txBox="1"/>
          <p:nvPr/>
        </p:nvSpPr>
        <p:spPr>
          <a:xfrm>
            <a:off x="4937760" y="1856232"/>
            <a:ext cx="1645920" cy="420624"/>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Joueurs évalués</a:t>
            </a:r>
            <a:endParaRPr lang="en-US" sz="1400" dirty="0"/>
          </a:p>
        </p:txBody>
      </p:sp>
      <p:sp>
        <p:nvSpPr>
          <p:cNvPr id="10" name="Text 8"/>
          <p:cNvSpPr txBox="1"/>
          <p:nvPr/>
        </p:nvSpPr>
        <p:spPr>
          <a:xfrm>
            <a:off x="6583680" y="1856232"/>
            <a:ext cx="1920240" cy="420624"/>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Risque de discrimination</a:t>
            </a:r>
            <a:endParaRPr lang="en-US" sz="1300" dirty="0"/>
          </a:p>
        </p:txBody>
      </p:sp>
      <p:sp>
        <p:nvSpPr>
          <p:cNvPr id="11" name="partie_1"/>
          <p:cNvSpPr/>
          <p:nvPr/>
        </p:nvSpPr>
        <p:spPr>
          <a:xfrm>
            <a:off x="4754880" y="2468880"/>
            <a:ext cx="3840480" cy="566928"/>
          </a:xfrm>
          <a:prstGeom prst="roundRect">
            <a:avLst>
              <a:gd name="adj" fmla="val 12903"/>
            </a:avLst>
          </a:prstGeom>
          <a:solidFill>
            <a:srgbClr val="EEF3EA"/>
          </a:solidFill>
          <a:ln/>
        </p:spPr>
      </p:sp>
      <p:sp>
        <p:nvSpPr>
          <p:cNvPr id="12" name="Text 10"/>
          <p:cNvSpPr txBox="1"/>
          <p:nvPr/>
        </p:nvSpPr>
        <p:spPr>
          <a:xfrm>
            <a:off x="4937760" y="2542032"/>
            <a:ext cx="1645920" cy="420624"/>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Club</a:t>
            </a:r>
            <a:endParaRPr lang="en-US" sz="1400" dirty="0"/>
          </a:p>
        </p:txBody>
      </p:sp>
      <p:sp>
        <p:nvSpPr>
          <p:cNvPr id="13" name="Text 11"/>
          <p:cNvSpPr txBox="1"/>
          <p:nvPr/>
        </p:nvSpPr>
        <p:spPr>
          <a:xfrm>
            <a:off x="6583680" y="2542032"/>
            <a:ext cx="1920240" cy="420624"/>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Talents écartés à tort</a:t>
            </a:r>
            <a:endParaRPr lang="en-US" sz="1300" dirty="0"/>
          </a:p>
        </p:txBody>
      </p:sp>
      <p:sp>
        <p:nvSpPr>
          <p:cNvPr id="14" name="partie_2"/>
          <p:cNvSpPr/>
          <p:nvPr/>
        </p:nvSpPr>
        <p:spPr>
          <a:xfrm>
            <a:off x="4754880" y="3154680"/>
            <a:ext cx="3840480" cy="566928"/>
          </a:xfrm>
          <a:prstGeom prst="roundRect">
            <a:avLst>
              <a:gd name="adj" fmla="val 12903"/>
            </a:avLst>
          </a:prstGeom>
          <a:solidFill>
            <a:srgbClr val="EEF3EA"/>
          </a:solidFill>
          <a:ln/>
        </p:spPr>
      </p:sp>
      <p:sp>
        <p:nvSpPr>
          <p:cNvPr id="15" name="Text 13"/>
          <p:cNvSpPr txBox="1"/>
          <p:nvPr/>
        </p:nvSpPr>
        <p:spPr>
          <a:xfrm>
            <a:off x="4937760" y="3227832"/>
            <a:ext cx="1645920" cy="420624"/>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Agents</a:t>
            </a:r>
            <a:endParaRPr lang="en-US" sz="1400" dirty="0"/>
          </a:p>
        </p:txBody>
      </p:sp>
      <p:sp>
        <p:nvSpPr>
          <p:cNvPr id="16" name="Text 14"/>
          <p:cNvSpPr txBox="1"/>
          <p:nvPr/>
        </p:nvSpPr>
        <p:spPr>
          <a:xfrm>
            <a:off x="6583680" y="3227832"/>
            <a:ext cx="1920240" cy="420624"/>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Pouvoir de négociation</a:t>
            </a:r>
            <a:endParaRPr lang="en-US" sz="1300" dirty="0"/>
          </a:p>
        </p:txBody>
      </p:sp>
      <p:sp>
        <p:nvSpPr>
          <p:cNvPr id="17" name="partie_3"/>
          <p:cNvSpPr/>
          <p:nvPr/>
        </p:nvSpPr>
        <p:spPr>
          <a:xfrm>
            <a:off x="4754880" y="3840480"/>
            <a:ext cx="3840480" cy="566928"/>
          </a:xfrm>
          <a:prstGeom prst="roundRect">
            <a:avLst>
              <a:gd name="adj" fmla="val 12903"/>
            </a:avLst>
          </a:prstGeom>
          <a:solidFill>
            <a:srgbClr val="EEF3EA"/>
          </a:solidFill>
          <a:ln/>
        </p:spPr>
      </p:sp>
      <p:sp>
        <p:nvSpPr>
          <p:cNvPr id="18" name="Text 16"/>
          <p:cNvSpPr txBox="1"/>
          <p:nvPr/>
        </p:nvSpPr>
        <p:spPr>
          <a:xfrm>
            <a:off x="4937760" y="3913632"/>
            <a:ext cx="1645920" cy="420624"/>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Régulateurs</a:t>
            </a:r>
            <a:endParaRPr lang="en-US" sz="1400" dirty="0"/>
          </a:p>
        </p:txBody>
      </p:sp>
      <p:sp>
        <p:nvSpPr>
          <p:cNvPr id="19" name="Text 17"/>
          <p:cNvSpPr txBox="1"/>
          <p:nvPr/>
        </p:nvSpPr>
        <p:spPr>
          <a:xfrm>
            <a:off x="6583680" y="3913632"/>
            <a:ext cx="1920240" cy="420624"/>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AI Act : transparence</a:t>
            </a:r>
            <a:endParaRPr lang="en-US" sz="1300" dirty="0"/>
          </a:p>
        </p:txBody>
      </p:sp>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486400" cy="274320"/>
          </a:xfrm>
          <a:prstGeom prst="rect">
            <a:avLst/>
          </a:prstGeom>
          <a:noFill/>
          <a:ln/>
        </p:spPr>
        <p:txBody>
          <a:bodyPr wrap="square" lIns="0" tIns="0" rIns="0" bIns="0" rtlCol="0"/>
          <a:lstStyle/>
          <a:p>
            <a:pPr indent="0" marL="0">
              <a:buNone/>
            </a:pPr>
            <a:r>
              <a:rPr lang="en-US" sz="1100" b="1" spc="300" kern="0" dirty="0">
                <a:solidFill>
                  <a:schemeClr val="accent1"/>
                </a:solidFill>
                <a:latin typeface="Calibri" pitchFamily="34" charset="0"/>
                <a:ea typeface="Calibri" pitchFamily="34" charset="-122"/>
                <a:cs typeface="Calibri" pitchFamily="34" charset="-120"/>
              </a:rPr>
              <a:t>02 · LES DONNÉES</a:t>
            </a:r>
            <a:endParaRPr lang="en-US" sz="1100" dirty="0"/>
          </a:p>
        </p:txBody>
      </p:sp>
      <p:sp>
        <p:nvSpPr>
          <p:cNvPr id="3" name="Text 0"/>
          <p:cNvSpPr/>
          <p:nvPr>
            <p:ph idx="101" type="title" hasCustomPrompt="1"/>
          </p:nvPr>
        </p:nvSpPr>
        <p:spPr>
          <a:xfrm>
            <a:off x="548640" y="658368"/>
            <a:ext cx="8046720" cy="731520"/>
          </a:xfrm>
          <a:prstGeom prst="rect">
            <a:avLst/>
          </a:prstGeom>
          <a:noFill/>
          <a:ln/>
        </p:spPr>
        <p:txBody>
          <a:bodyPr wrap="square" lIns="0" tIns="0" rIns="0" bIns="0" rtlCol="0" anchor="t"/>
          <a:lstStyle/>
          <a:p>
            <a:pPr algn="l" indent="0" marL="0">
              <a:buNone/>
            </a:pPr>
            <a:r>
              <a:rPr lang="en-US" sz="3600" b="1" dirty="0">
                <a:solidFill>
                  <a:schemeClr val="tx1"/>
                </a:solidFill>
                <a:latin typeface="Arial Narrow" pitchFamily="34" charset="0"/>
                <a:ea typeface="Arial Narrow" pitchFamily="34" charset="-122"/>
                <a:cs typeface="Arial Narrow" pitchFamily="34" charset="-120"/>
              </a:rPr>
              <a:t>TRANSFERMARKT, 14 SAISONS</a:t>
            </a:r>
            <a:endParaRPr lang="en-US" sz="3600" dirty="0"/>
          </a:p>
        </p:txBody>
      </p:sp>
      <p:sp>
        <p:nvSpPr>
          <p:cNvPr id="4" name="Text 0"/>
          <p:cNvSpPr/>
          <p:nvPr>
            <p:ph idx="102" type="body" hasCustomPrompt="1"/>
          </p:nvPr>
        </p:nvSpPr>
        <p:spPr>
          <a:xfrm>
            <a:off x="5943600" y="4754880"/>
            <a:ext cx="2651760" cy="228600"/>
          </a:xfrm>
          <a:prstGeom prst="rect">
            <a:avLst/>
          </a:prstGeom>
          <a:noFill/>
          <a:ln/>
        </p:spPr>
        <p:txBody>
          <a:bodyPr wrap="square" lIns="0" tIns="0" rIns="0" bIns="0" rtlCol="0"/>
          <a:lstStyle/>
          <a:p>
            <a:pPr algn="r" indent="0" marL="0">
              <a:buNone/>
            </a:pPr>
            <a:r>
              <a:rPr lang="en-US" sz="1000" dirty="0">
                <a:solidFill>
                  <a:schemeClr val="accent5"/>
                </a:solidFill>
                <a:latin typeface="Calibri" pitchFamily="34" charset="0"/>
                <a:ea typeface="Calibri" pitchFamily="34" charset="-122"/>
                <a:cs typeface="Calibri" pitchFamily="34" charset="-120"/>
              </a:rPr>
              <a:t>Gautier</a:t>
            </a:r>
            <a:endParaRPr lang="en-US" sz="1000" dirty="0"/>
          </a:p>
        </p:txBody>
      </p:sp>
      <p:sp>
        <p:nvSpPr>
          <p:cNvPr id="5" name="stat_0"/>
          <p:cNvSpPr/>
          <p:nvPr/>
        </p:nvSpPr>
        <p:spPr>
          <a:xfrm>
            <a:off x="548640" y="1554480"/>
            <a:ext cx="1874520" cy="1463040"/>
          </a:xfrm>
          <a:prstGeom prst="roundRect">
            <a:avLst>
              <a:gd name="adj" fmla="val 5000"/>
            </a:avLst>
          </a:prstGeom>
          <a:solidFill>
            <a:srgbClr val="EEF3EA"/>
          </a:solidFill>
          <a:ln/>
        </p:spPr>
      </p:sp>
      <p:sp>
        <p:nvSpPr>
          <p:cNvPr id="6" name="Text 4"/>
          <p:cNvSpPr txBox="1"/>
          <p:nvPr/>
        </p:nvSpPr>
        <p:spPr>
          <a:xfrm>
            <a:off x="685800" y="1691640"/>
            <a:ext cx="1600200" cy="777240"/>
          </a:xfrm>
          <a:prstGeom prst="rect">
            <a:avLst/>
          </a:prstGeom>
          <a:noFill/>
          <a:ln/>
        </p:spPr>
        <p:txBody>
          <a:bodyPr wrap="square" lIns="0" tIns="0" rIns="0" bIns="0" rtlCol="0" anchor="b"/>
          <a:lstStyle/>
          <a:p>
            <a:pPr indent="0" marL="0">
              <a:buNone/>
            </a:pPr>
            <a:r>
              <a:rPr lang="en-US" sz="4000" b="1" dirty="0">
                <a:solidFill>
                  <a:schemeClr val="accent1"/>
                </a:solidFill>
                <a:latin typeface="Arial Narrow" pitchFamily="34" charset="0"/>
                <a:ea typeface="Arial Narrow" pitchFamily="34" charset="-122"/>
                <a:cs typeface="Arial Narrow" pitchFamily="34" charset="-120"/>
              </a:rPr>
              <a:t>6 872</a:t>
            </a:r>
            <a:endParaRPr lang="en-US" sz="4000" dirty="0"/>
          </a:p>
        </p:txBody>
      </p:sp>
      <p:sp>
        <p:nvSpPr>
          <p:cNvPr id="7" name="Text 5"/>
          <p:cNvSpPr txBox="1"/>
          <p:nvPr/>
        </p:nvSpPr>
        <p:spPr>
          <a:xfrm>
            <a:off x="685800" y="2514600"/>
            <a:ext cx="1600200" cy="365760"/>
          </a:xfrm>
          <a:prstGeom prst="rect">
            <a:avLst/>
          </a:prstGeom>
          <a:noFill/>
          <a:ln/>
        </p:spPr>
        <p:txBody>
          <a:bodyPr wrap="square" lIns="0" tIns="0" rIns="0" bIns="0" rtlCol="0" anchor="ctr"/>
          <a:lstStyle/>
          <a:p>
            <a:pPr indent="0" marL="0">
              <a:buNone/>
            </a:pPr>
            <a:r>
              <a:rPr lang="en-US" sz="1300" dirty="0">
                <a:solidFill>
                  <a:schemeClr val="accent5"/>
                </a:solidFill>
                <a:latin typeface="Calibri" pitchFamily="34" charset="0"/>
                <a:ea typeface="Calibri" pitchFamily="34" charset="-122"/>
                <a:cs typeface="Calibri" pitchFamily="34" charset="-120"/>
              </a:rPr>
              <a:t>saisons joueur</a:t>
            </a:r>
            <a:endParaRPr lang="en-US" sz="1300" dirty="0"/>
          </a:p>
        </p:txBody>
      </p:sp>
      <p:sp>
        <p:nvSpPr>
          <p:cNvPr id="8" name="stat_1"/>
          <p:cNvSpPr/>
          <p:nvPr/>
        </p:nvSpPr>
        <p:spPr>
          <a:xfrm>
            <a:off x="2606040" y="1554480"/>
            <a:ext cx="1874520" cy="1463040"/>
          </a:xfrm>
          <a:prstGeom prst="roundRect">
            <a:avLst>
              <a:gd name="adj" fmla="val 5000"/>
            </a:avLst>
          </a:prstGeom>
          <a:solidFill>
            <a:srgbClr val="EEF3EA"/>
          </a:solidFill>
          <a:ln/>
        </p:spPr>
      </p:sp>
      <p:sp>
        <p:nvSpPr>
          <p:cNvPr id="9" name="Text 7"/>
          <p:cNvSpPr txBox="1"/>
          <p:nvPr/>
        </p:nvSpPr>
        <p:spPr>
          <a:xfrm>
            <a:off x="2743200" y="1691640"/>
            <a:ext cx="1600200" cy="777240"/>
          </a:xfrm>
          <a:prstGeom prst="rect">
            <a:avLst/>
          </a:prstGeom>
          <a:noFill/>
          <a:ln/>
        </p:spPr>
        <p:txBody>
          <a:bodyPr wrap="square" lIns="0" tIns="0" rIns="0" bIns="0" rtlCol="0" anchor="b"/>
          <a:lstStyle/>
          <a:p>
            <a:pPr indent="0" marL="0">
              <a:buNone/>
            </a:pPr>
            <a:r>
              <a:rPr lang="en-US" sz="4000" b="1" dirty="0">
                <a:solidFill>
                  <a:schemeClr val="accent1"/>
                </a:solidFill>
                <a:latin typeface="Arial Narrow" pitchFamily="34" charset="0"/>
                <a:ea typeface="Arial Narrow" pitchFamily="34" charset="-122"/>
                <a:cs typeface="Arial Narrow" pitchFamily="34" charset="-120"/>
              </a:rPr>
              <a:t>Big 5</a:t>
            </a:r>
            <a:endParaRPr lang="en-US" sz="4000" dirty="0"/>
          </a:p>
        </p:txBody>
      </p:sp>
      <p:sp>
        <p:nvSpPr>
          <p:cNvPr id="10" name="Text 8"/>
          <p:cNvSpPr txBox="1"/>
          <p:nvPr/>
        </p:nvSpPr>
        <p:spPr>
          <a:xfrm>
            <a:off x="2743200" y="2514600"/>
            <a:ext cx="1600200" cy="365760"/>
          </a:xfrm>
          <a:prstGeom prst="rect">
            <a:avLst/>
          </a:prstGeom>
          <a:noFill/>
          <a:ln/>
        </p:spPr>
        <p:txBody>
          <a:bodyPr wrap="square" lIns="0" tIns="0" rIns="0" bIns="0" rtlCol="0" anchor="ctr"/>
          <a:lstStyle/>
          <a:p>
            <a:pPr indent="0" marL="0">
              <a:buNone/>
            </a:pPr>
            <a:r>
              <a:rPr lang="en-US" sz="1300" dirty="0">
                <a:solidFill>
                  <a:schemeClr val="accent5"/>
                </a:solidFill>
                <a:latin typeface="Calibri" pitchFamily="34" charset="0"/>
                <a:ea typeface="Calibri" pitchFamily="34" charset="-122"/>
                <a:cs typeface="Calibri" pitchFamily="34" charset="-120"/>
              </a:rPr>
              <a:t>championnats</a:t>
            </a:r>
            <a:endParaRPr lang="en-US" sz="1300" dirty="0"/>
          </a:p>
        </p:txBody>
      </p:sp>
      <p:sp>
        <p:nvSpPr>
          <p:cNvPr id="11" name="stat_2"/>
          <p:cNvSpPr/>
          <p:nvPr/>
        </p:nvSpPr>
        <p:spPr>
          <a:xfrm>
            <a:off x="4663440" y="1554480"/>
            <a:ext cx="1874520" cy="1463040"/>
          </a:xfrm>
          <a:prstGeom prst="roundRect">
            <a:avLst>
              <a:gd name="adj" fmla="val 5000"/>
            </a:avLst>
          </a:prstGeom>
          <a:solidFill>
            <a:srgbClr val="EEF3EA"/>
          </a:solidFill>
          <a:ln/>
        </p:spPr>
      </p:sp>
      <p:sp>
        <p:nvSpPr>
          <p:cNvPr id="12" name="Text 10"/>
          <p:cNvSpPr txBox="1"/>
          <p:nvPr/>
        </p:nvSpPr>
        <p:spPr>
          <a:xfrm>
            <a:off x="4800600" y="1691640"/>
            <a:ext cx="1600200" cy="777240"/>
          </a:xfrm>
          <a:prstGeom prst="rect">
            <a:avLst/>
          </a:prstGeom>
          <a:noFill/>
          <a:ln/>
        </p:spPr>
        <p:txBody>
          <a:bodyPr wrap="square" lIns="0" tIns="0" rIns="0" bIns="0" rtlCol="0" anchor="b"/>
          <a:lstStyle/>
          <a:p>
            <a:pPr indent="0" marL="0">
              <a:buNone/>
            </a:pPr>
            <a:r>
              <a:rPr lang="en-US" sz="4000" b="1" dirty="0">
                <a:solidFill>
                  <a:schemeClr val="accent1"/>
                </a:solidFill>
                <a:latin typeface="Arial Narrow" pitchFamily="34" charset="0"/>
                <a:ea typeface="Arial Narrow" pitchFamily="34" charset="-122"/>
                <a:cs typeface="Arial Narrow" pitchFamily="34" charset="-120"/>
              </a:rPr>
              <a:t>2012-26</a:t>
            </a:r>
            <a:endParaRPr lang="en-US" sz="4000" dirty="0"/>
          </a:p>
        </p:txBody>
      </p:sp>
      <p:sp>
        <p:nvSpPr>
          <p:cNvPr id="13" name="Text 11"/>
          <p:cNvSpPr txBox="1"/>
          <p:nvPr/>
        </p:nvSpPr>
        <p:spPr>
          <a:xfrm>
            <a:off x="4800600" y="2514600"/>
            <a:ext cx="1600200" cy="365760"/>
          </a:xfrm>
          <a:prstGeom prst="rect">
            <a:avLst/>
          </a:prstGeom>
          <a:noFill/>
          <a:ln/>
        </p:spPr>
        <p:txBody>
          <a:bodyPr wrap="square" lIns="0" tIns="0" rIns="0" bIns="0" rtlCol="0" anchor="ctr"/>
          <a:lstStyle/>
          <a:p>
            <a:pPr indent="0" marL="0">
              <a:buNone/>
            </a:pPr>
            <a:r>
              <a:rPr lang="en-US" sz="1300" dirty="0">
                <a:solidFill>
                  <a:schemeClr val="accent5"/>
                </a:solidFill>
                <a:latin typeface="Calibri" pitchFamily="34" charset="0"/>
                <a:ea typeface="Calibri" pitchFamily="34" charset="-122"/>
                <a:cs typeface="Calibri" pitchFamily="34" charset="-120"/>
              </a:rPr>
              <a:t>14 saisons</a:t>
            </a:r>
            <a:endParaRPr lang="en-US" sz="1300" dirty="0"/>
          </a:p>
        </p:txBody>
      </p:sp>
      <p:sp>
        <p:nvSpPr>
          <p:cNvPr id="14" name="stat_3"/>
          <p:cNvSpPr/>
          <p:nvPr/>
        </p:nvSpPr>
        <p:spPr>
          <a:xfrm>
            <a:off x="6720840" y="1554480"/>
            <a:ext cx="1874520" cy="1463040"/>
          </a:xfrm>
          <a:prstGeom prst="roundRect">
            <a:avLst>
              <a:gd name="adj" fmla="val 5000"/>
            </a:avLst>
          </a:prstGeom>
          <a:solidFill>
            <a:srgbClr val="EEF3EA"/>
          </a:solidFill>
          <a:ln/>
        </p:spPr>
      </p:sp>
      <p:sp>
        <p:nvSpPr>
          <p:cNvPr id="15" name="Text 13"/>
          <p:cNvSpPr txBox="1"/>
          <p:nvPr/>
        </p:nvSpPr>
        <p:spPr>
          <a:xfrm>
            <a:off x="6858000" y="1691640"/>
            <a:ext cx="1600200" cy="777240"/>
          </a:xfrm>
          <a:prstGeom prst="rect">
            <a:avLst/>
          </a:prstGeom>
          <a:noFill/>
          <a:ln/>
        </p:spPr>
        <p:txBody>
          <a:bodyPr wrap="square" lIns="0" tIns="0" rIns="0" bIns="0" rtlCol="0" anchor="b"/>
          <a:lstStyle/>
          <a:p>
            <a:pPr indent="0" marL="0">
              <a:buNone/>
            </a:pPr>
            <a:r>
              <a:rPr lang="en-US" sz="4000" b="1" dirty="0">
                <a:solidFill>
                  <a:schemeClr val="accent1"/>
                </a:solidFill>
                <a:latin typeface="Arial Narrow" pitchFamily="34" charset="0"/>
                <a:ea typeface="Arial Narrow" pitchFamily="34" charset="-122"/>
                <a:cs typeface="Arial Narrow" pitchFamily="34" charset="-120"/>
              </a:rPr>
              <a:t>≥ 450</a:t>
            </a:r>
            <a:endParaRPr lang="en-US" sz="4000" dirty="0"/>
          </a:p>
        </p:txBody>
      </p:sp>
      <p:sp>
        <p:nvSpPr>
          <p:cNvPr id="16" name="Text 14"/>
          <p:cNvSpPr txBox="1"/>
          <p:nvPr/>
        </p:nvSpPr>
        <p:spPr>
          <a:xfrm>
            <a:off x="6858000" y="2514600"/>
            <a:ext cx="1600200" cy="365760"/>
          </a:xfrm>
          <a:prstGeom prst="rect">
            <a:avLst/>
          </a:prstGeom>
          <a:noFill/>
          <a:ln/>
        </p:spPr>
        <p:txBody>
          <a:bodyPr wrap="square" lIns="0" tIns="0" rIns="0" bIns="0" rtlCol="0" anchor="ctr"/>
          <a:lstStyle/>
          <a:p>
            <a:pPr indent="0" marL="0">
              <a:buNone/>
            </a:pPr>
            <a:r>
              <a:rPr lang="en-US" sz="1300" dirty="0">
                <a:solidFill>
                  <a:schemeClr val="accent5"/>
                </a:solidFill>
                <a:latin typeface="Calibri" pitchFamily="34" charset="0"/>
                <a:ea typeface="Calibri" pitchFamily="34" charset="-122"/>
                <a:cs typeface="Calibri" pitchFamily="34" charset="-120"/>
              </a:rPr>
              <a:t>minutes jouées</a:t>
            </a:r>
            <a:endParaRPr lang="en-US" sz="1300" dirty="0"/>
          </a:p>
        </p:txBody>
      </p:sp>
      <p:sp>
        <p:nvSpPr>
          <p:cNvPr id="17" name="Text 15"/>
          <p:cNvSpPr txBox="1"/>
          <p:nvPr/>
        </p:nvSpPr>
        <p:spPr>
          <a:xfrm>
            <a:off x="548640" y="3337560"/>
            <a:ext cx="8046720" cy="64008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Une ligne par attaquant et par saison : matchs, minutes, buts, passes, âge, nationalité, club, championnat et valeur marchande.</a:t>
            </a:r>
            <a:endParaRPr lang="en-US" sz="1500" dirty="0"/>
          </a:p>
        </p:txBody>
      </p:sp>
      <p:sp>
        <p:nvSpPr>
          <p:cNvPr id="18" name="Text 16"/>
          <p:cNvSpPr txBox="1"/>
          <p:nvPr/>
        </p:nvSpPr>
        <p:spPr>
          <a:xfrm>
            <a:off x="548640" y="4114800"/>
            <a:ext cx="8046720" cy="274320"/>
          </a:xfrm>
          <a:prstGeom prst="rect">
            <a:avLst/>
          </a:prstGeom>
          <a:noFill/>
          <a:ln/>
        </p:spPr>
        <p:txBody>
          <a:bodyPr wrap="square" lIns="0" tIns="0" rIns="0" bIns="0" rtlCol="0" anchor="ctr"/>
          <a:lstStyle/>
          <a:p>
            <a:pPr indent="0" marL="0">
              <a:buNone/>
            </a:pPr>
            <a:r>
              <a:rPr lang="en-US" sz="1000" dirty="0">
                <a:solidFill>
                  <a:schemeClr val="accent5"/>
                </a:solidFill>
                <a:latin typeface="Calibri" pitchFamily="34" charset="0"/>
                <a:ea typeface="Calibri" pitchFamily="34" charset="-122"/>
                <a:cs typeface="Calibri" pitchFamily="34" charset="-120"/>
              </a:rPr>
              <a:t>Source : Football Data from Transfermarkt (Kaggle)</a:t>
            </a:r>
            <a:endParaRPr lang="en-US" sz="1000" dirty="0"/>
          </a:p>
        </p:txBody>
      </p:sp>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8"/>
          <p:cNvSpPr/>
          <p:nvPr>
            <p:ph idx="108" type="body" hasCustomPrompt="1"/>
          </p:nvPr>
        </p:nvSpPr>
        <p:spPr>
          <a:xfrm>
            <a:off x="548640" y="411480"/>
            <a:ext cx="5486400" cy="274320"/>
          </a:xfrm>
          <a:prstGeom prst="rect">
            <a:avLst/>
          </a:prstGeom>
          <a:noFill/>
          <a:ln/>
        </p:spPr>
        <p:txBody>
          <a:bodyPr wrap="square" lIns="0" tIns="0" rIns="0" bIns="0" rtlCol="0"/>
          <a:lstStyle/>
          <a:p>
            <a:pPr indent="0" marL="0">
              <a:buNone/>
            </a:pPr>
            <a:r>
              <a:rPr lang="en-US" sz="1100" b="1" spc="300" kern="0" dirty="0">
                <a:solidFill>
                  <a:schemeClr val="accent6"/>
                </a:solidFill>
                <a:latin typeface="Calibri" pitchFamily="34" charset="0"/>
                <a:ea typeface="Calibri" pitchFamily="34" charset="-122"/>
                <a:cs typeface="Calibri" pitchFamily="34" charset="-120"/>
              </a:rPr>
              <a:t>03 · LE BIAIS</a:t>
            </a:r>
            <a:endParaRPr lang="en-US" sz="1100" dirty="0"/>
          </a:p>
        </p:txBody>
      </p:sp>
      <p:sp>
        <p:nvSpPr>
          <p:cNvPr id="3" name="Text 8"/>
          <p:cNvSpPr/>
          <p:nvPr>
            <p:ph idx="109" type="title" hasCustomPrompt="1"/>
          </p:nvPr>
        </p:nvSpPr>
        <p:spPr>
          <a:xfrm>
            <a:off x="548640" y="658368"/>
            <a:ext cx="8046720" cy="731520"/>
          </a:xfrm>
          <a:prstGeom prst="rect">
            <a:avLst/>
          </a:prstGeom>
          <a:noFill/>
          <a:ln/>
        </p:spPr>
        <p:txBody>
          <a:bodyPr wrap="square" lIns="0" tIns="0" rIns="0" bIns="0" rtlCol="0" anchor="t"/>
          <a:lstStyle/>
          <a:p>
            <a:pPr algn="l" indent="0" marL="0">
              <a:buNone/>
            </a:pPr>
            <a:r>
              <a:rPr lang="en-US" sz="3600" b="1" dirty="0">
                <a:solidFill>
                  <a:schemeClr val="bg1"/>
                </a:solidFill>
                <a:latin typeface="Arial Narrow" pitchFamily="34" charset="0"/>
                <a:ea typeface="Arial Narrow" pitchFamily="34" charset="-122"/>
                <a:cs typeface="Arial Narrow" pitchFamily="34" charset="-120"/>
              </a:rPr>
              <a:t>MÊME STATS, PAS LE MÊME PRIX</a:t>
            </a:r>
            <a:endParaRPr lang="en-US" sz="3600" dirty="0"/>
          </a:p>
        </p:txBody>
      </p:sp>
      <p:sp>
        <p:nvSpPr>
          <p:cNvPr id="4" name="Text 8"/>
          <p:cNvSpPr/>
          <p:nvPr>
            <p:ph idx="110" type="body" hasCustomPrompt="1"/>
          </p:nvPr>
        </p:nvSpPr>
        <p:spPr>
          <a:xfrm>
            <a:off x="5943600" y="4754880"/>
            <a:ext cx="2651760" cy="228600"/>
          </a:xfrm>
          <a:prstGeom prst="rect">
            <a:avLst/>
          </a:prstGeom>
          <a:noFill/>
          <a:ln/>
        </p:spPr>
        <p:txBody>
          <a:bodyPr wrap="square" lIns="0" tIns="0" rIns="0" bIns="0" rtlCol="0"/>
          <a:lstStyle/>
          <a:p>
            <a:pPr algn="r" indent="0" marL="0">
              <a:buNone/>
            </a:pPr>
            <a:r>
              <a:rPr lang="en-US" sz="1000" dirty="0">
                <a:solidFill>
                  <a:schemeClr val="accent6"/>
                </a:solidFill>
                <a:latin typeface="Calibri" pitchFamily="34" charset="0"/>
                <a:ea typeface="Calibri" pitchFamily="34" charset="-122"/>
                <a:cs typeface="Calibri" pitchFamily="34" charset="-120"/>
              </a:rPr>
              <a:t>Gautier</a:t>
            </a:r>
            <a:endParaRPr lang="en-US" sz="1000" dirty="0"/>
          </a:p>
        </p:txBody>
      </p:sp>
      <p:sp>
        <p:nvSpPr>
          <p:cNvPr id="5" name="scoreboard"/>
          <p:cNvSpPr/>
          <p:nvPr/>
        </p:nvSpPr>
        <p:spPr>
          <a:xfrm>
            <a:off x="548640" y="1600200"/>
            <a:ext cx="8046720" cy="1417320"/>
          </a:xfrm>
          <a:prstGeom prst="roundRect">
            <a:avLst>
              <a:gd name="adj" fmla="val 5161"/>
            </a:avLst>
          </a:prstGeom>
          <a:solidFill>
            <a:srgbClr val="0F2A0C"/>
          </a:solidFill>
          <a:ln/>
        </p:spPr>
      </p:sp>
      <p:sp>
        <p:nvSpPr>
          <p:cNvPr id="6" name="Text 4"/>
          <p:cNvSpPr txBox="1"/>
          <p:nvPr/>
        </p:nvSpPr>
        <p:spPr>
          <a:xfrm>
            <a:off x="777240" y="1737360"/>
            <a:ext cx="3017520" cy="274320"/>
          </a:xfrm>
          <a:prstGeom prst="rect">
            <a:avLst/>
          </a:prstGeom>
          <a:noFill/>
          <a:ln/>
        </p:spPr>
        <p:txBody>
          <a:bodyPr wrap="square" lIns="0" tIns="0" rIns="0" bIns="0" rtlCol="0" anchor="ctr"/>
          <a:lstStyle/>
          <a:p>
            <a:pPr indent="0" marL="0">
              <a:buNone/>
            </a:pPr>
            <a:r>
              <a:rPr lang="en-US" sz="1100" b="1" spc="200" kern="0" dirty="0">
                <a:solidFill>
                  <a:schemeClr val="accent6"/>
                </a:solidFill>
                <a:latin typeface="Calibri" pitchFamily="34" charset="0"/>
                <a:ea typeface="Calibri" pitchFamily="34" charset="-122"/>
                <a:cs typeface="Calibri" pitchFamily="34" charset="-120"/>
              </a:rPr>
              <a:t>GERVINHO · CÔTE D'IVOIRE · PARMA</a:t>
            </a:r>
            <a:endParaRPr lang="en-US" sz="1100" dirty="0"/>
          </a:p>
        </p:txBody>
      </p:sp>
      <p:sp>
        <p:nvSpPr>
          <p:cNvPr id="7" name="Text 5"/>
          <p:cNvSpPr txBox="1"/>
          <p:nvPr/>
        </p:nvSpPr>
        <p:spPr>
          <a:xfrm>
            <a:off x="777240" y="2011680"/>
            <a:ext cx="2743200" cy="868680"/>
          </a:xfrm>
          <a:prstGeom prst="rect">
            <a:avLst/>
          </a:prstGeom>
          <a:noFill/>
          <a:ln/>
        </p:spPr>
        <p:txBody>
          <a:bodyPr wrap="square" lIns="0" tIns="0" rIns="0" bIns="0" rtlCol="0" anchor="ctr"/>
          <a:lstStyle/>
          <a:p>
            <a:pPr indent="0" marL="0">
              <a:buNone/>
            </a:pPr>
            <a:r>
              <a:rPr lang="en-US" sz="5400" b="1" dirty="0">
                <a:solidFill>
                  <a:schemeClr val="bg1"/>
                </a:solidFill>
                <a:latin typeface="Arial Narrow" pitchFamily="34" charset="0"/>
                <a:ea typeface="Arial Narrow" pitchFamily="34" charset="-122"/>
                <a:cs typeface="Arial Narrow" pitchFamily="34" charset="-120"/>
              </a:rPr>
              <a:t>5,5 M€</a:t>
            </a:r>
            <a:endParaRPr lang="en-US" sz="5400" dirty="0"/>
          </a:p>
        </p:txBody>
      </p:sp>
      <p:sp>
        <p:nvSpPr>
          <p:cNvPr id="8" name="Text 6"/>
          <p:cNvSpPr txBox="1"/>
          <p:nvPr/>
        </p:nvSpPr>
        <p:spPr>
          <a:xfrm>
            <a:off x="3566160" y="1965960"/>
            <a:ext cx="2011680" cy="822960"/>
          </a:xfrm>
          <a:prstGeom prst="rect">
            <a:avLst/>
          </a:prstGeom>
          <a:noFill/>
          <a:ln/>
        </p:spPr>
        <p:txBody>
          <a:bodyPr wrap="square" lIns="0" tIns="0" rIns="0" bIns="0" rtlCol="0" anchor="ctr"/>
          <a:lstStyle/>
          <a:p>
            <a:pPr algn="ctr" indent="0" marL="0">
              <a:buNone/>
            </a:pPr>
            <a:r>
              <a:rPr lang="en-US" sz="1000" dirty="0">
                <a:solidFill>
                  <a:schemeClr val="accent6"/>
                </a:solidFill>
                <a:latin typeface="Calibri" pitchFamily="34" charset="0"/>
                <a:ea typeface="Calibri" pitchFamily="34" charset="-122"/>
                <a:cs typeface="Calibri" pitchFamily="34" charset="-120"/>
              </a:rPr>
              <a:t>SERIE A 2019/20</a:t>
            </a:r>
            <a:endParaRPr lang="en-US" sz="1000" dirty="0"/>
          </a:p>
          <a:p>
            <a:pPr algn="ctr" indent="0" marL="0">
              <a:buNone/>
            </a:pPr>
            <a:r>
              <a:rPr lang="en-US" sz="1500" b="1" dirty="0">
                <a:solidFill>
                  <a:schemeClr val="bg1"/>
                </a:solidFill>
                <a:latin typeface="Calibri" pitchFamily="34" charset="0"/>
                <a:ea typeface="Calibri" pitchFamily="34" charset="-122"/>
                <a:cs typeface="Calibri" pitchFamily="34" charset="-120"/>
              </a:rPr>
              <a:t>6 buts · 4 passes</a:t>
            </a:r>
            <a:endParaRPr lang="en-US" sz="1000" dirty="0"/>
          </a:p>
        </p:txBody>
      </p:sp>
      <p:sp>
        <p:nvSpPr>
          <p:cNvPr id="9" name="Text 7"/>
          <p:cNvSpPr txBox="1"/>
          <p:nvPr/>
        </p:nvSpPr>
        <p:spPr>
          <a:xfrm>
            <a:off x="5349240" y="1737360"/>
            <a:ext cx="3017520" cy="274320"/>
          </a:xfrm>
          <a:prstGeom prst="rect">
            <a:avLst/>
          </a:prstGeom>
          <a:noFill/>
          <a:ln/>
        </p:spPr>
        <p:txBody>
          <a:bodyPr wrap="square" lIns="0" tIns="0" rIns="0" bIns="0" rtlCol="0" anchor="ctr"/>
          <a:lstStyle/>
          <a:p>
            <a:pPr algn="r" indent="0" marL="0">
              <a:buNone/>
            </a:pPr>
            <a:r>
              <a:rPr lang="en-US" sz="1100" b="1" spc="200" kern="0" dirty="0">
                <a:solidFill>
                  <a:schemeClr val="accent6"/>
                </a:solidFill>
                <a:latin typeface="Calibri" pitchFamily="34" charset="0"/>
                <a:ea typeface="Calibri" pitchFamily="34" charset="-122"/>
                <a:cs typeface="Calibri" pitchFamily="34" charset="-120"/>
              </a:rPr>
              <a:t>HIGUAÍN · ARGENTINE · JUVENTUS</a:t>
            </a:r>
            <a:endParaRPr lang="en-US" sz="1100" dirty="0"/>
          </a:p>
        </p:txBody>
      </p:sp>
      <p:sp>
        <p:nvSpPr>
          <p:cNvPr id="10" name="Text 8"/>
          <p:cNvSpPr txBox="1"/>
          <p:nvPr/>
        </p:nvSpPr>
        <p:spPr>
          <a:xfrm>
            <a:off x="5623560" y="2011680"/>
            <a:ext cx="2743200" cy="868680"/>
          </a:xfrm>
          <a:prstGeom prst="rect">
            <a:avLst/>
          </a:prstGeom>
          <a:noFill/>
          <a:ln/>
        </p:spPr>
        <p:txBody>
          <a:bodyPr wrap="square" lIns="0" tIns="0" rIns="0" bIns="0" rtlCol="0" anchor="ctr"/>
          <a:lstStyle/>
          <a:p>
            <a:pPr algn="r" indent="0" marL="0">
              <a:buNone/>
            </a:pPr>
            <a:r>
              <a:rPr lang="en-US" sz="5400" b="1" dirty="0">
                <a:solidFill>
                  <a:schemeClr val="accent3"/>
                </a:solidFill>
                <a:latin typeface="Arial Narrow" pitchFamily="34" charset="0"/>
                <a:ea typeface="Arial Narrow" pitchFamily="34" charset="-122"/>
                <a:cs typeface="Arial Narrow" pitchFamily="34" charset="-120"/>
              </a:rPr>
              <a:t>25,5 M€</a:t>
            </a:r>
            <a:endParaRPr lang="en-US" sz="5400" dirty="0"/>
          </a:p>
        </p:txBody>
      </p:sp>
      <p:sp>
        <p:nvSpPr>
          <p:cNvPr id="11" name="Text 9"/>
          <p:cNvSpPr txBox="1"/>
          <p:nvPr/>
        </p:nvSpPr>
        <p:spPr>
          <a:xfrm>
            <a:off x="548640" y="3246120"/>
            <a:ext cx="2468880" cy="685800"/>
          </a:xfrm>
          <a:prstGeom prst="rect">
            <a:avLst/>
          </a:prstGeom>
          <a:noFill/>
          <a:ln/>
        </p:spPr>
        <p:txBody>
          <a:bodyPr wrap="square" lIns="0" tIns="0" rIns="0" bIns="0" rtlCol="0" anchor="ctr"/>
          <a:lstStyle/>
          <a:p>
            <a:pPr indent="0" marL="0">
              <a:buNone/>
            </a:pPr>
            <a:r>
              <a:rPr lang="en-US" sz="4000" b="1" dirty="0">
                <a:solidFill>
                  <a:schemeClr val="accent3"/>
                </a:solidFill>
                <a:latin typeface="Arial Narrow" pitchFamily="34" charset="0"/>
                <a:ea typeface="Arial Narrow" pitchFamily="34" charset="-122"/>
                <a:cs typeface="Arial Narrow" pitchFamily="34" charset="-120"/>
              </a:rPr>
              <a:t>+25 %</a:t>
            </a:r>
            <a:endParaRPr lang="en-US" sz="4000" dirty="0"/>
          </a:p>
        </p:txBody>
      </p:sp>
      <p:sp>
        <p:nvSpPr>
          <p:cNvPr id="12" name="Text 10"/>
          <p:cNvSpPr txBox="1"/>
          <p:nvPr/>
        </p:nvSpPr>
        <p:spPr>
          <a:xfrm>
            <a:off x="548640" y="3931920"/>
            <a:ext cx="2468880" cy="54864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Amérique du Sud</a:t>
            </a:r>
            <a:endParaRPr lang="en-US" sz="1300" dirty="0"/>
          </a:p>
        </p:txBody>
      </p:sp>
      <p:sp>
        <p:nvSpPr>
          <p:cNvPr id="13" name="Text 11"/>
          <p:cNvSpPr txBox="1"/>
          <p:nvPr/>
        </p:nvSpPr>
        <p:spPr>
          <a:xfrm>
            <a:off x="3246120" y="3246120"/>
            <a:ext cx="2468880" cy="685800"/>
          </a:xfrm>
          <a:prstGeom prst="rect">
            <a:avLst/>
          </a:prstGeom>
          <a:noFill/>
          <a:ln/>
        </p:spPr>
        <p:txBody>
          <a:bodyPr wrap="square" lIns="0" tIns="0" rIns="0" bIns="0" rtlCol="0" anchor="ctr"/>
          <a:lstStyle/>
          <a:p>
            <a:pPr indent="0" marL="0">
              <a:buNone/>
            </a:pPr>
            <a:r>
              <a:rPr lang="en-US" sz="4000" b="1" dirty="0">
                <a:solidFill>
                  <a:schemeClr val="accent4"/>
                </a:solidFill>
                <a:latin typeface="Arial Narrow" pitchFamily="34" charset="0"/>
                <a:ea typeface="Arial Narrow" pitchFamily="34" charset="-122"/>
                <a:cs typeface="Arial Narrow" pitchFamily="34" charset="-120"/>
              </a:rPr>
              <a:t>-8 %</a:t>
            </a:r>
            <a:endParaRPr lang="en-US" sz="4000" dirty="0"/>
          </a:p>
        </p:txBody>
      </p:sp>
      <p:sp>
        <p:nvSpPr>
          <p:cNvPr id="14" name="Text 12"/>
          <p:cNvSpPr txBox="1"/>
          <p:nvPr/>
        </p:nvSpPr>
        <p:spPr>
          <a:xfrm>
            <a:off x="3246120" y="3931920"/>
            <a:ext cx="2468880" cy="54864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Afrique</a:t>
            </a:r>
            <a:endParaRPr lang="en-US" sz="1300" dirty="0"/>
          </a:p>
        </p:txBody>
      </p:sp>
      <p:sp>
        <p:nvSpPr>
          <p:cNvPr id="15" name="Text 13"/>
          <p:cNvSpPr txBox="1"/>
          <p:nvPr/>
        </p:nvSpPr>
        <p:spPr>
          <a:xfrm>
            <a:off x="5943600" y="3246120"/>
            <a:ext cx="2468880" cy="685800"/>
          </a:xfrm>
          <a:prstGeom prst="rect">
            <a:avLst/>
          </a:prstGeom>
          <a:noFill/>
          <a:ln/>
        </p:spPr>
        <p:txBody>
          <a:bodyPr wrap="square" lIns="0" tIns="0" rIns="0" bIns="0" rtlCol="0" anchor="ctr"/>
          <a:lstStyle/>
          <a:p>
            <a:pPr indent="0" marL="0">
              <a:buNone/>
            </a:pPr>
            <a:r>
              <a:rPr lang="en-US" sz="4000" b="1" dirty="0">
                <a:solidFill>
                  <a:schemeClr val="bg1"/>
                </a:solidFill>
                <a:latin typeface="Arial Narrow" pitchFamily="34" charset="0"/>
                <a:ea typeface="Arial Narrow" pitchFamily="34" charset="-122"/>
                <a:cs typeface="Arial Narrow" pitchFamily="34" charset="-120"/>
              </a:rPr>
              <a:t>0,65</a:t>
            </a:r>
            <a:endParaRPr lang="en-US" sz="4000" dirty="0"/>
          </a:p>
        </p:txBody>
      </p:sp>
      <p:sp>
        <p:nvSpPr>
          <p:cNvPr id="16" name="Text 14"/>
          <p:cNvSpPr txBox="1"/>
          <p:nvPr/>
        </p:nvSpPr>
        <p:spPr>
          <a:xfrm>
            <a:off x="5943600" y="3931920"/>
            <a:ext cx="2468880" cy="54864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disparate impact du label historique (seuil : 0,8)</a:t>
            </a:r>
            <a:endParaRPr lang="en-US" sz="1300" dirty="0"/>
          </a:p>
        </p:txBody>
      </p:sp>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486400" cy="274320"/>
          </a:xfrm>
          <a:prstGeom prst="rect">
            <a:avLst/>
          </a:prstGeom>
          <a:noFill/>
          <a:ln/>
        </p:spPr>
        <p:txBody>
          <a:bodyPr wrap="square" lIns="0" tIns="0" rIns="0" bIns="0" rtlCol="0"/>
          <a:lstStyle/>
          <a:p>
            <a:pPr indent="0" marL="0">
              <a:buNone/>
            </a:pPr>
            <a:r>
              <a:rPr lang="en-US" sz="1100" b="1" spc="300" kern="0" dirty="0">
                <a:solidFill>
                  <a:schemeClr val="accent1"/>
                </a:solidFill>
                <a:latin typeface="Calibri" pitchFamily="34" charset="0"/>
                <a:ea typeface="Calibri" pitchFamily="34" charset="-122"/>
                <a:cs typeface="Calibri" pitchFamily="34" charset="-120"/>
              </a:rPr>
              <a:t>04 · RÉDUCTION DU BIAIS</a:t>
            </a:r>
            <a:endParaRPr lang="en-US" sz="1100" dirty="0"/>
          </a:p>
        </p:txBody>
      </p:sp>
      <p:sp>
        <p:nvSpPr>
          <p:cNvPr id="3" name="Text 0"/>
          <p:cNvSpPr/>
          <p:nvPr>
            <p:ph idx="101" type="title" hasCustomPrompt="1"/>
          </p:nvPr>
        </p:nvSpPr>
        <p:spPr>
          <a:xfrm>
            <a:off x="548640" y="658368"/>
            <a:ext cx="8046720" cy="731520"/>
          </a:xfrm>
          <a:prstGeom prst="rect">
            <a:avLst/>
          </a:prstGeom>
          <a:noFill/>
          <a:ln/>
        </p:spPr>
        <p:txBody>
          <a:bodyPr wrap="square" lIns="0" tIns="0" rIns="0" bIns="0" rtlCol="0" anchor="t"/>
          <a:lstStyle/>
          <a:p>
            <a:pPr algn="l" indent="0" marL="0">
              <a:buNone/>
            </a:pPr>
            <a:r>
              <a:rPr lang="en-US" sz="3600" b="1" dirty="0">
                <a:solidFill>
                  <a:schemeClr val="tx1"/>
                </a:solidFill>
                <a:latin typeface="Arial Narrow" pitchFamily="34" charset="0"/>
                <a:ea typeface="Arial Narrow" pitchFamily="34" charset="-122"/>
                <a:cs typeface="Arial Narrow" pitchFamily="34" charset="-120"/>
              </a:rPr>
              <a:t>TROIS LEVIERS, À TROIS ENDROITS</a:t>
            </a:r>
            <a:endParaRPr lang="en-US" sz="3600" dirty="0"/>
          </a:p>
        </p:txBody>
      </p:sp>
      <p:sp>
        <p:nvSpPr>
          <p:cNvPr id="4" name="Text 0"/>
          <p:cNvSpPr/>
          <p:nvPr>
            <p:ph idx="102" type="body" hasCustomPrompt="1"/>
          </p:nvPr>
        </p:nvSpPr>
        <p:spPr>
          <a:xfrm>
            <a:off x="5943600" y="4754880"/>
            <a:ext cx="2651760" cy="228600"/>
          </a:xfrm>
          <a:prstGeom prst="rect">
            <a:avLst/>
          </a:prstGeom>
          <a:noFill/>
          <a:ln/>
        </p:spPr>
        <p:txBody>
          <a:bodyPr wrap="square" lIns="0" tIns="0" rIns="0" bIns="0" rtlCol="0"/>
          <a:lstStyle/>
          <a:p>
            <a:pPr algn="r" indent="0" marL="0">
              <a:buNone/>
            </a:pPr>
            <a:r>
              <a:rPr lang="en-US" sz="1000" dirty="0">
                <a:solidFill>
                  <a:schemeClr val="accent5"/>
                </a:solidFill>
                <a:latin typeface="Calibri" pitchFamily="34" charset="0"/>
                <a:ea typeface="Calibri" pitchFamily="34" charset="-122"/>
                <a:cs typeface="Calibri" pitchFamily="34" charset="-120"/>
              </a:rPr>
              <a:t>Simon</a:t>
            </a:r>
            <a:endParaRPr lang="en-US" sz="1000" dirty="0"/>
          </a:p>
        </p:txBody>
      </p:sp>
      <p:sp>
        <p:nvSpPr>
          <p:cNvPr id="5" name="levier_0"/>
          <p:cNvSpPr/>
          <p:nvPr/>
        </p:nvSpPr>
        <p:spPr>
          <a:xfrm>
            <a:off x="548640" y="1508760"/>
            <a:ext cx="2560320" cy="2926080"/>
          </a:xfrm>
          <a:prstGeom prst="roundRect">
            <a:avLst>
              <a:gd name="adj" fmla="val 2857"/>
            </a:avLst>
          </a:prstGeom>
          <a:solidFill>
            <a:srgbClr val="EEF3EA"/>
          </a:solidFill>
          <a:ln/>
        </p:spPr>
      </p:sp>
      <p:sp>
        <p:nvSpPr>
          <p:cNvPr id="6" name="Text 4"/>
          <p:cNvSpPr txBox="1"/>
          <p:nvPr/>
        </p:nvSpPr>
        <p:spPr>
          <a:xfrm>
            <a:off x="731520" y="1645920"/>
            <a:ext cx="914400" cy="548640"/>
          </a:xfrm>
          <a:prstGeom prst="rect">
            <a:avLst/>
          </a:prstGeom>
          <a:noFill/>
          <a:ln/>
        </p:spPr>
        <p:txBody>
          <a:bodyPr wrap="square" lIns="0" tIns="0" rIns="0" bIns="0" rtlCol="0" anchor="ctr"/>
          <a:lstStyle/>
          <a:p>
            <a:pPr indent="0" marL="0">
              <a:buNone/>
            </a:pPr>
            <a:r>
              <a:rPr lang="en-US" sz="3200" b="1" dirty="0">
                <a:solidFill>
                  <a:schemeClr val="accent2"/>
                </a:solidFill>
                <a:latin typeface="Arial Narrow" pitchFamily="34" charset="0"/>
                <a:ea typeface="Arial Narrow" pitchFamily="34" charset="-122"/>
                <a:cs typeface="Arial Narrow" pitchFamily="34" charset="-120"/>
              </a:rPr>
              <a:t>01</a:t>
            </a:r>
            <a:endParaRPr lang="en-US" sz="3200" dirty="0"/>
          </a:p>
        </p:txBody>
      </p:sp>
      <p:sp>
        <p:nvSpPr>
          <p:cNvPr id="7" name="Text 5"/>
          <p:cNvSpPr txBox="1"/>
          <p:nvPr/>
        </p:nvSpPr>
        <p:spPr>
          <a:xfrm>
            <a:off x="731520" y="2240280"/>
            <a:ext cx="2194560" cy="274320"/>
          </a:xfrm>
          <a:prstGeom prst="rect">
            <a:avLst/>
          </a:prstGeom>
          <a:noFill/>
          <a:ln/>
        </p:spPr>
        <p:txBody>
          <a:bodyPr wrap="square" lIns="0" tIns="0" rIns="0" bIns="0" rtlCol="0" anchor="ctr"/>
          <a:lstStyle/>
          <a:p>
            <a:pPr indent="0" marL="0">
              <a:buNone/>
            </a:pPr>
            <a:r>
              <a:rPr lang="en-US" sz="1100" b="1" spc="300" kern="0" dirty="0">
                <a:solidFill>
                  <a:schemeClr val="accent5"/>
                </a:solidFill>
                <a:latin typeface="Calibri" pitchFamily="34" charset="0"/>
                <a:ea typeface="Calibri" pitchFamily="34" charset="-122"/>
                <a:cs typeface="Calibri" pitchFamily="34" charset="-120"/>
              </a:rPr>
              <a:t>DONNÉES</a:t>
            </a:r>
            <a:endParaRPr lang="en-US" sz="1100" dirty="0"/>
          </a:p>
        </p:txBody>
      </p:sp>
      <p:sp>
        <p:nvSpPr>
          <p:cNvPr id="8" name="Text 6"/>
          <p:cNvSpPr txBox="1"/>
          <p:nvPr/>
        </p:nvSpPr>
        <p:spPr>
          <a:xfrm>
            <a:off x="731520" y="2514600"/>
            <a:ext cx="2194560" cy="59436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Relabeling et reweighing</a:t>
            </a:r>
            <a:endParaRPr lang="en-US" sz="1600" dirty="0"/>
          </a:p>
        </p:txBody>
      </p:sp>
      <p:sp>
        <p:nvSpPr>
          <p:cNvPr id="9" name="Text 7"/>
          <p:cNvSpPr txBox="1"/>
          <p:nvPr/>
        </p:nvSpPr>
        <p:spPr>
          <a:xfrm>
            <a:off x="731520" y="3154680"/>
            <a:ext cx="2194560" cy="11887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Label corrigé : valeur attendue d'après la seule performance. Poids qui rendent le label indépendant du groupe.</a:t>
            </a:r>
            <a:endParaRPr lang="en-US" sz="1300" dirty="0"/>
          </a:p>
        </p:txBody>
      </p:sp>
      <p:sp>
        <p:nvSpPr>
          <p:cNvPr id="10" name="levier_1"/>
          <p:cNvSpPr/>
          <p:nvPr/>
        </p:nvSpPr>
        <p:spPr>
          <a:xfrm>
            <a:off x="3291840" y="1508760"/>
            <a:ext cx="2560320" cy="2926080"/>
          </a:xfrm>
          <a:prstGeom prst="roundRect">
            <a:avLst>
              <a:gd name="adj" fmla="val 2857"/>
            </a:avLst>
          </a:prstGeom>
          <a:solidFill>
            <a:srgbClr val="EEF3EA"/>
          </a:solidFill>
          <a:ln/>
        </p:spPr>
      </p:sp>
      <p:sp>
        <p:nvSpPr>
          <p:cNvPr id="11" name="Text 9"/>
          <p:cNvSpPr txBox="1"/>
          <p:nvPr/>
        </p:nvSpPr>
        <p:spPr>
          <a:xfrm>
            <a:off x="3474720" y="1645920"/>
            <a:ext cx="914400" cy="548640"/>
          </a:xfrm>
          <a:prstGeom prst="rect">
            <a:avLst/>
          </a:prstGeom>
          <a:noFill/>
          <a:ln/>
        </p:spPr>
        <p:txBody>
          <a:bodyPr wrap="square" lIns="0" tIns="0" rIns="0" bIns="0" rtlCol="0" anchor="ctr"/>
          <a:lstStyle/>
          <a:p>
            <a:pPr indent="0" marL="0">
              <a:buNone/>
            </a:pPr>
            <a:r>
              <a:rPr lang="en-US" sz="3200" b="1" dirty="0">
                <a:solidFill>
                  <a:schemeClr val="accent2"/>
                </a:solidFill>
                <a:latin typeface="Arial Narrow" pitchFamily="34" charset="0"/>
                <a:ea typeface="Arial Narrow" pitchFamily="34" charset="-122"/>
                <a:cs typeface="Arial Narrow" pitchFamily="34" charset="-120"/>
              </a:rPr>
              <a:t>02</a:t>
            </a:r>
            <a:endParaRPr lang="en-US" sz="3200" dirty="0"/>
          </a:p>
        </p:txBody>
      </p:sp>
      <p:sp>
        <p:nvSpPr>
          <p:cNvPr id="12" name="Text 10"/>
          <p:cNvSpPr txBox="1"/>
          <p:nvPr/>
        </p:nvSpPr>
        <p:spPr>
          <a:xfrm>
            <a:off x="3474720" y="2240280"/>
            <a:ext cx="2194560" cy="274320"/>
          </a:xfrm>
          <a:prstGeom prst="rect">
            <a:avLst/>
          </a:prstGeom>
          <a:noFill/>
          <a:ln/>
        </p:spPr>
        <p:txBody>
          <a:bodyPr wrap="square" lIns="0" tIns="0" rIns="0" bIns="0" rtlCol="0" anchor="ctr"/>
          <a:lstStyle/>
          <a:p>
            <a:pPr indent="0" marL="0">
              <a:buNone/>
            </a:pPr>
            <a:r>
              <a:rPr lang="en-US" sz="1100" b="1" spc="300" kern="0" dirty="0">
                <a:solidFill>
                  <a:schemeClr val="accent5"/>
                </a:solidFill>
                <a:latin typeface="Calibri" pitchFamily="34" charset="0"/>
                <a:ea typeface="Calibri" pitchFamily="34" charset="-122"/>
                <a:cs typeface="Calibri" pitchFamily="34" charset="-120"/>
              </a:rPr>
              <a:t>ENTRÉE</a:t>
            </a:r>
            <a:endParaRPr lang="en-US" sz="1100" dirty="0"/>
          </a:p>
        </p:txBody>
      </p:sp>
      <p:sp>
        <p:nvSpPr>
          <p:cNvPr id="13" name="Text 11"/>
          <p:cNvSpPr txBox="1"/>
          <p:nvPr/>
        </p:nvSpPr>
        <p:spPr>
          <a:xfrm>
            <a:off x="3474720" y="2514600"/>
            <a:ext cx="2194560" cy="59436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Masquage de la nationalité</a:t>
            </a:r>
            <a:endParaRPr lang="en-US" sz="1600" dirty="0"/>
          </a:p>
        </p:txBody>
      </p:sp>
      <p:sp>
        <p:nvSpPr>
          <p:cNvPr id="14" name="Text 12"/>
          <p:cNvSpPr txBox="1"/>
          <p:nvPr/>
        </p:nvSpPr>
        <p:spPr>
          <a:xfrm>
            <a:off x="3474720" y="3154680"/>
            <a:ext cx="2194560" cy="11887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La nationalité disparaît du prompt. Insuffisant seul : le club peut servir de proxy.</a:t>
            </a:r>
            <a:endParaRPr lang="en-US" sz="1300" dirty="0"/>
          </a:p>
        </p:txBody>
      </p:sp>
      <p:sp>
        <p:nvSpPr>
          <p:cNvPr id="15" name="levier_2"/>
          <p:cNvSpPr/>
          <p:nvPr/>
        </p:nvSpPr>
        <p:spPr>
          <a:xfrm>
            <a:off x="6035040" y="1508760"/>
            <a:ext cx="2560320" cy="2926080"/>
          </a:xfrm>
          <a:prstGeom prst="roundRect">
            <a:avLst>
              <a:gd name="adj" fmla="val 2857"/>
            </a:avLst>
          </a:prstGeom>
          <a:solidFill>
            <a:srgbClr val="EEF3EA"/>
          </a:solidFill>
          <a:ln/>
        </p:spPr>
      </p:sp>
      <p:sp>
        <p:nvSpPr>
          <p:cNvPr id="16" name="Text 14"/>
          <p:cNvSpPr txBox="1"/>
          <p:nvPr/>
        </p:nvSpPr>
        <p:spPr>
          <a:xfrm>
            <a:off x="6217920" y="1645920"/>
            <a:ext cx="914400" cy="548640"/>
          </a:xfrm>
          <a:prstGeom prst="rect">
            <a:avLst/>
          </a:prstGeom>
          <a:noFill/>
          <a:ln/>
        </p:spPr>
        <p:txBody>
          <a:bodyPr wrap="square" lIns="0" tIns="0" rIns="0" bIns="0" rtlCol="0" anchor="ctr"/>
          <a:lstStyle/>
          <a:p>
            <a:pPr indent="0" marL="0">
              <a:buNone/>
            </a:pPr>
            <a:r>
              <a:rPr lang="en-US" sz="3200" b="1" dirty="0">
                <a:solidFill>
                  <a:schemeClr val="accent2"/>
                </a:solidFill>
                <a:latin typeface="Arial Narrow" pitchFamily="34" charset="0"/>
                <a:ea typeface="Arial Narrow" pitchFamily="34" charset="-122"/>
                <a:cs typeface="Arial Narrow" pitchFamily="34" charset="-120"/>
              </a:rPr>
              <a:t>03</a:t>
            </a:r>
            <a:endParaRPr lang="en-US" sz="3200" dirty="0"/>
          </a:p>
        </p:txBody>
      </p:sp>
      <p:sp>
        <p:nvSpPr>
          <p:cNvPr id="17" name="Text 15"/>
          <p:cNvSpPr txBox="1"/>
          <p:nvPr/>
        </p:nvSpPr>
        <p:spPr>
          <a:xfrm>
            <a:off x="6217920" y="2240280"/>
            <a:ext cx="2194560" cy="274320"/>
          </a:xfrm>
          <a:prstGeom prst="rect">
            <a:avLst/>
          </a:prstGeom>
          <a:noFill/>
          <a:ln/>
        </p:spPr>
        <p:txBody>
          <a:bodyPr wrap="square" lIns="0" tIns="0" rIns="0" bIns="0" rtlCol="0" anchor="ctr"/>
          <a:lstStyle/>
          <a:p>
            <a:pPr indent="0" marL="0">
              <a:buNone/>
            </a:pPr>
            <a:r>
              <a:rPr lang="en-US" sz="1100" b="1" spc="300" kern="0" dirty="0">
                <a:solidFill>
                  <a:schemeClr val="accent5"/>
                </a:solidFill>
                <a:latin typeface="Calibri" pitchFamily="34" charset="0"/>
                <a:ea typeface="Calibri" pitchFamily="34" charset="-122"/>
                <a:cs typeface="Calibri" pitchFamily="34" charset="-120"/>
              </a:rPr>
              <a:t>SORTIE</a:t>
            </a:r>
            <a:endParaRPr lang="en-US" sz="1100" dirty="0"/>
          </a:p>
        </p:txBody>
      </p:sp>
      <p:sp>
        <p:nvSpPr>
          <p:cNvPr id="18" name="Text 16"/>
          <p:cNvSpPr txBox="1"/>
          <p:nvPr/>
        </p:nvSpPr>
        <p:spPr>
          <a:xfrm>
            <a:off x="6217920" y="2514600"/>
            <a:ext cx="2194560" cy="59436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Seuils par groupe</a:t>
            </a:r>
            <a:endParaRPr lang="en-US" sz="1600" dirty="0"/>
          </a:p>
        </p:txBody>
      </p:sp>
      <p:sp>
        <p:nvSpPr>
          <p:cNvPr id="19" name="Text 17"/>
          <p:cNvSpPr txBox="1"/>
          <p:nvPr/>
        </p:nvSpPr>
        <p:spPr>
          <a:xfrm>
            <a:off x="6217920" y="3154680"/>
            <a:ext cx="2194560" cy="11887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Post-traitement sur P(YES) pour viser la parité démographique.</a:t>
            </a:r>
            <a:endParaRPr lang="en-US" sz="1300" dirty="0"/>
          </a:p>
        </p:txBody>
      </p:sp>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486400" cy="274320"/>
          </a:xfrm>
          <a:prstGeom prst="rect">
            <a:avLst/>
          </a:prstGeom>
          <a:noFill/>
          <a:ln/>
        </p:spPr>
        <p:txBody>
          <a:bodyPr wrap="square" lIns="0" tIns="0" rIns="0" bIns="0" rtlCol="0"/>
          <a:lstStyle/>
          <a:p>
            <a:pPr indent="0" marL="0">
              <a:buNone/>
            </a:pPr>
            <a:r>
              <a:rPr lang="en-US" sz="1100" b="1" spc="300" kern="0" dirty="0">
                <a:solidFill>
                  <a:schemeClr val="accent1"/>
                </a:solidFill>
                <a:latin typeface="Calibri" pitchFamily="34" charset="0"/>
                <a:ea typeface="Calibri" pitchFamily="34" charset="-122"/>
                <a:cs typeface="Calibri" pitchFamily="34" charset="-120"/>
              </a:rPr>
              <a:t>05 · ADAPTER LE LLM</a:t>
            </a:r>
            <a:endParaRPr lang="en-US" sz="1100" dirty="0"/>
          </a:p>
        </p:txBody>
      </p:sp>
      <p:sp>
        <p:nvSpPr>
          <p:cNvPr id="3" name="Text 0"/>
          <p:cNvSpPr/>
          <p:nvPr>
            <p:ph idx="101" type="title" hasCustomPrompt="1"/>
          </p:nvPr>
        </p:nvSpPr>
        <p:spPr>
          <a:xfrm>
            <a:off x="548640" y="658368"/>
            <a:ext cx="8046720" cy="731520"/>
          </a:xfrm>
          <a:prstGeom prst="rect">
            <a:avLst/>
          </a:prstGeom>
          <a:noFill/>
          <a:ln/>
        </p:spPr>
        <p:txBody>
          <a:bodyPr wrap="square" lIns="0" tIns="0" rIns="0" bIns="0" rtlCol="0" anchor="t"/>
          <a:lstStyle/>
          <a:p>
            <a:pPr algn="l" indent="0" marL="0">
              <a:buNone/>
            </a:pPr>
            <a:r>
              <a:rPr lang="en-US" sz="3600" b="1" dirty="0">
                <a:solidFill>
                  <a:schemeClr val="tx1"/>
                </a:solidFill>
                <a:latin typeface="Arial Narrow" pitchFamily="34" charset="0"/>
                <a:ea typeface="Arial Narrow" pitchFamily="34" charset="-122"/>
                <a:cs typeface="Arial Narrow" pitchFamily="34" charset="-120"/>
              </a:rPr>
              <a:t>QWEN2.5-0.5B, TROIS MÉTHODES</a:t>
            </a:r>
            <a:endParaRPr lang="en-US" sz="3600" dirty="0"/>
          </a:p>
        </p:txBody>
      </p:sp>
      <p:sp>
        <p:nvSpPr>
          <p:cNvPr id="4" name="Text 0"/>
          <p:cNvSpPr/>
          <p:nvPr>
            <p:ph idx="102" type="body" hasCustomPrompt="1"/>
          </p:nvPr>
        </p:nvSpPr>
        <p:spPr>
          <a:xfrm>
            <a:off x="5943600" y="4754880"/>
            <a:ext cx="2651760" cy="228600"/>
          </a:xfrm>
          <a:prstGeom prst="rect">
            <a:avLst/>
          </a:prstGeom>
          <a:noFill/>
          <a:ln/>
        </p:spPr>
        <p:txBody>
          <a:bodyPr wrap="square" lIns="0" tIns="0" rIns="0" bIns="0" rtlCol="0"/>
          <a:lstStyle/>
          <a:p>
            <a:pPr algn="r" indent="0" marL="0">
              <a:buNone/>
            </a:pPr>
            <a:r>
              <a:rPr lang="en-US" sz="1000" dirty="0">
                <a:solidFill>
                  <a:schemeClr val="accent5"/>
                </a:solidFill>
                <a:latin typeface="Calibri" pitchFamily="34" charset="0"/>
                <a:ea typeface="Calibri" pitchFamily="34" charset="-122"/>
                <a:cs typeface="Calibri" pitchFamily="34" charset="-120"/>
              </a:rPr>
              <a:t>Simon</a:t>
            </a:r>
            <a:endParaRPr lang="en-US" sz="1000" dirty="0"/>
          </a:p>
        </p:txBody>
      </p:sp>
      <p:sp>
        <p:nvSpPr>
          <p:cNvPr id="5" name="methode_0"/>
          <p:cNvSpPr/>
          <p:nvPr/>
        </p:nvSpPr>
        <p:spPr>
          <a:xfrm>
            <a:off x="548640" y="1508760"/>
            <a:ext cx="2560320" cy="2514600"/>
          </a:xfrm>
          <a:prstGeom prst="roundRect">
            <a:avLst>
              <a:gd name="adj" fmla="val 2909"/>
            </a:avLst>
          </a:prstGeom>
          <a:solidFill>
            <a:srgbClr val="EEF3EA"/>
          </a:solidFill>
          <a:ln/>
        </p:spPr>
      </p:sp>
      <p:sp>
        <p:nvSpPr>
          <p:cNvPr id="6" name="Text 4"/>
          <p:cNvSpPr txBox="1"/>
          <p:nvPr/>
        </p:nvSpPr>
        <p:spPr>
          <a:xfrm>
            <a:off x="731520" y="1645920"/>
            <a:ext cx="2194560" cy="36576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Fine-tuning complet</a:t>
            </a:r>
            <a:endParaRPr lang="en-US" sz="1600" dirty="0"/>
          </a:p>
        </p:txBody>
      </p:sp>
      <p:sp>
        <p:nvSpPr>
          <p:cNvPr id="7" name="Text 5"/>
          <p:cNvSpPr txBox="1"/>
          <p:nvPr/>
        </p:nvSpPr>
        <p:spPr>
          <a:xfrm>
            <a:off x="731520" y="2057400"/>
            <a:ext cx="219456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Narrow" pitchFamily="34" charset="0"/>
                <a:ea typeface="Arial Narrow" pitchFamily="34" charset="-122"/>
                <a:cs typeface="Arial Narrow" pitchFamily="34" charset="-120"/>
              </a:rPr>
              <a:t>494 M</a:t>
            </a:r>
            <a:endParaRPr lang="en-US" sz="4000" dirty="0"/>
          </a:p>
        </p:txBody>
      </p:sp>
      <p:sp>
        <p:nvSpPr>
          <p:cNvPr id="8" name="Text 6"/>
          <p:cNvSpPr txBox="1"/>
          <p:nvPr/>
        </p:nvSpPr>
        <p:spPr>
          <a:xfrm>
            <a:off x="731520" y="2743200"/>
            <a:ext cx="2194560" cy="274320"/>
          </a:xfrm>
          <a:prstGeom prst="rect">
            <a:avLst/>
          </a:prstGeom>
          <a:noFill/>
          <a:ln/>
        </p:spPr>
        <p:txBody>
          <a:bodyPr wrap="square" lIns="0" tIns="0" rIns="0" bIns="0" rtlCol="0" anchor="ctr"/>
          <a:lstStyle/>
          <a:p>
            <a:pPr indent="0" marL="0">
              <a:buNone/>
            </a:pPr>
            <a:r>
              <a:rPr lang="en-US" sz="1100" dirty="0">
                <a:solidFill>
                  <a:schemeClr val="accent5"/>
                </a:solidFill>
                <a:latin typeface="Calibri" pitchFamily="34" charset="0"/>
                <a:ea typeface="Calibri" pitchFamily="34" charset="-122"/>
                <a:cs typeface="Calibri" pitchFamily="34" charset="-120"/>
              </a:rPr>
              <a:t>paramètres entraînés</a:t>
            </a:r>
            <a:endParaRPr lang="en-US" sz="1100" dirty="0"/>
          </a:p>
        </p:txBody>
      </p:sp>
      <p:sp>
        <p:nvSpPr>
          <p:cNvPr id="9" name="Text 7"/>
          <p:cNvSpPr txBox="1"/>
          <p:nvPr/>
        </p:nvSpPr>
        <p:spPr>
          <a:xfrm>
            <a:off x="731520" y="3063240"/>
            <a:ext cx="2194560" cy="8686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Tous les poids sont ajustés. Le plus performant attendu, le plus coûteux.</a:t>
            </a:r>
            <a:endParaRPr lang="en-US" sz="1300" dirty="0"/>
          </a:p>
        </p:txBody>
      </p:sp>
      <p:sp>
        <p:nvSpPr>
          <p:cNvPr id="10" name="methode_1"/>
          <p:cNvSpPr/>
          <p:nvPr/>
        </p:nvSpPr>
        <p:spPr>
          <a:xfrm>
            <a:off x="3291840" y="1508760"/>
            <a:ext cx="2560320" cy="2514600"/>
          </a:xfrm>
          <a:prstGeom prst="roundRect">
            <a:avLst>
              <a:gd name="adj" fmla="val 2909"/>
            </a:avLst>
          </a:prstGeom>
          <a:solidFill>
            <a:srgbClr val="EEF3EA"/>
          </a:solidFill>
          <a:ln/>
        </p:spPr>
      </p:sp>
      <p:sp>
        <p:nvSpPr>
          <p:cNvPr id="11" name="Text 9"/>
          <p:cNvSpPr txBox="1"/>
          <p:nvPr/>
        </p:nvSpPr>
        <p:spPr>
          <a:xfrm>
            <a:off x="3474720" y="1645920"/>
            <a:ext cx="2194560" cy="36576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LoRA</a:t>
            </a:r>
            <a:endParaRPr lang="en-US" sz="1600" dirty="0"/>
          </a:p>
        </p:txBody>
      </p:sp>
      <p:sp>
        <p:nvSpPr>
          <p:cNvPr id="12" name="Text 10"/>
          <p:cNvSpPr txBox="1"/>
          <p:nvPr/>
        </p:nvSpPr>
        <p:spPr>
          <a:xfrm>
            <a:off x="3474720" y="2057400"/>
            <a:ext cx="219456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Narrow" pitchFamily="34" charset="0"/>
                <a:ea typeface="Arial Narrow" pitchFamily="34" charset="-122"/>
                <a:cs typeface="Arial Narrow" pitchFamily="34" charset="-120"/>
              </a:rPr>
              <a:t>2,2 M</a:t>
            </a:r>
            <a:endParaRPr lang="en-US" sz="4000" dirty="0"/>
          </a:p>
        </p:txBody>
      </p:sp>
      <p:sp>
        <p:nvSpPr>
          <p:cNvPr id="13" name="Text 11"/>
          <p:cNvSpPr txBox="1"/>
          <p:nvPr/>
        </p:nvSpPr>
        <p:spPr>
          <a:xfrm>
            <a:off x="3474720" y="2743200"/>
            <a:ext cx="2194560" cy="274320"/>
          </a:xfrm>
          <a:prstGeom prst="rect">
            <a:avLst/>
          </a:prstGeom>
          <a:noFill/>
          <a:ln/>
        </p:spPr>
        <p:txBody>
          <a:bodyPr wrap="square" lIns="0" tIns="0" rIns="0" bIns="0" rtlCol="0" anchor="ctr"/>
          <a:lstStyle/>
          <a:p>
            <a:pPr indent="0" marL="0">
              <a:buNone/>
            </a:pPr>
            <a:r>
              <a:rPr lang="en-US" sz="1100" dirty="0">
                <a:solidFill>
                  <a:schemeClr val="accent5"/>
                </a:solidFill>
                <a:latin typeface="Calibri" pitchFamily="34" charset="0"/>
                <a:ea typeface="Calibri" pitchFamily="34" charset="-122"/>
                <a:cs typeface="Calibri" pitchFamily="34" charset="-120"/>
              </a:rPr>
              <a:t>paramètres entraînés</a:t>
            </a:r>
            <a:endParaRPr lang="en-US" sz="1100" dirty="0"/>
          </a:p>
        </p:txBody>
      </p:sp>
      <p:sp>
        <p:nvSpPr>
          <p:cNvPr id="14" name="Text 12"/>
          <p:cNvSpPr txBox="1"/>
          <p:nvPr/>
        </p:nvSpPr>
        <p:spPr>
          <a:xfrm>
            <a:off x="3474720" y="3063240"/>
            <a:ext cx="2194560" cy="8686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Matrices de rang 16 sur l'attention, environ 0,4 % du modèle.</a:t>
            </a:r>
            <a:endParaRPr lang="en-US" sz="1300" dirty="0"/>
          </a:p>
        </p:txBody>
      </p:sp>
      <p:sp>
        <p:nvSpPr>
          <p:cNvPr id="15" name="methode_2"/>
          <p:cNvSpPr/>
          <p:nvPr/>
        </p:nvSpPr>
        <p:spPr>
          <a:xfrm>
            <a:off x="6035040" y="1508760"/>
            <a:ext cx="2560320" cy="2514600"/>
          </a:xfrm>
          <a:prstGeom prst="roundRect">
            <a:avLst>
              <a:gd name="adj" fmla="val 2909"/>
            </a:avLst>
          </a:prstGeom>
          <a:solidFill>
            <a:srgbClr val="1F4A1A"/>
          </a:solidFill>
          <a:ln/>
        </p:spPr>
      </p:sp>
      <p:sp>
        <p:nvSpPr>
          <p:cNvPr id="16" name="Text 14"/>
          <p:cNvSpPr txBox="1"/>
          <p:nvPr/>
        </p:nvSpPr>
        <p:spPr>
          <a:xfrm>
            <a:off x="6217920" y="1645920"/>
            <a:ext cx="2194560" cy="365760"/>
          </a:xfrm>
          <a:prstGeom prst="rect">
            <a:avLst/>
          </a:prstGeom>
          <a:noFill/>
          <a:ln/>
        </p:spPr>
        <p:txBody>
          <a:bodyPr wrap="square" lIns="0" tIns="0" rIns="0" bIns="0" rtlCol="0" anchor="ctr"/>
          <a:lstStyle/>
          <a:p>
            <a:pPr indent="0" marL="0">
              <a:buNone/>
            </a:pPr>
            <a:r>
              <a:rPr lang="en-US" sz="1600" b="1" dirty="0">
                <a:solidFill>
                  <a:schemeClr val="bg1"/>
                </a:solidFill>
                <a:latin typeface="Calibri" pitchFamily="34" charset="0"/>
                <a:ea typeface="Calibri" pitchFamily="34" charset="-122"/>
                <a:cs typeface="Calibri" pitchFamily="34" charset="-120"/>
              </a:rPr>
              <a:t>Distillation</a:t>
            </a:r>
            <a:endParaRPr lang="en-US" sz="1600" dirty="0"/>
          </a:p>
        </p:txBody>
      </p:sp>
      <p:sp>
        <p:nvSpPr>
          <p:cNvPr id="17" name="Text 15"/>
          <p:cNvSpPr txBox="1"/>
          <p:nvPr/>
        </p:nvSpPr>
        <p:spPr>
          <a:xfrm>
            <a:off x="6217920" y="2057400"/>
            <a:ext cx="2194560" cy="685800"/>
          </a:xfrm>
          <a:prstGeom prst="rect">
            <a:avLst/>
          </a:prstGeom>
          <a:noFill/>
          <a:ln/>
        </p:spPr>
        <p:txBody>
          <a:bodyPr wrap="square" lIns="0" tIns="0" rIns="0" bIns="0" rtlCol="0" anchor="ctr"/>
          <a:lstStyle/>
          <a:p>
            <a:pPr indent="0" marL="0">
              <a:buNone/>
            </a:pPr>
            <a:r>
              <a:rPr lang="en-US" sz="4000" b="1" dirty="0">
                <a:solidFill>
                  <a:schemeClr val="accent6"/>
                </a:solidFill>
                <a:latin typeface="Arial Narrow" pitchFamily="34" charset="0"/>
                <a:ea typeface="Arial Narrow" pitchFamily="34" charset="-122"/>
                <a:cs typeface="Arial Narrow" pitchFamily="34" charset="-120"/>
              </a:rPr>
              <a:t>8 / 24</a:t>
            </a:r>
            <a:endParaRPr lang="en-US" sz="4000" dirty="0"/>
          </a:p>
        </p:txBody>
      </p:sp>
      <p:sp>
        <p:nvSpPr>
          <p:cNvPr id="18" name="Text 16"/>
          <p:cNvSpPr txBox="1"/>
          <p:nvPr/>
        </p:nvSpPr>
        <p:spPr>
          <a:xfrm>
            <a:off x="6217920" y="2743200"/>
            <a:ext cx="2194560" cy="274320"/>
          </a:xfrm>
          <a:prstGeom prst="rect">
            <a:avLst/>
          </a:prstGeom>
          <a:noFill/>
          <a:ln/>
        </p:spPr>
        <p:txBody>
          <a:bodyPr wrap="square" lIns="0" tIns="0" rIns="0" bIns="0" rtlCol="0" anchor="ctr"/>
          <a:lstStyle/>
          <a:p>
            <a:pPr indent="0" marL="0">
              <a:buNone/>
            </a:pPr>
            <a:r>
              <a:rPr lang="en-US" sz="1100" dirty="0">
                <a:solidFill>
                  <a:schemeClr val="accent6"/>
                </a:solidFill>
                <a:latin typeface="Calibri" pitchFamily="34" charset="0"/>
                <a:ea typeface="Calibri" pitchFamily="34" charset="-122"/>
                <a:cs typeface="Calibri" pitchFamily="34" charset="-120"/>
              </a:rPr>
              <a:t>couches pour l'élève</a:t>
            </a:r>
            <a:endParaRPr lang="en-US" sz="1100" dirty="0"/>
          </a:p>
        </p:txBody>
      </p:sp>
      <p:sp>
        <p:nvSpPr>
          <p:cNvPr id="19" name="Text 17"/>
          <p:cNvSpPr txBox="1"/>
          <p:nvPr/>
        </p:nvSpPr>
        <p:spPr>
          <a:xfrm>
            <a:off x="6217920" y="3063240"/>
            <a:ext cx="2194560" cy="86868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Un élève plus petit imite le modèle fine-tuné : KL + vrai label.</a:t>
            </a:r>
            <a:endParaRPr lang="en-US" sz="1300" dirty="0"/>
          </a:p>
        </p:txBody>
      </p:sp>
      <p:sp>
        <p:nvSpPr>
          <p:cNvPr id="20" name="Text 18"/>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i="1" dirty="0">
                <a:solidFill>
                  <a:schemeClr val="accent5"/>
                </a:solidFill>
                <a:latin typeface="Calibri" pitchFamily="34" charset="0"/>
                <a:ea typeface="Calibri" pitchFamily="34" charset="-122"/>
                <a:cs typeface="Calibri" pitchFamily="34" charset="-120"/>
              </a:rPr>
              <a:t>Chaque méthode en version biaisée et corrigée. Références sans entraînement : zero-shot, few-shot, RAG.</a:t>
            </a:r>
            <a:endParaRPr lang="en-US" sz="1300" dirty="0"/>
          </a:p>
        </p:txBody>
      </p:sp>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486400" cy="274320"/>
          </a:xfrm>
          <a:prstGeom prst="rect">
            <a:avLst/>
          </a:prstGeom>
          <a:noFill/>
          <a:ln/>
        </p:spPr>
        <p:txBody>
          <a:bodyPr wrap="square" lIns="0" tIns="0" rIns="0" bIns="0" rtlCol="0"/>
          <a:lstStyle/>
          <a:p>
            <a:pPr indent="0" marL="0">
              <a:buNone/>
            </a:pPr>
            <a:r>
              <a:rPr lang="en-US" sz="1100" b="1" spc="300" kern="0" dirty="0">
                <a:solidFill>
                  <a:schemeClr val="accent1"/>
                </a:solidFill>
                <a:latin typeface="Calibri" pitchFamily="34" charset="0"/>
                <a:ea typeface="Calibri" pitchFamily="34" charset="-122"/>
                <a:cs typeface="Calibri" pitchFamily="34" charset="-120"/>
              </a:rPr>
              <a:t>06 · BENCHMARK</a:t>
            </a:r>
            <a:endParaRPr lang="en-US" sz="1100" dirty="0"/>
          </a:p>
        </p:txBody>
      </p:sp>
      <p:sp>
        <p:nvSpPr>
          <p:cNvPr id="3" name="Text 0"/>
          <p:cNvSpPr/>
          <p:nvPr>
            <p:ph idx="101" type="title" hasCustomPrompt="1"/>
          </p:nvPr>
        </p:nvSpPr>
        <p:spPr>
          <a:xfrm>
            <a:off x="548640" y="658368"/>
            <a:ext cx="8046720" cy="731520"/>
          </a:xfrm>
          <a:prstGeom prst="rect">
            <a:avLst/>
          </a:prstGeom>
          <a:noFill/>
          <a:ln/>
        </p:spPr>
        <p:txBody>
          <a:bodyPr wrap="square" lIns="0" tIns="0" rIns="0" bIns="0" rtlCol="0" anchor="t"/>
          <a:lstStyle/>
          <a:p>
            <a:pPr algn="l" indent="0" marL="0">
              <a:buNone/>
            </a:pPr>
            <a:r>
              <a:rPr lang="en-US" sz="3600" b="1" dirty="0">
                <a:solidFill>
                  <a:schemeClr val="tx1"/>
                </a:solidFill>
                <a:latin typeface="Arial Narrow" pitchFamily="34" charset="0"/>
                <a:ea typeface="Arial Narrow" pitchFamily="34" charset="-122"/>
                <a:cs typeface="Arial Narrow" pitchFamily="34" charset="-120"/>
              </a:rPr>
              <a:t>PERFORMANCE, ÉQUITÉ, EFFICACITÉ</a:t>
            </a:r>
            <a:endParaRPr lang="en-US" sz="3600" dirty="0"/>
          </a:p>
        </p:txBody>
      </p:sp>
      <p:sp>
        <p:nvSpPr>
          <p:cNvPr id="4" name="Text 0"/>
          <p:cNvSpPr/>
          <p:nvPr>
            <p:ph idx="102" type="body" hasCustomPrompt="1"/>
          </p:nvPr>
        </p:nvSpPr>
        <p:spPr>
          <a:xfrm>
            <a:off x="5943600" y="4754880"/>
            <a:ext cx="2651760" cy="228600"/>
          </a:xfrm>
          <a:prstGeom prst="rect">
            <a:avLst/>
          </a:prstGeom>
          <a:noFill/>
          <a:ln/>
        </p:spPr>
        <p:txBody>
          <a:bodyPr wrap="square" lIns="0" tIns="0" rIns="0" bIns="0" rtlCol="0"/>
          <a:lstStyle/>
          <a:p>
            <a:pPr algn="r" indent="0" marL="0">
              <a:buNone/>
            </a:pPr>
            <a:r>
              <a:rPr lang="en-US" sz="1000" dirty="0">
                <a:solidFill>
                  <a:schemeClr val="accent5"/>
                </a:solidFill>
                <a:latin typeface="Calibri" pitchFamily="34" charset="0"/>
                <a:ea typeface="Calibri" pitchFamily="34" charset="-122"/>
                <a:cs typeface="Calibri" pitchFamily="34" charset="-120"/>
              </a:rPr>
              <a:t>Simon</a:t>
            </a:r>
            <a:endParaRPr lang="en-US" sz="1000" dirty="0"/>
          </a:p>
        </p:txBody>
      </p:sp>
      <p:graphicFrame>
        <p:nvGraphicFramePr>
          <p:cNvPr id="8" name="tableau_benchmark"/>
          <p:cNvGraphicFramePr>
            <a:graphicFrameLocks noGrp="1"/>
          </p:cNvGraphicFramePr>
          <p:nvPr>
            <p:extLst>
              <p:ext uri="{D42A27DB-BD31-4B8C-83A1-F6EECF244321}">
                <p14:modId xmlns:p14="http://schemas.microsoft.com/office/powerpoint/2010/main" val="1579011935"/>
              </p:ext>
            </p:extLst>
          </p:nvPr>
        </p:nvGraphicFramePr>
        <p:xfrm>
          <a:off x="548640" y="1463040"/>
          <a:ext cx="8046720" cy="914400"/>
        </p:xfrm>
        <a:graphic>
          <a:graphicData uri="http://schemas.openxmlformats.org/drawingml/2006/table">
            <a:tbl>
              <a:tblPr/>
              <a:tblGrid>
                <a:gridCol w="2377440"/>
                <a:gridCol w="1280160"/>
                <a:gridCol w="1463040"/>
                <a:gridCol w="1554480"/>
                <a:gridCol w="137160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Méthode (version corrigée)</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1F4A1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F1 vs y_fair</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1F4A1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Disparate impact</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1F4A1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Paramètres entraînés</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1F4A1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Entraînement</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1F4A1A"/>
                    </a:solidFill>
                  </a:tcPr>
                </a:tc>
              </a:tr>
              <a:tr h="384048">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Fine-tuning complet</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EEF3EA"/>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à venir</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EEF3EA"/>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à venir</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EEF3EA"/>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494 M</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EEF3EA"/>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à venir</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EEF3EA"/>
                    </a:solidFill>
                  </a:tcPr>
                </a:tc>
              </a:tr>
              <a:tr h="384048">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LoRA</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FFFFFF"/>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à venir</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FFFFFF"/>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à venir</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FFFFFF"/>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2,2 M</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FFFFFF"/>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à venir</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Distillation</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EEF3EA"/>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à venir</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EEF3EA"/>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à venir</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EEF3EA"/>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 255 M</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EEF3EA"/>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à venir</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EEF3EA"/>
                    </a:solidFill>
                  </a:tcPr>
                </a:tc>
              </a:tr>
              <a:tr h="384048">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Few-shot (référence)</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FFFFFF"/>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à venir</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FFFFFF"/>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à venir</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FFFFFF"/>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FFFFFF"/>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FFFFFF"/>
                    </a:solidFill>
                  </a:tcPr>
                </a:tc>
              </a:tr>
            </a:tbl>
          </a:graphicData>
        </a:graphic>
      </p:graphicFrame>
      <p:sp>
        <p:nvSpPr>
          <p:cNvPr id="6" name="critere"/>
          <p:cNvSpPr/>
          <p:nvPr/>
        </p:nvSpPr>
        <p:spPr>
          <a:xfrm>
            <a:off x="548640" y="3611880"/>
            <a:ext cx="8046720" cy="777240"/>
          </a:xfrm>
          <a:prstGeom prst="roundRect">
            <a:avLst>
              <a:gd name="adj" fmla="val 9412"/>
            </a:avLst>
          </a:prstGeom>
          <a:solidFill>
            <a:srgbClr val="EEF3EA"/>
          </a:solidFill>
          <a:ln/>
        </p:spPr>
      </p:sp>
      <p:sp>
        <p:nvSpPr>
          <p:cNvPr id="7" name="Text 4"/>
          <p:cNvSpPr txBox="1"/>
          <p:nvPr/>
        </p:nvSpPr>
        <p:spPr>
          <a:xfrm>
            <a:off x="731520" y="3703320"/>
            <a:ext cx="7680960" cy="59436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Critère de choix  </a:t>
            </a:r>
            <a:pPr indent="0" marL="0">
              <a:buNone/>
            </a:pPr>
            <a:r>
              <a:rPr lang="en-US" sz="1400" dirty="0">
                <a:solidFill>
                  <a:schemeClr val="tx1"/>
                </a:solidFill>
                <a:latin typeface="Calibri" pitchFamily="34" charset="0"/>
                <a:ea typeface="Calibri" pitchFamily="34" charset="-122"/>
                <a:cs typeface="Calibri" pitchFamily="34" charset="-120"/>
              </a:rPr>
              <a:t>score = F1(y_fair) × min(1, DI / 0,8). À score proche, le modèle le plus léger.</a:t>
            </a:r>
            <a:endParaRPr lang="en-US" sz="1400" dirty="0"/>
          </a:p>
        </p:txBody>
      </p:sp>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486400" cy="274320"/>
          </a:xfrm>
          <a:prstGeom prst="rect">
            <a:avLst/>
          </a:prstGeom>
          <a:noFill/>
          <a:ln/>
        </p:spPr>
        <p:txBody>
          <a:bodyPr wrap="square" lIns="0" tIns="0" rIns="0" bIns="0" rtlCol="0"/>
          <a:lstStyle/>
          <a:p>
            <a:pPr indent="0" marL="0">
              <a:buNone/>
            </a:pPr>
            <a:r>
              <a:rPr lang="en-US" sz="1100" b="1" spc="300" kern="0" dirty="0">
                <a:solidFill>
                  <a:schemeClr val="accent1"/>
                </a:solidFill>
                <a:latin typeface="Calibri" pitchFamily="34" charset="0"/>
                <a:ea typeface="Calibri" pitchFamily="34" charset="-122"/>
                <a:cs typeface="Calibri" pitchFamily="34" charset="-120"/>
              </a:rPr>
              <a:t>07 · EXPLICABILITÉ</a:t>
            </a:r>
            <a:endParaRPr lang="en-US" sz="1100" dirty="0"/>
          </a:p>
        </p:txBody>
      </p:sp>
      <p:sp>
        <p:nvSpPr>
          <p:cNvPr id="3" name="Text 0"/>
          <p:cNvSpPr/>
          <p:nvPr>
            <p:ph idx="101" type="title" hasCustomPrompt="1"/>
          </p:nvPr>
        </p:nvSpPr>
        <p:spPr>
          <a:xfrm>
            <a:off x="548640" y="658368"/>
            <a:ext cx="8046720" cy="731520"/>
          </a:xfrm>
          <a:prstGeom prst="rect">
            <a:avLst/>
          </a:prstGeom>
          <a:noFill/>
          <a:ln/>
        </p:spPr>
        <p:txBody>
          <a:bodyPr wrap="square" lIns="0" tIns="0" rIns="0" bIns="0" rtlCol="0" anchor="t"/>
          <a:lstStyle/>
          <a:p>
            <a:pPr algn="l" indent="0" marL="0">
              <a:buNone/>
            </a:pPr>
            <a:r>
              <a:rPr lang="en-US" sz="3600" b="1" dirty="0">
                <a:solidFill>
                  <a:schemeClr val="tx1"/>
                </a:solidFill>
                <a:latin typeface="Arial Narrow" pitchFamily="34" charset="0"/>
                <a:ea typeface="Arial Narrow" pitchFamily="34" charset="-122"/>
                <a:cs typeface="Arial Narrow" pitchFamily="34" charset="-120"/>
              </a:rPr>
              <a:t>LIME ET SHAP SUR LE LLM</a:t>
            </a:r>
            <a:endParaRPr lang="en-US" sz="3600" dirty="0"/>
          </a:p>
        </p:txBody>
      </p:sp>
      <p:sp>
        <p:nvSpPr>
          <p:cNvPr id="4" name="Text 0"/>
          <p:cNvSpPr/>
          <p:nvPr>
            <p:ph idx="102" type="body" hasCustomPrompt="1"/>
          </p:nvPr>
        </p:nvSpPr>
        <p:spPr>
          <a:xfrm>
            <a:off x="5943600" y="4754880"/>
            <a:ext cx="2651760" cy="228600"/>
          </a:xfrm>
          <a:prstGeom prst="rect">
            <a:avLst/>
          </a:prstGeom>
          <a:noFill/>
          <a:ln/>
        </p:spPr>
        <p:txBody>
          <a:bodyPr wrap="square" lIns="0" tIns="0" rIns="0" bIns="0" rtlCol="0"/>
          <a:lstStyle/>
          <a:p>
            <a:pPr algn="r" indent="0" marL="0">
              <a:buNone/>
            </a:pPr>
            <a:r>
              <a:rPr lang="en-US" sz="1000" dirty="0">
                <a:solidFill>
                  <a:schemeClr val="accent5"/>
                </a:solidFill>
                <a:latin typeface="Calibri" pitchFamily="34" charset="0"/>
                <a:ea typeface="Calibri" pitchFamily="34" charset="-122"/>
                <a:cs typeface="Calibri" pitchFamily="34" charset="-120"/>
              </a:rPr>
              <a:t>Simon</a:t>
            </a:r>
            <a:endParaRPr lang="en-US" sz="1000" dirty="0"/>
          </a:p>
        </p:txBody>
      </p:sp>
      <p:sp>
        <p:nvSpPr>
          <p:cNvPr id="5" name="xai_0"/>
          <p:cNvSpPr/>
          <p:nvPr/>
        </p:nvSpPr>
        <p:spPr>
          <a:xfrm>
            <a:off x="548640" y="1463040"/>
            <a:ext cx="3931920" cy="1325880"/>
          </a:xfrm>
          <a:prstGeom prst="roundRect">
            <a:avLst>
              <a:gd name="adj" fmla="val 5517"/>
            </a:avLst>
          </a:prstGeom>
          <a:solidFill>
            <a:srgbClr val="EEF3EA"/>
          </a:solidFill>
          <a:ln/>
        </p:spPr>
      </p:sp>
      <p:sp>
        <p:nvSpPr>
          <p:cNvPr id="6" name="Text 4"/>
          <p:cNvSpPr txBox="1"/>
          <p:nvPr/>
        </p:nvSpPr>
        <p:spPr>
          <a:xfrm>
            <a:off x="731520" y="1554480"/>
            <a:ext cx="1280160" cy="548640"/>
          </a:xfrm>
          <a:prstGeom prst="rect">
            <a:avLst/>
          </a:prstGeom>
          <a:noFill/>
          <a:ln/>
        </p:spPr>
        <p:txBody>
          <a:bodyPr wrap="square" lIns="0" tIns="0" rIns="0" bIns="0" rtlCol="0" anchor="ctr"/>
          <a:lstStyle/>
          <a:p>
            <a:pPr indent="0" marL="0">
              <a:buNone/>
            </a:pPr>
            <a:r>
              <a:rPr lang="en-US" sz="3000" b="1" dirty="0">
                <a:solidFill>
                  <a:schemeClr val="accent1"/>
                </a:solidFill>
                <a:latin typeface="Arial Narrow" pitchFamily="34" charset="0"/>
                <a:ea typeface="Arial Narrow" pitchFamily="34" charset="-122"/>
                <a:cs typeface="Arial Narrow" pitchFamily="34" charset="-120"/>
              </a:rPr>
              <a:t>LIME</a:t>
            </a:r>
            <a:endParaRPr lang="en-US" sz="3000" dirty="0"/>
          </a:p>
        </p:txBody>
      </p:sp>
      <p:sp>
        <p:nvSpPr>
          <p:cNvPr id="7" name="Text 5"/>
          <p:cNvSpPr txBox="1"/>
          <p:nvPr/>
        </p:nvSpPr>
        <p:spPr>
          <a:xfrm>
            <a:off x="2011680" y="1600200"/>
            <a:ext cx="2331720" cy="50292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Quelles variables portent cette décision ?</a:t>
            </a:r>
            <a:endParaRPr lang="en-US" sz="1400" dirty="0"/>
          </a:p>
        </p:txBody>
      </p:sp>
      <p:sp>
        <p:nvSpPr>
          <p:cNvPr id="8" name="Text 6"/>
          <p:cNvSpPr txBox="1"/>
          <p:nvPr/>
        </p:nvSpPr>
        <p:spPr>
          <a:xfrm>
            <a:off x="731520" y="2148840"/>
            <a:ext cx="356616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Perturbe le profil, refait le prompt, ajuste un modèle linéaire local.</a:t>
            </a:r>
            <a:endParaRPr lang="en-US" sz="1300" dirty="0"/>
          </a:p>
        </p:txBody>
      </p:sp>
      <p:sp>
        <p:nvSpPr>
          <p:cNvPr id="9" name="xai_1"/>
          <p:cNvSpPr/>
          <p:nvPr/>
        </p:nvSpPr>
        <p:spPr>
          <a:xfrm>
            <a:off x="4663440" y="1463040"/>
            <a:ext cx="3931920" cy="1325880"/>
          </a:xfrm>
          <a:prstGeom prst="roundRect">
            <a:avLst>
              <a:gd name="adj" fmla="val 5517"/>
            </a:avLst>
          </a:prstGeom>
          <a:solidFill>
            <a:srgbClr val="EEF3EA"/>
          </a:solidFill>
          <a:ln/>
        </p:spPr>
      </p:sp>
      <p:sp>
        <p:nvSpPr>
          <p:cNvPr id="10" name="Text 8"/>
          <p:cNvSpPr txBox="1"/>
          <p:nvPr/>
        </p:nvSpPr>
        <p:spPr>
          <a:xfrm>
            <a:off x="4846320" y="1554480"/>
            <a:ext cx="1280160" cy="548640"/>
          </a:xfrm>
          <a:prstGeom prst="rect">
            <a:avLst/>
          </a:prstGeom>
          <a:noFill/>
          <a:ln/>
        </p:spPr>
        <p:txBody>
          <a:bodyPr wrap="square" lIns="0" tIns="0" rIns="0" bIns="0" rtlCol="0" anchor="ctr"/>
          <a:lstStyle/>
          <a:p>
            <a:pPr indent="0" marL="0">
              <a:buNone/>
            </a:pPr>
            <a:r>
              <a:rPr lang="en-US" sz="3000" b="1" dirty="0">
                <a:solidFill>
                  <a:schemeClr val="accent1"/>
                </a:solidFill>
                <a:latin typeface="Arial Narrow" pitchFamily="34" charset="0"/>
                <a:ea typeface="Arial Narrow" pitchFamily="34" charset="-122"/>
                <a:cs typeface="Arial Narrow" pitchFamily="34" charset="-120"/>
              </a:rPr>
              <a:t>SHAP</a:t>
            </a:r>
            <a:endParaRPr lang="en-US" sz="3000" dirty="0"/>
          </a:p>
        </p:txBody>
      </p:sp>
      <p:sp>
        <p:nvSpPr>
          <p:cNvPr id="11" name="Text 9"/>
          <p:cNvSpPr txBox="1"/>
          <p:nvPr/>
        </p:nvSpPr>
        <p:spPr>
          <a:xfrm>
            <a:off x="6126480" y="1600200"/>
            <a:ext cx="2331720" cy="50292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Combien chaque variable pèse-t-elle ?</a:t>
            </a:r>
            <a:endParaRPr lang="en-US" sz="1400" dirty="0"/>
          </a:p>
        </p:txBody>
      </p:sp>
      <p:sp>
        <p:nvSpPr>
          <p:cNvPr id="12" name="Text 10"/>
          <p:cNvSpPr txBox="1"/>
          <p:nvPr/>
        </p:nvSpPr>
        <p:spPr>
          <a:xfrm>
            <a:off x="4846320" y="2148840"/>
            <a:ext cx="356616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Valeurs de Shapley : contribution de chaque variable par rapport à la moyenne.</a:t>
            </a:r>
            <a:endParaRPr lang="en-US" sz="1300" dirty="0"/>
          </a:p>
        </p:txBody>
      </p:sp>
      <p:sp>
        <p:nvSpPr>
          <p:cNvPr id="13" name="emplacement_figure_shap"/>
          <p:cNvSpPr/>
          <p:nvPr/>
        </p:nvSpPr>
        <p:spPr>
          <a:xfrm>
            <a:off x="548640" y="2971800"/>
            <a:ext cx="8046720" cy="1508760"/>
          </a:xfrm>
          <a:prstGeom prst="rect">
            <a:avLst/>
          </a:prstGeom>
          <a:solidFill>
            <a:srgbClr val="FFFFFF"/>
          </a:solidFill>
          <a:ln w="12700">
            <a:solidFill>
              <a:srgbClr val="D8E2D2"/>
            </a:solidFill>
            <a:prstDash val="dash"/>
          </a:ln>
        </p:spPr>
      </p:sp>
      <p:sp>
        <p:nvSpPr>
          <p:cNvPr id="14" name="Text 12"/>
          <p:cNvSpPr txBox="1"/>
          <p:nvPr/>
        </p:nvSpPr>
        <p:spPr>
          <a:xfrm>
            <a:off x="731520" y="3017520"/>
            <a:ext cx="7680960" cy="1417320"/>
          </a:xfrm>
          <a:prstGeom prst="rect">
            <a:avLst/>
          </a:prstGeom>
          <a:noFill/>
          <a:ln/>
        </p:spPr>
        <p:txBody>
          <a:bodyPr wrap="square" lIns="0" tIns="0" rIns="0" bIns="0" rtlCol="0" anchor="ctr"/>
          <a:lstStyle/>
          <a:p>
            <a:pPr algn="ctr" indent="0" marL="0">
              <a:buNone/>
            </a:pPr>
            <a:r>
              <a:rPr lang="en-US" sz="1300" dirty="0">
                <a:solidFill>
                  <a:schemeClr val="accent5"/>
                </a:solidFill>
                <a:latin typeface="Calibri" pitchFamily="34" charset="0"/>
                <a:ea typeface="Calibri" pitchFamily="34" charset="-122"/>
                <a:cs typeface="Calibri" pitchFamily="34" charset="-120"/>
              </a:rPr>
              <a:t>Emplacement figure : SHAP waterfall avant / après correction (notebook, section 5.2)</a:t>
            </a:r>
            <a:endParaRPr lang="en-US" sz="1300" dirty="0"/>
          </a:p>
        </p:txBody>
      </p:sp>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8"/>
          <p:cNvSpPr/>
          <p:nvPr>
            <p:ph idx="108" type="body" hasCustomPrompt="1"/>
          </p:nvPr>
        </p:nvSpPr>
        <p:spPr>
          <a:xfrm>
            <a:off x="548640" y="411480"/>
            <a:ext cx="5486400" cy="274320"/>
          </a:xfrm>
          <a:prstGeom prst="rect">
            <a:avLst/>
          </a:prstGeom>
          <a:noFill/>
          <a:ln/>
        </p:spPr>
        <p:txBody>
          <a:bodyPr wrap="square" lIns="0" tIns="0" rIns="0" bIns="0" rtlCol="0"/>
          <a:lstStyle/>
          <a:p>
            <a:pPr indent="0" marL="0">
              <a:buNone/>
            </a:pPr>
            <a:r>
              <a:rPr lang="en-US" sz="1100" b="1" spc="300" kern="0" dirty="0">
                <a:solidFill>
                  <a:schemeClr val="accent6"/>
                </a:solidFill>
                <a:latin typeface="Calibri" pitchFamily="34" charset="0"/>
                <a:ea typeface="Calibri" pitchFamily="34" charset="-122"/>
                <a:cs typeface="Calibri" pitchFamily="34" charset="-120"/>
              </a:rPr>
              <a:t>08 · DÉMO FINALE</a:t>
            </a:r>
            <a:endParaRPr lang="en-US" sz="1100" dirty="0"/>
          </a:p>
        </p:txBody>
      </p:sp>
      <p:sp>
        <p:nvSpPr>
          <p:cNvPr id="3" name="Text 8"/>
          <p:cNvSpPr/>
          <p:nvPr>
            <p:ph idx="109" type="title" hasCustomPrompt="1"/>
          </p:nvPr>
        </p:nvSpPr>
        <p:spPr>
          <a:xfrm>
            <a:off x="548640" y="658368"/>
            <a:ext cx="8046720" cy="731520"/>
          </a:xfrm>
          <a:prstGeom prst="rect">
            <a:avLst/>
          </a:prstGeom>
          <a:noFill/>
          <a:ln/>
        </p:spPr>
        <p:txBody>
          <a:bodyPr wrap="square" lIns="0" tIns="0" rIns="0" bIns="0" rtlCol="0" anchor="t"/>
          <a:lstStyle/>
          <a:p>
            <a:pPr algn="l" indent="0" marL="0">
              <a:buNone/>
            </a:pPr>
            <a:r>
              <a:rPr lang="en-US" sz="3600" b="1" dirty="0">
                <a:solidFill>
                  <a:schemeClr val="bg1"/>
                </a:solidFill>
                <a:latin typeface="Arial Narrow" pitchFamily="34" charset="0"/>
                <a:ea typeface="Arial Narrow" pitchFamily="34" charset="-122"/>
                <a:cs typeface="Arial Narrow" pitchFamily="34" charset="-120"/>
              </a:rPr>
              <a:t>GERVINHO CONTRE HIGUAÍN</a:t>
            </a:r>
            <a:endParaRPr lang="en-US" sz="3600" dirty="0"/>
          </a:p>
        </p:txBody>
      </p:sp>
      <p:sp>
        <p:nvSpPr>
          <p:cNvPr id="4" name="Text 8"/>
          <p:cNvSpPr/>
          <p:nvPr>
            <p:ph idx="110" type="body" hasCustomPrompt="1"/>
          </p:nvPr>
        </p:nvSpPr>
        <p:spPr>
          <a:xfrm>
            <a:off x="5943600" y="4754880"/>
            <a:ext cx="2651760" cy="228600"/>
          </a:xfrm>
          <a:prstGeom prst="rect">
            <a:avLst/>
          </a:prstGeom>
          <a:noFill/>
          <a:ln/>
        </p:spPr>
        <p:txBody>
          <a:bodyPr wrap="square" lIns="0" tIns="0" rIns="0" bIns="0" rtlCol="0"/>
          <a:lstStyle/>
          <a:p>
            <a:pPr algn="r" indent="0" marL="0">
              <a:buNone/>
            </a:pPr>
            <a:r>
              <a:rPr lang="en-US" sz="1000" dirty="0">
                <a:solidFill>
                  <a:schemeClr val="accent6"/>
                </a:solidFill>
                <a:latin typeface="Calibri" pitchFamily="34" charset="0"/>
                <a:ea typeface="Calibri" pitchFamily="34" charset="-122"/>
                <a:cs typeface="Calibri" pitchFamily="34" charset="-120"/>
              </a:rPr>
              <a:t>Mathis</a:t>
            </a:r>
            <a:endParaRPr lang="en-US" sz="1000" dirty="0"/>
          </a:p>
        </p:txBody>
      </p:sp>
      <p:sp>
        <p:nvSpPr>
          <p:cNvPr id="5" name="Text 3"/>
          <p:cNvSpPr txBox="1"/>
          <p:nvPr/>
        </p:nvSpPr>
        <p:spPr>
          <a:xfrm>
            <a:off x="548640" y="1417320"/>
            <a:ext cx="8046720" cy="365760"/>
          </a:xfrm>
          <a:prstGeom prst="rect">
            <a:avLst/>
          </a:prstGeom>
          <a:noFill/>
          <a:ln/>
        </p:spPr>
        <p:txBody>
          <a:bodyPr wrap="square" lIns="0" tIns="0" rIns="0" bIns="0" rtlCol="0" anchor="ctr"/>
          <a:lstStyle/>
          <a:p>
            <a:pPr indent="0" marL="0">
              <a:buNone/>
            </a:pPr>
            <a:r>
              <a:rPr lang="en-US" sz="1600" dirty="0">
                <a:solidFill>
                  <a:schemeClr val="accent6"/>
                </a:solidFill>
                <a:latin typeface="Calibri" pitchFamily="34" charset="0"/>
                <a:ea typeface="Calibri" pitchFamily="34" charset="-122"/>
                <a:cs typeface="Calibri" pitchFamily="34" charset="-120"/>
              </a:rPr>
              <a:t>Serie A 2019/20 · 6 buts · 4 passes chacun · probabilité d'entrer dans la short-list</a:t>
            </a:r>
            <a:endParaRPr lang="en-US" sz="1600" dirty="0"/>
          </a:p>
        </p:txBody>
      </p:sp>
      <p:sp>
        <p:nvSpPr>
          <p:cNvPr id="6" name="demo_0"/>
          <p:cNvSpPr/>
          <p:nvPr/>
        </p:nvSpPr>
        <p:spPr>
          <a:xfrm>
            <a:off x="548640" y="1920240"/>
            <a:ext cx="3931920" cy="2514600"/>
          </a:xfrm>
          <a:prstGeom prst="roundRect">
            <a:avLst>
              <a:gd name="adj" fmla="val 2909"/>
            </a:avLst>
          </a:prstGeom>
          <a:solidFill>
            <a:srgbClr val="0F2A0C"/>
          </a:solidFill>
          <a:ln/>
        </p:spPr>
      </p:sp>
      <p:sp>
        <p:nvSpPr>
          <p:cNvPr id="7" name="Text 5"/>
          <p:cNvSpPr txBox="1"/>
          <p:nvPr/>
        </p:nvSpPr>
        <p:spPr>
          <a:xfrm>
            <a:off x="777240" y="2029968"/>
            <a:ext cx="3474720" cy="457200"/>
          </a:xfrm>
          <a:prstGeom prst="rect">
            <a:avLst/>
          </a:prstGeom>
          <a:noFill/>
          <a:ln/>
        </p:spPr>
        <p:txBody>
          <a:bodyPr wrap="square" lIns="0" tIns="0" rIns="0" bIns="0" rtlCol="0" anchor="ctr"/>
          <a:lstStyle/>
          <a:p>
            <a:pPr indent="0" marL="0">
              <a:buNone/>
            </a:pPr>
            <a:r>
              <a:rPr lang="en-US" sz="2800" b="1" dirty="0">
                <a:solidFill>
                  <a:schemeClr val="bg1"/>
                </a:solidFill>
                <a:latin typeface="Arial Narrow" pitchFamily="34" charset="0"/>
                <a:ea typeface="Arial Narrow" pitchFamily="34" charset="-122"/>
                <a:cs typeface="Arial Narrow" pitchFamily="34" charset="-120"/>
              </a:rPr>
              <a:t>GERVINHO</a:t>
            </a:r>
            <a:endParaRPr lang="en-US" sz="2800" dirty="0"/>
          </a:p>
        </p:txBody>
      </p:sp>
      <p:sp>
        <p:nvSpPr>
          <p:cNvPr id="8" name="Text 6"/>
          <p:cNvSpPr txBox="1"/>
          <p:nvPr/>
        </p:nvSpPr>
        <p:spPr>
          <a:xfrm>
            <a:off x="777240" y="2487168"/>
            <a:ext cx="3474720" cy="274320"/>
          </a:xfrm>
          <a:prstGeom prst="rect">
            <a:avLst/>
          </a:prstGeom>
          <a:noFill/>
          <a:ln/>
        </p:spPr>
        <p:txBody>
          <a:bodyPr wrap="square" lIns="0" tIns="0" rIns="0" bIns="0" rtlCol="0" anchor="ctr"/>
          <a:lstStyle/>
          <a:p>
            <a:pPr indent="0" marL="0">
              <a:buNone/>
            </a:pPr>
            <a:r>
              <a:rPr lang="en-US" sz="1200" dirty="0">
                <a:solidFill>
                  <a:schemeClr val="accent6"/>
                </a:solidFill>
                <a:latin typeface="Calibri" pitchFamily="34" charset="0"/>
                <a:ea typeface="Calibri" pitchFamily="34" charset="-122"/>
                <a:cs typeface="Calibri" pitchFamily="34" charset="-120"/>
              </a:rPr>
              <a:t>Côte d'Ivoire · Parme</a:t>
            </a:r>
            <a:endParaRPr lang="en-US" sz="1200" dirty="0"/>
          </a:p>
        </p:txBody>
      </p:sp>
      <p:sp>
        <p:nvSpPr>
          <p:cNvPr id="9" name="Text 7"/>
          <p:cNvSpPr txBox="1"/>
          <p:nvPr/>
        </p:nvSpPr>
        <p:spPr>
          <a:xfrm>
            <a:off x="777240" y="2880360"/>
            <a:ext cx="2377440" cy="320040"/>
          </a:xfrm>
          <a:prstGeom prst="rect">
            <a:avLst/>
          </a:prstGeom>
          <a:noFill/>
          <a:ln/>
        </p:spPr>
        <p:txBody>
          <a:bodyPr wrap="square" lIns="0" tIns="0" rIns="0" bIns="0" rtlCol="0" anchor="ctr"/>
          <a:lstStyle/>
          <a:p>
            <a:pPr indent="0" marL="0">
              <a:buNone/>
            </a:pPr>
            <a:r>
              <a:rPr lang="en-US" sz="1300" dirty="0">
                <a:solidFill>
                  <a:schemeClr val="bg2"/>
                </a:solidFill>
                <a:latin typeface="Calibri" pitchFamily="34" charset="0"/>
                <a:ea typeface="Calibri" pitchFamily="34" charset="-122"/>
                <a:cs typeface="Calibri" pitchFamily="34" charset="-120"/>
              </a:rPr>
              <a:t>Modèle biaisé</a:t>
            </a:r>
            <a:endParaRPr lang="en-US" sz="1300" dirty="0"/>
          </a:p>
        </p:txBody>
      </p:sp>
      <p:sp>
        <p:nvSpPr>
          <p:cNvPr id="10" name="Text 8"/>
          <p:cNvSpPr txBox="1"/>
          <p:nvPr/>
        </p:nvSpPr>
        <p:spPr>
          <a:xfrm>
            <a:off x="3154680" y="2880360"/>
            <a:ext cx="1097280" cy="320040"/>
          </a:xfrm>
          <a:prstGeom prst="rect">
            <a:avLst/>
          </a:prstGeom>
          <a:noFill/>
          <a:ln/>
        </p:spPr>
        <p:txBody>
          <a:bodyPr wrap="square" lIns="0" tIns="0" rIns="0" bIns="0" rtlCol="0" anchor="ctr"/>
          <a:lstStyle/>
          <a:p>
            <a:pPr algn="r" indent="0" marL="0">
              <a:buNone/>
            </a:pPr>
            <a:r>
              <a:rPr lang="en-US" sz="2000" b="1" dirty="0">
                <a:solidFill>
                  <a:schemeClr val="accent3"/>
                </a:solidFill>
                <a:latin typeface="Arial Narrow" pitchFamily="34" charset="0"/>
                <a:ea typeface="Arial Narrow" pitchFamily="34" charset="-122"/>
                <a:cs typeface="Arial Narrow" pitchFamily="34" charset="-120"/>
              </a:rPr>
              <a:t>à venir</a:t>
            </a:r>
            <a:endParaRPr lang="en-US" sz="2000" dirty="0"/>
          </a:p>
        </p:txBody>
      </p:sp>
      <p:sp>
        <p:nvSpPr>
          <p:cNvPr id="11" name="Text 9"/>
          <p:cNvSpPr txBox="1"/>
          <p:nvPr/>
        </p:nvSpPr>
        <p:spPr>
          <a:xfrm>
            <a:off x="777240" y="3291840"/>
            <a:ext cx="2377440" cy="320040"/>
          </a:xfrm>
          <a:prstGeom prst="rect">
            <a:avLst/>
          </a:prstGeom>
          <a:noFill/>
          <a:ln/>
        </p:spPr>
        <p:txBody>
          <a:bodyPr wrap="square" lIns="0" tIns="0" rIns="0" bIns="0" rtlCol="0" anchor="ctr"/>
          <a:lstStyle/>
          <a:p>
            <a:pPr indent="0" marL="0">
              <a:buNone/>
            </a:pPr>
            <a:r>
              <a:rPr lang="en-US" sz="1300" dirty="0">
                <a:solidFill>
                  <a:schemeClr val="bg2"/>
                </a:solidFill>
                <a:latin typeface="Calibri" pitchFamily="34" charset="0"/>
                <a:ea typeface="Calibri" pitchFamily="34" charset="-122"/>
                <a:cs typeface="Calibri" pitchFamily="34" charset="-120"/>
              </a:rPr>
              <a:t>Modèle corrigé</a:t>
            </a:r>
            <a:endParaRPr lang="en-US" sz="1300" dirty="0"/>
          </a:p>
        </p:txBody>
      </p:sp>
      <p:sp>
        <p:nvSpPr>
          <p:cNvPr id="12" name="Text 10"/>
          <p:cNvSpPr txBox="1"/>
          <p:nvPr/>
        </p:nvSpPr>
        <p:spPr>
          <a:xfrm>
            <a:off x="3154680" y="3291840"/>
            <a:ext cx="1097280" cy="320040"/>
          </a:xfrm>
          <a:prstGeom prst="rect">
            <a:avLst/>
          </a:prstGeom>
          <a:noFill/>
          <a:ln/>
        </p:spPr>
        <p:txBody>
          <a:bodyPr wrap="square" lIns="0" tIns="0" rIns="0" bIns="0" rtlCol="0" anchor="ctr"/>
          <a:lstStyle/>
          <a:p>
            <a:pPr algn="r" indent="0" marL="0">
              <a:buNone/>
            </a:pPr>
            <a:r>
              <a:rPr lang="en-US" sz="2000" b="1" dirty="0">
                <a:solidFill>
                  <a:schemeClr val="bg1"/>
                </a:solidFill>
                <a:latin typeface="Arial Narrow" pitchFamily="34" charset="0"/>
                <a:ea typeface="Arial Narrow" pitchFamily="34" charset="-122"/>
                <a:cs typeface="Arial Narrow" pitchFamily="34" charset="-120"/>
              </a:rPr>
              <a:t>à venir</a:t>
            </a:r>
            <a:endParaRPr lang="en-US" sz="2000" dirty="0"/>
          </a:p>
        </p:txBody>
      </p:sp>
      <p:sp>
        <p:nvSpPr>
          <p:cNvPr id="13" name="Text 11"/>
          <p:cNvSpPr txBox="1"/>
          <p:nvPr/>
        </p:nvSpPr>
        <p:spPr>
          <a:xfrm>
            <a:off x="777240" y="3822192"/>
            <a:ext cx="3474720" cy="457200"/>
          </a:xfrm>
          <a:prstGeom prst="rect">
            <a:avLst/>
          </a:prstGeom>
          <a:noFill/>
          <a:ln/>
        </p:spPr>
        <p:txBody>
          <a:bodyPr wrap="square" lIns="0" tIns="0" rIns="0" bIns="0" rtlCol="0" anchor="ctr"/>
          <a:lstStyle/>
          <a:p>
            <a:pPr indent="0" marL="0">
              <a:buNone/>
            </a:pPr>
            <a:r>
              <a:rPr lang="en-US" sz="1200" dirty="0">
                <a:solidFill>
                  <a:schemeClr val="accent6"/>
                </a:solidFill>
                <a:latin typeface="Calibri" pitchFamily="34" charset="0"/>
                <a:ea typeface="Calibri" pitchFamily="34" charset="-122"/>
                <a:cs typeface="Calibri" pitchFamily="34" charset="-120"/>
              </a:rPr>
              <a:t>Avec la nationalité argentine (biaisé) : </a:t>
            </a:r>
            <a:pPr indent="0" marL="0">
              <a:buNone/>
            </a:pPr>
            <a:r>
              <a:rPr lang="en-US" sz="1200" b="1" dirty="0">
                <a:solidFill>
                  <a:schemeClr val="accent3"/>
                </a:solidFill>
                <a:latin typeface="Calibri" pitchFamily="34" charset="0"/>
                <a:ea typeface="Calibri" pitchFamily="34" charset="-122"/>
                <a:cs typeface="Calibri" pitchFamily="34" charset="-120"/>
              </a:rPr>
              <a:t>à venir</a:t>
            </a:r>
            <a:endParaRPr lang="en-US" sz="1200" dirty="0"/>
          </a:p>
        </p:txBody>
      </p:sp>
      <p:sp>
        <p:nvSpPr>
          <p:cNvPr id="14" name="demo_1"/>
          <p:cNvSpPr/>
          <p:nvPr/>
        </p:nvSpPr>
        <p:spPr>
          <a:xfrm>
            <a:off x="4663440" y="1920240"/>
            <a:ext cx="3931920" cy="2514600"/>
          </a:xfrm>
          <a:prstGeom prst="roundRect">
            <a:avLst>
              <a:gd name="adj" fmla="val 2909"/>
            </a:avLst>
          </a:prstGeom>
          <a:solidFill>
            <a:srgbClr val="0F2A0C"/>
          </a:solidFill>
          <a:ln/>
        </p:spPr>
      </p:sp>
      <p:sp>
        <p:nvSpPr>
          <p:cNvPr id="15" name="Text 13"/>
          <p:cNvSpPr txBox="1"/>
          <p:nvPr/>
        </p:nvSpPr>
        <p:spPr>
          <a:xfrm>
            <a:off x="4892040" y="2029968"/>
            <a:ext cx="3474720" cy="457200"/>
          </a:xfrm>
          <a:prstGeom prst="rect">
            <a:avLst/>
          </a:prstGeom>
          <a:noFill/>
          <a:ln/>
        </p:spPr>
        <p:txBody>
          <a:bodyPr wrap="square" lIns="0" tIns="0" rIns="0" bIns="0" rtlCol="0" anchor="ctr"/>
          <a:lstStyle/>
          <a:p>
            <a:pPr indent="0" marL="0">
              <a:buNone/>
            </a:pPr>
            <a:r>
              <a:rPr lang="en-US" sz="2800" b="1" dirty="0">
                <a:solidFill>
                  <a:schemeClr val="bg1"/>
                </a:solidFill>
                <a:latin typeface="Arial Narrow" pitchFamily="34" charset="0"/>
                <a:ea typeface="Arial Narrow" pitchFamily="34" charset="-122"/>
                <a:cs typeface="Arial Narrow" pitchFamily="34" charset="-120"/>
              </a:rPr>
              <a:t>HIGUAÍN</a:t>
            </a:r>
            <a:endParaRPr lang="en-US" sz="2800" dirty="0"/>
          </a:p>
        </p:txBody>
      </p:sp>
      <p:sp>
        <p:nvSpPr>
          <p:cNvPr id="16" name="Text 14"/>
          <p:cNvSpPr txBox="1"/>
          <p:nvPr/>
        </p:nvSpPr>
        <p:spPr>
          <a:xfrm>
            <a:off x="4892040" y="2487168"/>
            <a:ext cx="3474720" cy="274320"/>
          </a:xfrm>
          <a:prstGeom prst="rect">
            <a:avLst/>
          </a:prstGeom>
          <a:noFill/>
          <a:ln/>
        </p:spPr>
        <p:txBody>
          <a:bodyPr wrap="square" lIns="0" tIns="0" rIns="0" bIns="0" rtlCol="0" anchor="ctr"/>
          <a:lstStyle/>
          <a:p>
            <a:pPr indent="0" marL="0">
              <a:buNone/>
            </a:pPr>
            <a:r>
              <a:rPr lang="en-US" sz="1200" dirty="0">
                <a:solidFill>
                  <a:schemeClr val="accent6"/>
                </a:solidFill>
                <a:latin typeface="Calibri" pitchFamily="34" charset="0"/>
                <a:ea typeface="Calibri" pitchFamily="34" charset="-122"/>
                <a:cs typeface="Calibri" pitchFamily="34" charset="-120"/>
              </a:rPr>
              <a:t>Argentine · Juventus</a:t>
            </a:r>
            <a:endParaRPr lang="en-US" sz="1200" dirty="0"/>
          </a:p>
        </p:txBody>
      </p:sp>
      <p:sp>
        <p:nvSpPr>
          <p:cNvPr id="17" name="Text 15"/>
          <p:cNvSpPr txBox="1"/>
          <p:nvPr/>
        </p:nvSpPr>
        <p:spPr>
          <a:xfrm>
            <a:off x="4892040" y="2880360"/>
            <a:ext cx="2377440" cy="320040"/>
          </a:xfrm>
          <a:prstGeom prst="rect">
            <a:avLst/>
          </a:prstGeom>
          <a:noFill/>
          <a:ln/>
        </p:spPr>
        <p:txBody>
          <a:bodyPr wrap="square" lIns="0" tIns="0" rIns="0" bIns="0" rtlCol="0" anchor="ctr"/>
          <a:lstStyle/>
          <a:p>
            <a:pPr indent="0" marL="0">
              <a:buNone/>
            </a:pPr>
            <a:r>
              <a:rPr lang="en-US" sz="1300" dirty="0">
                <a:solidFill>
                  <a:schemeClr val="bg2"/>
                </a:solidFill>
                <a:latin typeface="Calibri" pitchFamily="34" charset="0"/>
                <a:ea typeface="Calibri" pitchFamily="34" charset="-122"/>
                <a:cs typeface="Calibri" pitchFamily="34" charset="-120"/>
              </a:rPr>
              <a:t>Modèle biaisé</a:t>
            </a:r>
            <a:endParaRPr lang="en-US" sz="1300" dirty="0"/>
          </a:p>
        </p:txBody>
      </p:sp>
      <p:sp>
        <p:nvSpPr>
          <p:cNvPr id="18" name="Text 16"/>
          <p:cNvSpPr txBox="1"/>
          <p:nvPr/>
        </p:nvSpPr>
        <p:spPr>
          <a:xfrm>
            <a:off x="7269480" y="2880360"/>
            <a:ext cx="1097280" cy="320040"/>
          </a:xfrm>
          <a:prstGeom prst="rect">
            <a:avLst/>
          </a:prstGeom>
          <a:noFill/>
          <a:ln/>
        </p:spPr>
        <p:txBody>
          <a:bodyPr wrap="square" lIns="0" tIns="0" rIns="0" bIns="0" rtlCol="0" anchor="ctr"/>
          <a:lstStyle/>
          <a:p>
            <a:pPr algn="r" indent="0" marL="0">
              <a:buNone/>
            </a:pPr>
            <a:r>
              <a:rPr lang="en-US" sz="2000" b="1" dirty="0">
                <a:solidFill>
                  <a:schemeClr val="accent3"/>
                </a:solidFill>
                <a:latin typeface="Arial Narrow" pitchFamily="34" charset="0"/>
                <a:ea typeface="Arial Narrow" pitchFamily="34" charset="-122"/>
                <a:cs typeface="Arial Narrow" pitchFamily="34" charset="-120"/>
              </a:rPr>
              <a:t>à venir</a:t>
            </a:r>
            <a:endParaRPr lang="en-US" sz="2000" dirty="0"/>
          </a:p>
        </p:txBody>
      </p:sp>
      <p:sp>
        <p:nvSpPr>
          <p:cNvPr id="19" name="Text 17"/>
          <p:cNvSpPr txBox="1"/>
          <p:nvPr/>
        </p:nvSpPr>
        <p:spPr>
          <a:xfrm>
            <a:off x="4892040" y="3291840"/>
            <a:ext cx="2377440" cy="320040"/>
          </a:xfrm>
          <a:prstGeom prst="rect">
            <a:avLst/>
          </a:prstGeom>
          <a:noFill/>
          <a:ln/>
        </p:spPr>
        <p:txBody>
          <a:bodyPr wrap="square" lIns="0" tIns="0" rIns="0" bIns="0" rtlCol="0" anchor="ctr"/>
          <a:lstStyle/>
          <a:p>
            <a:pPr indent="0" marL="0">
              <a:buNone/>
            </a:pPr>
            <a:r>
              <a:rPr lang="en-US" sz="1300" dirty="0">
                <a:solidFill>
                  <a:schemeClr val="bg2"/>
                </a:solidFill>
                <a:latin typeface="Calibri" pitchFamily="34" charset="0"/>
                <a:ea typeface="Calibri" pitchFamily="34" charset="-122"/>
                <a:cs typeface="Calibri" pitchFamily="34" charset="-120"/>
              </a:rPr>
              <a:t>Modèle corrigé</a:t>
            </a:r>
            <a:endParaRPr lang="en-US" sz="1300" dirty="0"/>
          </a:p>
        </p:txBody>
      </p:sp>
      <p:sp>
        <p:nvSpPr>
          <p:cNvPr id="20" name="Text 18"/>
          <p:cNvSpPr txBox="1"/>
          <p:nvPr/>
        </p:nvSpPr>
        <p:spPr>
          <a:xfrm>
            <a:off x="7269480" y="3291840"/>
            <a:ext cx="1097280" cy="320040"/>
          </a:xfrm>
          <a:prstGeom prst="rect">
            <a:avLst/>
          </a:prstGeom>
          <a:noFill/>
          <a:ln/>
        </p:spPr>
        <p:txBody>
          <a:bodyPr wrap="square" lIns="0" tIns="0" rIns="0" bIns="0" rtlCol="0" anchor="ctr"/>
          <a:lstStyle/>
          <a:p>
            <a:pPr algn="r" indent="0" marL="0">
              <a:buNone/>
            </a:pPr>
            <a:r>
              <a:rPr lang="en-US" sz="2000" b="1" dirty="0">
                <a:solidFill>
                  <a:schemeClr val="bg1"/>
                </a:solidFill>
                <a:latin typeface="Arial Narrow" pitchFamily="34" charset="0"/>
                <a:ea typeface="Arial Narrow" pitchFamily="34" charset="-122"/>
                <a:cs typeface="Arial Narrow" pitchFamily="34" charset="-120"/>
              </a:rPr>
              <a:t>à venir</a:t>
            </a:r>
            <a:endParaRPr lang="en-US" sz="2000" dirty="0"/>
          </a:p>
        </p:txBody>
      </p:sp>
      <p:sp>
        <p:nvSpPr>
          <p:cNvPr id="21" name="Text 19"/>
          <p:cNvSpPr txBox="1"/>
          <p:nvPr/>
        </p:nvSpPr>
        <p:spPr>
          <a:xfrm>
            <a:off x="4892040" y="3822192"/>
            <a:ext cx="3474720" cy="457200"/>
          </a:xfrm>
          <a:prstGeom prst="rect">
            <a:avLst/>
          </a:prstGeom>
          <a:noFill/>
          <a:ln/>
        </p:spPr>
        <p:txBody>
          <a:bodyPr wrap="square" lIns="0" tIns="0" rIns="0" bIns="0" rtlCol="0" anchor="ctr"/>
          <a:lstStyle/>
          <a:p>
            <a:pPr indent="0" marL="0">
              <a:buNone/>
            </a:pPr>
            <a:r>
              <a:rPr lang="en-US" sz="1200" dirty="0">
                <a:solidFill>
                  <a:schemeClr val="accent6"/>
                </a:solidFill>
                <a:latin typeface="Calibri" pitchFamily="34" charset="0"/>
                <a:ea typeface="Calibri" pitchFamily="34" charset="-122"/>
                <a:cs typeface="Calibri" pitchFamily="34" charset="-120"/>
              </a:rPr>
              <a:t>Avec la nationalité ivoirienne (biaisé) : </a:t>
            </a:r>
            <a:pPr indent="0" marL="0">
              <a:buNone/>
            </a:pPr>
            <a:r>
              <a:rPr lang="en-US" sz="1200" b="1" dirty="0">
                <a:solidFill>
                  <a:schemeClr val="accent3"/>
                </a:solidFill>
                <a:latin typeface="Calibri" pitchFamily="34" charset="0"/>
                <a:ea typeface="Calibri" pitchFamily="34" charset="-122"/>
                <a:cs typeface="Calibri" pitchFamily="34" charset="-120"/>
              </a:rPr>
              <a:t>à venir</a:t>
            </a:r>
            <a:endParaRPr lang="en-US" sz="1200" dirty="0"/>
          </a:p>
        </p:txBody>
      </p:sp>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8"/>
          <p:cNvSpPr/>
          <p:nvPr>
            <p:ph idx="108" type="body" hasCustomPrompt="1"/>
          </p:nvPr>
        </p:nvSpPr>
        <p:spPr>
          <a:xfrm>
            <a:off x="548640" y="411480"/>
            <a:ext cx="5486400" cy="274320"/>
          </a:xfrm>
          <a:prstGeom prst="rect">
            <a:avLst/>
          </a:prstGeom>
          <a:noFill/>
          <a:ln/>
        </p:spPr>
        <p:txBody>
          <a:bodyPr wrap="square" lIns="0" tIns="0" rIns="0" bIns="0" rtlCol="0"/>
          <a:lstStyle/>
          <a:p>
            <a:pPr indent="0" marL="0">
              <a:buNone/>
            </a:pPr>
            <a:r>
              <a:rPr lang="en-US" sz="1100" b="1" spc="300" kern="0" dirty="0">
                <a:solidFill>
                  <a:schemeClr val="accent6"/>
                </a:solidFill>
                <a:latin typeface="Calibri" pitchFamily="34" charset="0"/>
                <a:ea typeface="Calibri" pitchFamily="34" charset="-122"/>
                <a:cs typeface="Calibri" pitchFamily="34" charset="-120"/>
              </a:rPr>
              <a:t>09 · BONUS INTERACTIF</a:t>
            </a:r>
            <a:endParaRPr lang="en-US" sz="1100" dirty="0"/>
          </a:p>
        </p:txBody>
      </p:sp>
      <p:sp>
        <p:nvSpPr>
          <p:cNvPr id="3" name="Text 8"/>
          <p:cNvSpPr/>
          <p:nvPr>
            <p:ph idx="109" type="title" hasCustomPrompt="1"/>
          </p:nvPr>
        </p:nvSpPr>
        <p:spPr>
          <a:xfrm>
            <a:off x="548640" y="658368"/>
            <a:ext cx="8046720" cy="731520"/>
          </a:xfrm>
          <a:prstGeom prst="rect">
            <a:avLst/>
          </a:prstGeom>
          <a:noFill/>
          <a:ln/>
        </p:spPr>
        <p:txBody>
          <a:bodyPr wrap="square" lIns="0" tIns="0" rIns="0" bIns="0" rtlCol="0" anchor="t"/>
          <a:lstStyle/>
          <a:p>
            <a:pPr algn="l" indent="0" marL="0">
              <a:buNone/>
            </a:pPr>
            <a:r>
              <a:rPr lang="en-US" sz="3600" b="1" dirty="0">
                <a:solidFill>
                  <a:schemeClr val="bg1"/>
                </a:solidFill>
                <a:latin typeface="Arial Narrow" pitchFamily="34" charset="0"/>
                <a:ea typeface="Arial Narrow" pitchFamily="34" charset="-122"/>
                <a:cs typeface="Arial Narrow" pitchFamily="34" charset="-120"/>
              </a:rPr>
              <a:t>SURCOTÉ OU SOUS-COTÉ ?</a:t>
            </a:r>
            <a:endParaRPr lang="en-US" sz="3600" dirty="0"/>
          </a:p>
        </p:txBody>
      </p:sp>
      <p:sp>
        <p:nvSpPr>
          <p:cNvPr id="4" name="Text 8"/>
          <p:cNvSpPr/>
          <p:nvPr>
            <p:ph idx="110" type="body" hasCustomPrompt="1"/>
          </p:nvPr>
        </p:nvSpPr>
        <p:spPr>
          <a:xfrm>
            <a:off x="5943600" y="4754880"/>
            <a:ext cx="2651760" cy="228600"/>
          </a:xfrm>
          <a:prstGeom prst="rect">
            <a:avLst/>
          </a:prstGeom>
          <a:noFill/>
          <a:ln/>
        </p:spPr>
        <p:txBody>
          <a:bodyPr wrap="square" lIns="0" tIns="0" rIns="0" bIns="0" rtlCol="0"/>
          <a:lstStyle/>
          <a:p>
            <a:pPr algn="r" indent="0" marL="0">
              <a:buNone/>
            </a:pPr>
            <a:r>
              <a:rPr lang="en-US" sz="1000" dirty="0">
                <a:solidFill>
                  <a:schemeClr val="accent6"/>
                </a:solidFill>
                <a:latin typeface="Calibri" pitchFamily="34" charset="0"/>
                <a:ea typeface="Calibri" pitchFamily="34" charset="-122"/>
                <a:cs typeface="Calibri" pitchFamily="34" charset="-120"/>
              </a:rPr>
              <a:t>Mathis</a:t>
            </a:r>
            <a:endParaRPr lang="en-US" sz="1000" dirty="0"/>
          </a:p>
        </p:txBody>
      </p:sp>
      <p:sp>
        <p:nvSpPr>
          <p:cNvPr id="5" name="Text 3"/>
          <p:cNvSpPr txBox="1"/>
          <p:nvPr/>
        </p:nvSpPr>
        <p:spPr>
          <a:xfrm>
            <a:off x="548640" y="1417320"/>
            <a:ext cx="8046720" cy="640080"/>
          </a:xfrm>
          <a:prstGeom prst="rect">
            <a:avLst/>
          </a:prstGeom>
          <a:noFill/>
          <a:ln/>
        </p:spPr>
        <p:txBody>
          <a:bodyPr wrap="square" lIns="0" tIns="0" rIns="0" bIns="0" rtlCol="0" anchor="ctr"/>
          <a:lstStyle/>
          <a:p>
            <a:pPr indent="0" marL="0">
              <a:buNone/>
            </a:pPr>
            <a:r>
              <a:rPr lang="en-US" sz="1600" dirty="0">
                <a:solidFill>
                  <a:schemeClr val="bg2"/>
                </a:solidFill>
                <a:latin typeface="Calibri" pitchFamily="34" charset="0"/>
                <a:ea typeface="Calibri" pitchFamily="34" charset="-122"/>
                <a:cs typeface="Calibri" pitchFamily="34" charset="-120"/>
              </a:rPr>
              <a:t>N'importe quel attaquant, n'importe quelle saison : sa valeur Transfermarkt face à la valeur que justifient ses stats.</a:t>
            </a:r>
            <a:endParaRPr lang="en-US" sz="1600" dirty="0"/>
          </a:p>
        </p:txBody>
      </p:sp>
      <p:sp>
        <p:nvSpPr>
          <p:cNvPr id="6" name="verdict_0"/>
          <p:cNvSpPr/>
          <p:nvPr/>
        </p:nvSpPr>
        <p:spPr>
          <a:xfrm>
            <a:off x="548640" y="2286000"/>
            <a:ext cx="2560320" cy="1371600"/>
          </a:xfrm>
          <a:prstGeom prst="roundRect">
            <a:avLst>
              <a:gd name="adj" fmla="val 5333"/>
            </a:avLst>
          </a:prstGeom>
          <a:solidFill>
            <a:srgbClr val="0F2A0C"/>
          </a:solidFill>
          <a:ln/>
        </p:spPr>
      </p:sp>
      <p:sp>
        <p:nvSpPr>
          <p:cNvPr id="7" name="Text 5"/>
          <p:cNvSpPr txBox="1"/>
          <p:nvPr/>
        </p:nvSpPr>
        <p:spPr>
          <a:xfrm>
            <a:off x="731520" y="2395728"/>
            <a:ext cx="2194560" cy="502920"/>
          </a:xfrm>
          <a:prstGeom prst="rect">
            <a:avLst/>
          </a:prstGeom>
          <a:noFill/>
          <a:ln/>
        </p:spPr>
        <p:txBody>
          <a:bodyPr wrap="square" lIns="0" tIns="0" rIns="0" bIns="0" rtlCol="0" anchor="ctr"/>
          <a:lstStyle/>
          <a:p>
            <a:pPr indent="0" marL="0">
              <a:buNone/>
            </a:pPr>
            <a:r>
              <a:rPr lang="en-US" sz="2600" b="1" dirty="0">
                <a:solidFill>
                  <a:schemeClr val="accent3"/>
                </a:solidFill>
                <a:latin typeface="Arial Narrow" pitchFamily="34" charset="0"/>
                <a:ea typeface="Arial Narrow" pitchFamily="34" charset="-122"/>
                <a:cs typeface="Arial Narrow" pitchFamily="34" charset="-120"/>
              </a:rPr>
              <a:t>SURCOTÉ</a:t>
            </a:r>
            <a:endParaRPr lang="en-US" sz="2600" dirty="0"/>
          </a:p>
        </p:txBody>
      </p:sp>
      <p:sp>
        <p:nvSpPr>
          <p:cNvPr id="8" name="Text 6"/>
          <p:cNvSpPr txBox="1"/>
          <p:nvPr/>
        </p:nvSpPr>
        <p:spPr>
          <a:xfrm>
            <a:off x="731520" y="2971800"/>
            <a:ext cx="2194560" cy="365760"/>
          </a:xfrm>
          <a:prstGeom prst="rect">
            <a:avLst/>
          </a:prstGeom>
          <a:noFill/>
          <a:ln/>
        </p:spPr>
        <p:txBody>
          <a:bodyPr wrap="square" lIns="0" tIns="0" rIns="0" bIns="0" rtlCol="0" anchor="ctr"/>
          <a:lstStyle/>
          <a:p>
            <a:pPr indent="0" marL="0">
              <a:buNone/>
            </a:pPr>
            <a:r>
              <a:rPr lang="en-US" sz="1500" dirty="0">
                <a:solidFill>
                  <a:schemeClr val="bg2"/>
                </a:solidFill>
                <a:latin typeface="Calibri" pitchFamily="34" charset="0"/>
                <a:ea typeface="Calibri" pitchFamily="34" charset="-122"/>
                <a:cs typeface="Calibri" pitchFamily="34" charset="-120"/>
              </a:rPr>
              <a:t>&gt; +20 %</a:t>
            </a:r>
            <a:endParaRPr lang="en-US" sz="1500" dirty="0"/>
          </a:p>
        </p:txBody>
      </p:sp>
      <p:sp>
        <p:nvSpPr>
          <p:cNvPr id="9" name="verdict_1"/>
          <p:cNvSpPr/>
          <p:nvPr/>
        </p:nvSpPr>
        <p:spPr>
          <a:xfrm>
            <a:off x="3291840" y="2286000"/>
            <a:ext cx="2560320" cy="1371600"/>
          </a:xfrm>
          <a:prstGeom prst="roundRect">
            <a:avLst>
              <a:gd name="adj" fmla="val 5333"/>
            </a:avLst>
          </a:prstGeom>
          <a:solidFill>
            <a:srgbClr val="0F2A0C"/>
          </a:solidFill>
          <a:ln/>
        </p:spPr>
      </p:sp>
      <p:sp>
        <p:nvSpPr>
          <p:cNvPr id="10" name="Text 8"/>
          <p:cNvSpPr txBox="1"/>
          <p:nvPr/>
        </p:nvSpPr>
        <p:spPr>
          <a:xfrm>
            <a:off x="3474720" y="2395728"/>
            <a:ext cx="2194560" cy="502920"/>
          </a:xfrm>
          <a:prstGeom prst="rect">
            <a:avLst/>
          </a:prstGeom>
          <a:noFill/>
          <a:ln/>
        </p:spPr>
        <p:txBody>
          <a:bodyPr wrap="square" lIns="0" tIns="0" rIns="0" bIns="0" rtlCol="0" anchor="ctr"/>
          <a:lstStyle/>
          <a:p>
            <a:pPr indent="0" marL="0">
              <a:buNone/>
            </a:pPr>
            <a:r>
              <a:rPr lang="en-US" sz="2600" b="1" dirty="0">
                <a:solidFill>
                  <a:schemeClr val="bg1"/>
                </a:solidFill>
                <a:latin typeface="Arial Narrow" pitchFamily="34" charset="0"/>
                <a:ea typeface="Arial Narrow" pitchFamily="34" charset="-122"/>
                <a:cs typeface="Arial Narrow" pitchFamily="34" charset="-120"/>
              </a:rPr>
              <a:t>JUSTE PRIX</a:t>
            </a:r>
            <a:endParaRPr lang="en-US" sz="2600" dirty="0"/>
          </a:p>
        </p:txBody>
      </p:sp>
      <p:sp>
        <p:nvSpPr>
          <p:cNvPr id="11" name="Text 9"/>
          <p:cNvSpPr txBox="1"/>
          <p:nvPr/>
        </p:nvSpPr>
        <p:spPr>
          <a:xfrm>
            <a:off x="3474720" y="2971800"/>
            <a:ext cx="2194560" cy="365760"/>
          </a:xfrm>
          <a:prstGeom prst="rect">
            <a:avLst/>
          </a:prstGeom>
          <a:noFill/>
          <a:ln/>
        </p:spPr>
        <p:txBody>
          <a:bodyPr wrap="square" lIns="0" tIns="0" rIns="0" bIns="0" rtlCol="0" anchor="ctr"/>
          <a:lstStyle/>
          <a:p>
            <a:pPr indent="0" marL="0">
              <a:buNone/>
            </a:pPr>
            <a:r>
              <a:rPr lang="en-US" sz="1500" dirty="0">
                <a:solidFill>
                  <a:schemeClr val="bg2"/>
                </a:solidFill>
                <a:latin typeface="Calibri" pitchFamily="34" charset="0"/>
                <a:ea typeface="Calibri" pitchFamily="34" charset="-122"/>
                <a:cs typeface="Calibri" pitchFamily="34" charset="-120"/>
              </a:rPr>
              <a:t>± 20 %</a:t>
            </a:r>
            <a:endParaRPr lang="en-US" sz="1500" dirty="0"/>
          </a:p>
        </p:txBody>
      </p:sp>
      <p:sp>
        <p:nvSpPr>
          <p:cNvPr id="12" name="verdict_2"/>
          <p:cNvSpPr/>
          <p:nvPr/>
        </p:nvSpPr>
        <p:spPr>
          <a:xfrm>
            <a:off x="6035040" y="2286000"/>
            <a:ext cx="2560320" cy="1371600"/>
          </a:xfrm>
          <a:prstGeom prst="roundRect">
            <a:avLst>
              <a:gd name="adj" fmla="val 5333"/>
            </a:avLst>
          </a:prstGeom>
          <a:solidFill>
            <a:srgbClr val="0F2A0C"/>
          </a:solidFill>
          <a:ln/>
        </p:spPr>
      </p:sp>
      <p:sp>
        <p:nvSpPr>
          <p:cNvPr id="13" name="Text 11"/>
          <p:cNvSpPr txBox="1"/>
          <p:nvPr/>
        </p:nvSpPr>
        <p:spPr>
          <a:xfrm>
            <a:off x="6217920" y="2395728"/>
            <a:ext cx="2194560" cy="502920"/>
          </a:xfrm>
          <a:prstGeom prst="rect">
            <a:avLst/>
          </a:prstGeom>
          <a:noFill/>
          <a:ln/>
        </p:spPr>
        <p:txBody>
          <a:bodyPr wrap="square" lIns="0" tIns="0" rIns="0" bIns="0" rtlCol="0" anchor="ctr"/>
          <a:lstStyle/>
          <a:p>
            <a:pPr indent="0" marL="0">
              <a:buNone/>
            </a:pPr>
            <a:r>
              <a:rPr lang="en-US" sz="2600" b="1" dirty="0">
                <a:solidFill>
                  <a:schemeClr val="accent6"/>
                </a:solidFill>
                <a:latin typeface="Arial Narrow" pitchFamily="34" charset="0"/>
                <a:ea typeface="Arial Narrow" pitchFamily="34" charset="-122"/>
                <a:cs typeface="Arial Narrow" pitchFamily="34" charset="-120"/>
              </a:rPr>
              <a:t>SOUS-COTÉ</a:t>
            </a:r>
            <a:endParaRPr lang="en-US" sz="2600" dirty="0"/>
          </a:p>
        </p:txBody>
      </p:sp>
      <p:sp>
        <p:nvSpPr>
          <p:cNvPr id="14" name="Text 12"/>
          <p:cNvSpPr txBox="1"/>
          <p:nvPr/>
        </p:nvSpPr>
        <p:spPr>
          <a:xfrm>
            <a:off x="6217920" y="2971800"/>
            <a:ext cx="2194560" cy="365760"/>
          </a:xfrm>
          <a:prstGeom prst="rect">
            <a:avLst/>
          </a:prstGeom>
          <a:noFill/>
          <a:ln/>
        </p:spPr>
        <p:txBody>
          <a:bodyPr wrap="square" lIns="0" tIns="0" rIns="0" bIns="0" rtlCol="0" anchor="ctr"/>
          <a:lstStyle/>
          <a:p>
            <a:pPr indent="0" marL="0">
              <a:buNone/>
            </a:pPr>
            <a:r>
              <a:rPr lang="en-US" sz="1500" dirty="0">
                <a:solidFill>
                  <a:schemeClr val="bg2"/>
                </a:solidFill>
                <a:latin typeface="Calibri" pitchFamily="34" charset="0"/>
                <a:ea typeface="Calibri" pitchFamily="34" charset="-122"/>
                <a:cs typeface="Calibri" pitchFamily="34" charset="-120"/>
              </a:rPr>
              <a:t>&lt; -20 %</a:t>
            </a:r>
            <a:endParaRPr lang="en-US" sz="1500" dirty="0"/>
          </a:p>
        </p:txBody>
      </p:sp>
      <p:sp>
        <p:nvSpPr>
          <p:cNvPr id="15" name="Text 13"/>
          <p:cNvSpPr txBox="1"/>
          <p:nvPr/>
        </p:nvSpPr>
        <p:spPr>
          <a:xfrm>
            <a:off x="548640" y="3886200"/>
            <a:ext cx="8046720" cy="548640"/>
          </a:xfrm>
          <a:prstGeom prst="rect">
            <a:avLst/>
          </a:prstGeom>
          <a:noFill/>
          <a:ln/>
        </p:spPr>
        <p:txBody>
          <a:bodyPr wrap="square" lIns="0" tIns="0" rIns="0" bIns="0" rtlCol="0" anchor="ctr"/>
          <a:lstStyle/>
          <a:p>
            <a:pPr indent="0" marL="0">
              <a:buNone/>
            </a:pPr>
            <a:r>
              <a:rPr lang="en-US" sz="1300" i="1" dirty="0">
                <a:solidFill>
                  <a:schemeClr val="accent6"/>
                </a:solidFill>
                <a:latin typeface="Calibri" pitchFamily="34" charset="0"/>
                <a:ea typeface="Calibri" pitchFamily="34" charset="-122"/>
                <a:cs typeface="Calibri" pitchFamily="34" charset="-120"/>
              </a:rPr>
              <a:t>Le LLM commente le verdict en langage naturel, avec la part de l'écart liée à la prime de la confédération.</a:t>
            </a:r>
            <a:endParaRPr lang="en-US" sz="1300" dirty="0"/>
          </a:p>
        </p:txBody>
      </p:sp>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486400" cy="274320"/>
          </a:xfrm>
          <a:prstGeom prst="rect">
            <a:avLst/>
          </a:prstGeom>
          <a:noFill/>
          <a:ln/>
        </p:spPr>
        <p:txBody>
          <a:bodyPr wrap="square" lIns="0" tIns="0" rIns="0" bIns="0" rtlCol="0"/>
          <a:lstStyle/>
          <a:p>
            <a:pPr indent="0" marL="0">
              <a:buNone/>
            </a:pPr>
            <a:r>
              <a:rPr lang="en-US" sz="1100" b="1" spc="300" kern="0" dirty="0">
                <a:solidFill>
                  <a:schemeClr val="accent1"/>
                </a:solidFill>
                <a:latin typeface="Calibri" pitchFamily="34" charset="0"/>
                <a:ea typeface="Calibri" pitchFamily="34" charset="-122"/>
                <a:cs typeface="Calibri" pitchFamily="34" charset="-120"/>
              </a:rPr>
              <a:t>10 · RED TEAMING ET LIMITES</a:t>
            </a:r>
            <a:endParaRPr lang="en-US" sz="1100" dirty="0"/>
          </a:p>
        </p:txBody>
      </p:sp>
      <p:sp>
        <p:nvSpPr>
          <p:cNvPr id="3" name="Text 0"/>
          <p:cNvSpPr/>
          <p:nvPr>
            <p:ph idx="101" type="title" hasCustomPrompt="1"/>
          </p:nvPr>
        </p:nvSpPr>
        <p:spPr>
          <a:xfrm>
            <a:off x="548640" y="658368"/>
            <a:ext cx="8046720" cy="731520"/>
          </a:xfrm>
          <a:prstGeom prst="rect">
            <a:avLst/>
          </a:prstGeom>
          <a:noFill/>
          <a:ln/>
        </p:spPr>
        <p:txBody>
          <a:bodyPr wrap="square" lIns="0" tIns="0" rIns="0" bIns="0" rtlCol="0" anchor="t"/>
          <a:lstStyle/>
          <a:p>
            <a:pPr algn="l" indent="0" marL="0">
              <a:buNone/>
            </a:pPr>
            <a:r>
              <a:rPr lang="en-US" sz="3600" b="1" dirty="0">
                <a:solidFill>
                  <a:schemeClr val="tx1"/>
                </a:solidFill>
                <a:latin typeface="Arial Narrow" pitchFamily="34" charset="0"/>
                <a:ea typeface="Arial Narrow" pitchFamily="34" charset="-122"/>
                <a:cs typeface="Arial Narrow" pitchFamily="34" charset="-120"/>
              </a:rPr>
              <a:t>PENSER COMME L'ADVERSAIRE</a:t>
            </a:r>
            <a:endParaRPr lang="en-US" sz="3600" dirty="0"/>
          </a:p>
        </p:txBody>
      </p:sp>
      <p:sp>
        <p:nvSpPr>
          <p:cNvPr id="4" name="Text 0"/>
          <p:cNvSpPr/>
          <p:nvPr>
            <p:ph idx="102" type="body" hasCustomPrompt="1"/>
          </p:nvPr>
        </p:nvSpPr>
        <p:spPr>
          <a:xfrm>
            <a:off x="5943600" y="4754880"/>
            <a:ext cx="2651760" cy="228600"/>
          </a:xfrm>
          <a:prstGeom prst="rect">
            <a:avLst/>
          </a:prstGeom>
          <a:noFill/>
          <a:ln/>
        </p:spPr>
        <p:txBody>
          <a:bodyPr wrap="square" lIns="0" tIns="0" rIns="0" bIns="0" rtlCol="0"/>
          <a:lstStyle/>
          <a:p>
            <a:pPr algn="r" indent="0" marL="0">
              <a:buNone/>
            </a:pPr>
            <a:r>
              <a:rPr lang="en-US" sz="1000" dirty="0">
                <a:solidFill>
                  <a:schemeClr val="accent5"/>
                </a:solidFill>
                <a:latin typeface="Calibri" pitchFamily="34" charset="0"/>
                <a:ea typeface="Calibri" pitchFamily="34" charset="-122"/>
                <a:cs typeface="Calibri" pitchFamily="34" charset="-120"/>
              </a:rPr>
              <a:t>Mathis</a:t>
            </a:r>
            <a:endParaRPr lang="en-US" sz="1000" dirty="0"/>
          </a:p>
        </p:txBody>
      </p:sp>
      <p:sp>
        <p:nvSpPr>
          <p:cNvPr id="5" name="Text 3"/>
          <p:cNvSpPr txBox="1"/>
          <p:nvPr/>
        </p:nvSpPr>
        <p:spPr>
          <a:xfrm>
            <a:off x="548640" y="1417320"/>
            <a:ext cx="3840480" cy="274320"/>
          </a:xfrm>
          <a:prstGeom prst="rect">
            <a:avLst/>
          </a:prstGeom>
          <a:noFill/>
          <a:ln/>
        </p:spPr>
        <p:txBody>
          <a:bodyPr wrap="square" lIns="0" tIns="0" rIns="0" bIns="0" rtlCol="0" anchor="ctr"/>
          <a:lstStyle/>
          <a:p>
            <a:pPr indent="0" marL="0">
              <a:buNone/>
            </a:pPr>
            <a:r>
              <a:rPr lang="en-US" sz="1100" b="1" spc="300" kern="0" dirty="0">
                <a:solidFill>
                  <a:schemeClr val="accent5"/>
                </a:solidFill>
                <a:latin typeface="Calibri" pitchFamily="34" charset="0"/>
                <a:ea typeface="Calibri" pitchFamily="34" charset="-122"/>
                <a:cs typeface="Calibri" pitchFamily="34" charset="-120"/>
              </a:rPr>
              <a:t>ATTAQUES TESTÉES</a:t>
            </a:r>
            <a:endParaRPr lang="en-US" sz="1100" dirty="0"/>
          </a:p>
        </p:txBody>
      </p:sp>
      <p:sp>
        <p:nvSpPr>
          <p:cNvPr id="6" name="attaque_0"/>
          <p:cNvSpPr/>
          <p:nvPr/>
        </p:nvSpPr>
        <p:spPr>
          <a:xfrm>
            <a:off x="548640" y="1783080"/>
            <a:ext cx="3840480" cy="822960"/>
          </a:xfrm>
          <a:prstGeom prst="roundRect">
            <a:avLst>
              <a:gd name="adj" fmla="val 8889"/>
            </a:avLst>
          </a:prstGeom>
          <a:solidFill>
            <a:srgbClr val="EEF3EA"/>
          </a:solidFill>
          <a:ln/>
        </p:spPr>
      </p:sp>
      <p:sp>
        <p:nvSpPr>
          <p:cNvPr id="7" name="Text 5"/>
          <p:cNvSpPr txBox="1"/>
          <p:nvPr/>
        </p:nvSpPr>
        <p:spPr>
          <a:xfrm>
            <a:off x="731520" y="1874520"/>
            <a:ext cx="3474720" cy="27432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Injection</a:t>
            </a:r>
            <a:endParaRPr lang="en-US" sz="1400" dirty="0"/>
          </a:p>
        </p:txBody>
      </p:sp>
      <p:sp>
        <p:nvSpPr>
          <p:cNvPr id="8" name="Text 6"/>
          <p:cNvSpPr txBox="1"/>
          <p:nvPr/>
        </p:nvSpPr>
        <p:spPr>
          <a:xfrm>
            <a:off x="731520" y="2167128"/>
            <a:ext cx="3474720"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 les Sud-Américains se vendent toujours cher » glissé dans le profil</a:t>
            </a:r>
            <a:endParaRPr lang="en-US" sz="1200" dirty="0"/>
          </a:p>
        </p:txBody>
      </p:sp>
      <p:sp>
        <p:nvSpPr>
          <p:cNvPr id="9" name="attaque_1"/>
          <p:cNvSpPr/>
          <p:nvPr/>
        </p:nvSpPr>
        <p:spPr>
          <a:xfrm>
            <a:off x="548640" y="2743200"/>
            <a:ext cx="3840480" cy="822960"/>
          </a:xfrm>
          <a:prstGeom prst="roundRect">
            <a:avLst>
              <a:gd name="adj" fmla="val 8889"/>
            </a:avLst>
          </a:prstGeom>
          <a:solidFill>
            <a:srgbClr val="EEF3EA"/>
          </a:solidFill>
          <a:ln/>
        </p:spPr>
      </p:sp>
      <p:sp>
        <p:nvSpPr>
          <p:cNvPr id="10" name="Text 8"/>
          <p:cNvSpPr txBox="1"/>
          <p:nvPr/>
        </p:nvSpPr>
        <p:spPr>
          <a:xfrm>
            <a:off x="731520" y="2834640"/>
            <a:ext cx="3474720" cy="27432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Proxy</a:t>
            </a:r>
            <a:endParaRPr lang="en-US" sz="1400" dirty="0"/>
          </a:p>
        </p:txBody>
      </p:sp>
      <p:sp>
        <p:nvSpPr>
          <p:cNvPr id="11" name="Text 9"/>
          <p:cNvSpPr txBox="1"/>
          <p:nvPr/>
        </p:nvSpPr>
        <p:spPr>
          <a:xfrm>
            <a:off x="731520" y="3127248"/>
            <a:ext cx="3474720"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même joueur placé dans un club brésilien</a:t>
            </a:r>
            <a:endParaRPr lang="en-US" sz="1200" dirty="0"/>
          </a:p>
        </p:txBody>
      </p:sp>
      <p:sp>
        <p:nvSpPr>
          <p:cNvPr id="12" name="Text 10"/>
          <p:cNvSpPr txBox="1"/>
          <p:nvPr/>
        </p:nvSpPr>
        <p:spPr>
          <a:xfrm>
            <a:off x="4754880" y="1417320"/>
            <a:ext cx="3840480" cy="274320"/>
          </a:xfrm>
          <a:prstGeom prst="rect">
            <a:avLst/>
          </a:prstGeom>
          <a:noFill/>
          <a:ln/>
        </p:spPr>
        <p:txBody>
          <a:bodyPr wrap="square" lIns="0" tIns="0" rIns="0" bIns="0" rtlCol="0" anchor="ctr"/>
          <a:lstStyle/>
          <a:p>
            <a:pPr indent="0" marL="0">
              <a:buNone/>
            </a:pPr>
            <a:r>
              <a:rPr lang="en-US" sz="1100" b="1" spc="300" kern="0" dirty="0">
                <a:solidFill>
                  <a:schemeClr val="accent5"/>
                </a:solidFill>
                <a:latin typeface="Calibri" pitchFamily="34" charset="0"/>
                <a:ea typeface="Calibri" pitchFamily="34" charset="-122"/>
                <a:cs typeface="Calibri" pitchFamily="34" charset="-120"/>
              </a:rPr>
              <a:t>LIMITES</a:t>
            </a:r>
            <a:endParaRPr lang="en-US" sz="1100" dirty="0"/>
          </a:p>
        </p:txBody>
      </p:sp>
      <p:sp>
        <p:nvSpPr>
          <p:cNvPr id="13" name="Text 11"/>
          <p:cNvSpPr txBox="1"/>
          <p:nvPr/>
        </p:nvSpPr>
        <p:spPr>
          <a:xfrm>
            <a:off x="4754880" y="1783080"/>
            <a:ext cx="384048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latin typeface="Calibri" pitchFamily="34" charset="0"/>
                <a:ea typeface="Calibri" pitchFamily="34" charset="-122"/>
                <a:cs typeface="Calibri" pitchFamily="34" charset="-120"/>
              </a:rPr>
              <a:t>Transfermarkt est une estimation communautaire, pas un prix réel</a:t>
            </a:r>
            <a:endParaRPr lang="en-US" sz="1300" dirty="0"/>
          </a:p>
          <a:p>
            <a:pPr marL="342900" indent="-342900">
              <a:spcAft>
                <a:spcPts val="800"/>
              </a:spcAft>
              <a:buSzPct val="100000"/>
              <a:buChar char="•"/>
            </a:pPr>
            <a:r>
              <a:rPr lang="en-US" sz="1300" dirty="0">
                <a:solidFill>
                  <a:schemeClr val="tx1"/>
                </a:solidFill>
                <a:latin typeface="Calibri" pitchFamily="34" charset="0"/>
                <a:ea typeface="Calibri" pitchFamily="34" charset="-122"/>
                <a:cs typeface="Calibri" pitchFamily="34" charset="-120"/>
              </a:rPr>
              <a:t>Le label corrigé ignore xG, dribbles, profil tactique</a:t>
            </a:r>
            <a:endParaRPr lang="en-US" sz="1300" dirty="0"/>
          </a:p>
          <a:p>
            <a:pPr marL="342900" indent="-342900">
              <a:spcAft>
                <a:spcPts val="800"/>
              </a:spcAft>
              <a:buSzPct val="100000"/>
              <a:buChar char="•"/>
            </a:pPr>
            <a:r>
              <a:rPr lang="en-US" sz="1300" dirty="0">
                <a:solidFill>
                  <a:schemeClr val="tx1"/>
                </a:solidFill>
                <a:latin typeface="Calibri" pitchFamily="34" charset="0"/>
                <a:ea typeface="Calibri" pitchFamily="34" charset="-122"/>
                <a:cs typeface="Calibri" pitchFamily="34" charset="-120"/>
              </a:rPr>
              <a:t>Contrats absents : durée restante et salaire pèsent sur la valeur</a:t>
            </a:r>
            <a:endParaRPr lang="en-US" sz="1300" dirty="0"/>
          </a:p>
          <a:p>
            <a:pPr marL="342900" indent="-342900">
              <a:spcAft>
                <a:spcPts val="800"/>
              </a:spcAft>
              <a:buSzPct val="100000"/>
              <a:buChar char="•"/>
            </a:pPr>
            <a:r>
              <a:rPr lang="en-US" sz="1300" dirty="0">
                <a:solidFill>
                  <a:schemeClr val="tx1"/>
                </a:solidFill>
                <a:latin typeface="Calibri" pitchFamily="34" charset="0"/>
                <a:ea typeface="Calibri" pitchFamily="34" charset="-122"/>
                <a:cs typeface="Calibri" pitchFamily="34" charset="-120"/>
              </a:rPr>
              <a:t>Une explication n'est pas une justification</a:t>
            </a:r>
            <a:endParaRPr lang="en-US" sz="1300" dirty="0"/>
          </a:p>
          <a:p>
            <a:pPr marL="342900" indent="-342900">
              <a:spcAft>
                <a:spcPts val="800"/>
              </a:spcAft>
              <a:buSzPct val="100000"/>
              <a:buChar char="•"/>
            </a:pPr>
            <a:r>
              <a:rPr lang="en-US" sz="1300" dirty="0">
                <a:solidFill>
                  <a:schemeClr val="tx1"/>
                </a:solidFill>
                <a:latin typeface="Calibri" pitchFamily="34" charset="0"/>
                <a:ea typeface="Calibri" pitchFamily="34" charset="-122"/>
                <a:cs typeface="Calibri" pitchFamily="34" charset="-120"/>
              </a:rPr>
              <a:t>Équité contre performance : un arbitrage assumé</a:t>
            </a:r>
            <a:endParaRPr lang="en-US" sz="1300" dirty="0"/>
          </a:p>
        </p:txBody>
      </p:sp>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1"/>
          <p:cNvSpPr/>
          <p:nvPr>
            <p:ph idx="111" type="body" hasCustomPrompt="1"/>
          </p:nvPr>
        </p:nvSpPr>
        <p:spPr>
          <a:xfrm>
            <a:off x="731520" y="731520"/>
            <a:ext cx="7315200" cy="274320"/>
          </a:xfrm>
          <a:prstGeom prst="rect">
            <a:avLst/>
          </a:prstGeom>
          <a:noFill/>
          <a:ln/>
        </p:spPr>
        <p:txBody>
          <a:bodyPr wrap="square" lIns="0" tIns="0" rIns="0" bIns="0" rtlCol="0"/>
          <a:lstStyle/>
          <a:p>
            <a:pPr indent="0" marL="0">
              <a:buNone/>
            </a:pPr>
            <a:r>
              <a:rPr lang="en-US" sz="1100" b="1" spc="300" kern="0" dirty="0">
                <a:solidFill>
                  <a:schemeClr val="accent6"/>
                </a:solidFill>
                <a:latin typeface="Calibri" pitchFamily="34" charset="0"/>
                <a:ea typeface="Calibri" pitchFamily="34" charset="-122"/>
                <a:cs typeface="Calibri" pitchFamily="34" charset="-120"/>
              </a:rPr>
              <a:t>CONCLUSION</a:t>
            </a:r>
            <a:endParaRPr lang="en-US" sz="1100" dirty="0"/>
          </a:p>
        </p:txBody>
      </p:sp>
      <p:sp>
        <p:nvSpPr>
          <p:cNvPr id="3" name="Text 11"/>
          <p:cNvSpPr/>
          <p:nvPr>
            <p:ph idx="112" type="title" hasCustomPrompt="1"/>
          </p:nvPr>
        </p:nvSpPr>
        <p:spPr>
          <a:xfrm>
            <a:off x="731520" y="1874520"/>
            <a:ext cx="7680960" cy="1371600"/>
          </a:xfrm>
          <a:prstGeom prst="rect">
            <a:avLst/>
          </a:prstGeom>
          <a:noFill/>
          <a:ln/>
        </p:spPr>
        <p:txBody>
          <a:bodyPr wrap="square" lIns="0" tIns="0" rIns="0" bIns="0" rtlCol="0" anchor="b"/>
          <a:lstStyle/>
          <a:p>
            <a:pPr algn="l" indent="0" marL="0">
              <a:buNone/>
            </a:pPr>
            <a:r>
              <a:rPr lang="en-US" sz="5400" b="1" dirty="0">
                <a:solidFill>
                  <a:schemeClr val="bg1"/>
                </a:solidFill>
                <a:latin typeface="Arial Narrow" pitchFamily="34" charset="0"/>
                <a:ea typeface="Arial Narrow" pitchFamily="34" charset="-122"/>
                <a:cs typeface="Arial Narrow" pitchFamily="34" charset="-120"/>
              </a:rPr>
              <a:t>ETHICS BY DESIGN</a:t>
            </a:r>
            <a:endParaRPr lang="en-US" sz="5400" dirty="0"/>
          </a:p>
        </p:txBody>
      </p:sp>
      <p:sp>
        <p:nvSpPr>
          <p:cNvPr id="4" name="Text 11"/>
          <p:cNvSpPr/>
          <p:nvPr>
            <p:ph idx="113" type="body" hasCustomPrompt="1"/>
          </p:nvPr>
        </p:nvSpPr>
        <p:spPr>
          <a:xfrm>
            <a:off x="731520" y="3337560"/>
            <a:ext cx="7680960" cy="457200"/>
          </a:xfrm>
          <a:prstGeom prst="rect">
            <a:avLst/>
          </a:prstGeom>
          <a:noFill/>
          <a:ln/>
        </p:spPr>
        <p:txBody>
          <a:bodyPr wrap="square" lIns="0" tIns="0" rIns="0" bIns="0" rtlCol="0"/>
          <a:lstStyle/>
          <a:p>
            <a:pPr indent="0" marL="0">
              <a:buNone/>
            </a:pPr>
            <a:r>
              <a:rPr lang="en-US" sz="2000" dirty="0">
                <a:solidFill>
                  <a:schemeClr val="accent6"/>
                </a:solidFill>
                <a:latin typeface="Calibri" pitchFamily="34" charset="0"/>
                <a:ea typeface="Calibri" pitchFamily="34" charset="-122"/>
                <a:cs typeface="Calibri" pitchFamily="34" charset="-120"/>
              </a:rPr>
              <a:t>Mesurer le biais, le réduire à trois niveaux, choisir le modèle sur un critère explicite, expliquer chaque décision.</a:t>
            </a:r>
            <a:endParaRPr lang="en-US" sz="2000" dirty="0"/>
          </a:p>
        </p:txBody>
      </p:sp>
      <p:sp>
        <p:nvSpPr>
          <p:cNvPr id="5" name="Text 11"/>
          <p:cNvSpPr/>
          <p:nvPr>
            <p:ph idx="114" type="body" hasCustomPrompt="1"/>
          </p:nvPr>
        </p:nvSpPr>
        <p:spPr>
          <a:xfrm>
            <a:off x="731520" y="4160520"/>
            <a:ext cx="7680960" cy="320040"/>
          </a:xfrm>
          <a:prstGeom prst="rect">
            <a:avLst/>
          </a:prstGeom>
          <a:noFill/>
          <a:ln/>
        </p:spPr>
        <p:txBody>
          <a:bodyPr wrap="square" lIns="0" tIns="0" rIns="0" bIns="0" rtlCol="0"/>
          <a:lstStyle/>
          <a:p>
            <a:pPr indent="0" marL="0">
              <a:buNone/>
            </a:pPr>
            <a:r>
              <a:rPr lang="en-US" sz="1200" dirty="0">
                <a:solidFill>
                  <a:schemeClr val="bg2"/>
                </a:solidFill>
                <a:latin typeface="Calibri" pitchFamily="34" charset="0"/>
                <a:ea typeface="Calibri" pitchFamily="34" charset="-122"/>
                <a:cs typeface="Calibri" pitchFamily="34" charset="-120"/>
              </a:rPr>
              <a:t>Merci. Questions ?</a:t>
            </a:r>
            <a:endParaRPr lang="en-US" sz="1200" dirty="0"/>
          </a:p>
        </p:txBody>
      </p:sp>
    </p:spTree>
  </p:cSld>
  <p:clrMapOvr>
    <a:masterClrMapping/>
  </p:clrMapOvr>
</p:sld>
</file>

<file path=ppt/theme/theme1.xml><?xml version="1.0" encoding="utf-8"?>
<a:theme xmlns:a="http://schemas.openxmlformats.org/drawingml/2006/main" name="Pelouse">
  <a:themeElements>
    <a:clrScheme name="Pelouse">
      <a:dk1>
        <a:srgbClr val="16261A"/>
      </a:dk1>
      <a:lt1>
        <a:srgbClr val="FFFFFF"/>
      </a:lt1>
      <a:dk2>
        <a:srgbClr val="1F4A1A"/>
      </a:dk2>
      <a:lt2>
        <a:srgbClr val="EEF3EA"/>
      </a:lt2>
      <a:accent1>
        <a:srgbClr val="1F4A1A"/>
      </a:accent1>
      <a:accent2>
        <a:srgbClr val="8DBF5A"/>
      </a:accent2>
      <a:accent3>
        <a:srgbClr val="E9A53A"/>
      </a:accent3>
      <a:accent4>
        <a:srgbClr val="D9534F"/>
      </a:accent4>
      <a:accent5>
        <a:srgbClr val="5F6B5C"/>
      </a:accent5>
      <a:accent6>
        <a:srgbClr val="C9DDB4"/>
      </a:accent6>
      <a:hlink>
        <a:srgbClr val="1F4A1A"/>
      </a:hlink>
      <a:folHlink>
        <a:srgbClr val="5F6B5C"/>
      </a:folHlink>
    </a:clrScheme>
    <a:fontScheme name="Pelouse">
      <a:majorFont>
        <a:latin typeface="Arial Narrow"/>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Même stats, pas le même prix</dc:title>
  <dc:subject>PptxGenJS Presentation</dc:subject>
  <dc:creator>Simon Gallais, Gautier Deplanque, Mathis Leitao</dc:creator>
  <cp:lastModifiedBy>Simon Gallais, Gautier Deplanque, Mathis Leitao</cp:lastModifiedBy>
  <cp:revision>1</cp:revision>
  <dcterms:created xsi:type="dcterms:W3CDTF">2026-10-05T21:32:29Z</dcterms:created>
  <dcterms:modified xsi:type="dcterms:W3CDTF">2026-10-05T21:32:29Z</dcterms:modified>
</cp:coreProperties>
</file>