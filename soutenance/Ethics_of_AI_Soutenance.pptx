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e et biais" id="{278a6a5d-ffab-3ec4-52ca-eef3baca5c36}">
          <p14:sldIdLst>
            <p14:sldId id="256"/>
            <p14:sldId id="257"/>
            <p14:sldId id="258"/>
            <p14:sldId id="259"/>
          </p14:sldIdLst>
        </p14:section>
        <p14:section name="Méthode" id="{f9172eae-1a56-004d-234c-23e764931d85}">
          <p14:sldIdLst>
            <p14:sldId id="260"/>
            <p14:sldId id="261"/>
            <p14:sldId id="262"/>
            <p14:sldId id="263"/>
            <p14:sldId id="264"/>
          </p14:sldIdLst>
        </p14:section>
        <p14:section name="Démo et limites" id="{81f9511e-cfd0-fd67-7acf-e4bf811c4624}">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GAUTIER (15 s). Bonjour. Notre projet : un petit LLM qui aide un club à construire sa short-list d'attaquants, et qui ne doit pas discriminer selon la nationalité.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GAUTIER (40 s). Le cas d'usage : un club veut un assistant qui décide si un attaquant entre dans sa short-list. C'est une décision qui touche des personnes, donc on a commencé par cartographier les parties prenantes : les joueurs, le club, les agents, et les régulateurs, puisque le recrutement serait un usage à fort impact au sens de l'AI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GAUTIER (30 s). Les données viennent de Transfermarkt via Kaggle : près de 6 900 saisons d'attaquants dans les cinq grands championnats, sur 14 saisons. Pour chaque saison on a les stats, la nationalité, le club et la valeur marchande.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GAUTIER (45 s). Exemple : Gervinho et Higuaín, même saison, même championnat, exactement 6 buts et 4 passes. L'un vaut 5,5 millions, l'autre 25,5. Sur tout le dataset, à performance égale, un attaquant sud-américain vaut 25 % de plus, un africain 8 % de moins. Si on apprend la short-list sur ces valeurs historiques, le disparate impact tombe à 0,65, sous le seuil légal de 80 %. Je laisse Simon expliquer comment on corrige 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(50 s). On agit à trois endroits. Sur les données : on remplace le label historique par un label corrigé, la valeur que justifie la seule performance, et on repondère les exemples (reweighing de Kamiran et Calders). Sur l'entrée : on masque la nationalité du prompt, mais l'ablation montre que ça ne suffit pas, le club sert de proxy. En sortie : des seuils par groupe pour la parité démographique.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(50 s). Le LLM est Qwen2.5 0,5 milliard, il tourne sur un GPU Colab. On l'adapte avec les trois méthodes vues en cours : fine-tuning complet, LoRA, et distillation, où un élève de 8 couches imite le modèle fine-tuné. Chacune existe en version biaisée, sur les labels historiques, et corrigée. Few-shot et RAG servent de références sans entraînement.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(50 s). Sur la saison test, LoRA corrigé obtient la meilleure F1, 0,84, avec une AUC de 0,99, en n'entraînant que 2,2 millions de paramètres. Le fine-tuning complet, qui ajuste les 494 millions, fait moins bien : avec peu de données, il surapprend, ce qui rejoint le cours, LoRA est l'outil de choix pour expérimenter. L'élève distillé fait presque aussi bien que son professeur, avec moitié moins de paramètres et une inférence deux fois plus rapide. Tous écrasent le few-shot.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(60 s). Résultat contre-intuitif, et c'est le cœur éthique du projet. Le modèle corrigé est plus juste au sens du mérite : 88 % d'exactitude, et il ne bouge plus quand on change la nationalité ou le club. Pourtant son disparate impact tombe à 0,62. Pourquoi ? Parce que sur la saison test, les Sud-Américains ont réellement de meilleures stats : un modèle fidèle au mérite les sélectionne plus. Si on veut la parité stricte, on ajoute des seuils par groupe : 0,94 de disparate impact pour seulement un point d'exactitude en moins. Le choix entre égalité des chances et parité n'est pas technique, il est éthique, et on le rend explicite.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(60 s). SHAP sur le modèle biaisé, pour Gervinho à gauche et Higuaín à droite. Surprise : la nationalité ne pèse presque rien directement. Tout l'écart est dans la valeur de base, qui dépend du club, que nous ne perturbons pas : 0,08 à Parme, 0,77 à la Juventus. Le contrefactuel le confirme : le même joueur passe de 0,01 au Chievo à 0,20 à l'Inter, le club où il y a le plus de Sud-Américains. Le biais passe par un proxy, exactement le piège décrit en cours. Le modèle corrigé, lui, reste autour de 0,02 quel que soit le club ou la nationalité. Petite remarque : LIME attribue un poids à la nationalité même pour le modèle corrigé, alors que sa sortie ne bouge pas, c'est l'approximation locale de LIME, que le cours signale.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MATHIS (50 s). Notre vraie paire : Gervinho et Higuaín, mêmes stats, et selon leurs stats aucun des deux ne mérite la short-list. Le modèle biaisé donne 3 % à Gervinho et 60 % à Higuaín : vingt fois plus. Le modèle corrigé leur donne 1 % et 3 % : ils sont traités pareil, et conformément à leur niveau. Comme Simon l'a montré avec SHAP, l'écart du modèle biaisé venait surtout du club, et en partie de la nationalité : Higuaín passe de 60 à 48 % si on lui donne la nationalité ivoirienne.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MATHIS (40 s). En bonus, un widget dans le notebook : on choisit un joueur et une saison, et on compare sa valeur Transfermarkt à la valeur que justifient ses stats. Au-delà de +20 % il est surcoté, en dessous de -20 % sous-coté. Exemple : Haaland 2025/26, 200 millions sur Transfermarkt pour 164 justifiés par ses stats, surcoté de 22 %. [Démo live possible avec un joueur choisi par le prof.]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MATHIS (40 s). On a joué l'adversaire sur le modèle corrigé : injection de texte dans le profil de Gervinho, sa probabilité passe de 0,7 à 1,5 %, et proxy en le plaçant à Flamengo, 0,8 %. Le modèle ne se laisse pas manipuler. Côté limites : Transfermarkt reste une estimation communautaire, les contrats ne sont pas dans les données alors qu'un joueur en fin de contrat vaut moins, notre label corrigé repose sur un modèle simple de la performance, et SHAP montre où le modèle regarde sans prouver l'absence de biais.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MATHIS (20 s). Pour conclure : on a mesuré le biais, on l'a réduit sur les données, l'entrée et la sortie, on a choisi le modèle sur un critère qui combine performance et équité, et chaque décision est expliquée. Merci, place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ELOUSE_TITRE">
    <p:bg>
      <p:bgPr>
        <a:solidFill>
          <a:srgbClr val="1F4A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4A1A"/>
          </a:solidFill>
          <a:ln/>
        </p:spPr>
      </p:sp>
      <p:sp>
        <p:nvSpPr>
          <p:cNvPr id="3" name="Shape 1"/>
          <p:cNvSpPr/>
          <p:nvPr/>
        </p:nvSpPr>
        <p:spPr>
          <a:xfrm>
            <a:off x="0" y="0"/>
            <a:ext cx="914400" cy="5143500"/>
          </a:xfrm>
          <a:prstGeom prst="rect">
            <a:avLst/>
          </a:prstGeom>
          <a:solidFill>
            <a:srgbClr val="245421"/>
          </a:solidFill>
          <a:ln/>
        </p:spPr>
      </p:sp>
      <p:sp>
        <p:nvSpPr>
          <p:cNvPr id="4" name="Shape 2"/>
          <p:cNvSpPr/>
          <p:nvPr/>
        </p:nvSpPr>
        <p:spPr>
          <a:xfrm>
            <a:off x="1828800" y="0"/>
            <a:ext cx="914400" cy="5143500"/>
          </a:xfrm>
          <a:prstGeom prst="rect">
            <a:avLst/>
          </a:prstGeom>
          <a:solidFill>
            <a:srgbClr val="245421"/>
          </a:solidFill>
          <a:ln/>
        </p:spPr>
      </p:sp>
      <p:sp>
        <p:nvSpPr>
          <p:cNvPr id="5" name="Shape 3"/>
          <p:cNvSpPr/>
          <p:nvPr/>
        </p:nvSpPr>
        <p:spPr>
          <a:xfrm>
            <a:off x="3657600" y="0"/>
            <a:ext cx="914400" cy="5143500"/>
          </a:xfrm>
          <a:prstGeom prst="rect">
            <a:avLst/>
          </a:prstGeom>
          <a:solidFill>
            <a:srgbClr val="245421"/>
          </a:solidFill>
          <a:ln/>
        </p:spPr>
      </p:sp>
      <p:sp>
        <p:nvSpPr>
          <p:cNvPr id="6" name="Shape 4"/>
          <p:cNvSpPr/>
          <p:nvPr/>
        </p:nvSpPr>
        <p:spPr>
          <a:xfrm>
            <a:off x="5486400" y="0"/>
            <a:ext cx="914400" cy="5143500"/>
          </a:xfrm>
          <a:prstGeom prst="rect">
            <a:avLst/>
          </a:prstGeom>
          <a:solidFill>
            <a:srgbClr val="245421"/>
          </a:solidFill>
          <a:ln/>
        </p:spPr>
      </p:sp>
      <p:sp>
        <p:nvSpPr>
          <p:cNvPr id="7" name="Shape 5"/>
          <p:cNvSpPr/>
          <p:nvPr/>
        </p:nvSpPr>
        <p:spPr>
          <a:xfrm>
            <a:off x="7315200" y="0"/>
            <a:ext cx="914400" cy="5143500"/>
          </a:xfrm>
          <a:prstGeom prst="rect">
            <a:avLst/>
          </a:prstGeom>
          <a:solidFill>
            <a:srgbClr val="245421"/>
          </a:solidFill>
          <a:ln/>
        </p:spPr>
      </p:sp>
      <p:sp>
        <p:nvSpPr>
          <p:cNvPr id="8" name="Shape 6"/>
          <p:cNvSpPr/>
          <p:nvPr/>
        </p:nvSpPr>
        <p:spPr>
          <a:xfrm>
            <a:off x="4572000" y="0"/>
            <a:ext cx="0" cy="5143500"/>
          </a:xfrm>
          <a:prstGeom prst="line">
            <a:avLst/>
          </a:prstGeom>
          <a:noFill/>
          <a:ln w="15875">
            <a:solidFill>
              <a:srgbClr val="3F6D38"/>
            </a:solidFill>
            <a:prstDash val="solid"/>
          </a:ln>
        </p:spPr>
      </p:sp>
      <p:sp>
        <p:nvSpPr>
          <p:cNvPr id="9" name="Shape 7"/>
          <p:cNvSpPr/>
          <p:nvPr/>
        </p:nvSpPr>
        <p:spPr>
          <a:xfrm>
            <a:off x="3749040" y="1746504"/>
            <a:ext cx="1645920" cy="1645920"/>
          </a:xfrm>
          <a:prstGeom prst="rect">
            <a:avLst/>
          </a:prstGeom>
          <a:ln w="15875">
            <a:solidFill>
              <a:srgbClr val="3F6D38"/>
            </a:solidFill>
            <a:prstDash val="solid"/>
          </a:ln>
        </p:spPr>
      </p:sp>
      <p:sp>
        <p:nvSpPr>
          <p:cNvPr id="10" name="Shape 8"/>
          <p:cNvSpPr/>
          <p:nvPr/>
        </p:nvSpPr>
        <p:spPr>
          <a:xfrm>
            <a:off x="320040" y="320040"/>
            <a:ext cx="8503920" cy="4503420"/>
          </a:xfrm>
          <a:prstGeom prst="rect">
            <a:avLst/>
          </a:prstGeom>
          <a:ln w="15875">
            <a:solidFill>
              <a:srgbClr val="3F6D38"/>
            </a:solidFill>
            <a:prstDash val="solid"/>
          </a:ln>
        </p:spPr>
      </p:sp>
      <p:sp>
        <p:nvSpPr>
          <p:cNvPr id="11" name="Shape 9"/>
          <p:cNvSpPr/>
          <p:nvPr/>
        </p:nvSpPr>
        <p:spPr>
          <a:xfrm>
            <a:off x="7635240" y="1463040"/>
            <a:ext cx="1188720" cy="2217420"/>
          </a:xfrm>
          <a:prstGeom prst="rect">
            <a:avLst/>
          </a:prstGeom>
          <a:ln w="15875">
            <a:solidFill>
              <a:srgbClr val="3F6D38"/>
            </a:solidFill>
            <a:prstDash val="solid"/>
          </a:ln>
        </p:spPr>
      </p:sp>
      <p:sp>
        <p:nvSpPr>
          <p:cNvPr id="12" name="Shape 10"/>
          <p:cNvSpPr/>
          <p:nvPr/>
        </p:nvSpPr>
        <p:spPr>
          <a:xfrm>
            <a:off x="320040" y="1463040"/>
            <a:ext cx="1188720" cy="2217420"/>
          </a:xfrm>
          <a:prstGeom prst="rect">
            <a:avLst/>
          </a:prstGeom>
          <a:ln w="15875">
            <a:solidFill>
              <a:srgbClr val="3F6D38"/>
            </a:solidFill>
            <a:prstDash val="solid"/>
          </a:ln>
        </p:spPr>
      </p:sp>
      <p:sp>
        <p:nvSpPr>
          <p:cNvPr id="13" name="Text 11"/>
          <p:cNvSpPr/>
          <p:nvPr>
            <p:ph idx="111" type="body" hasCustomPrompt="1"/>
          </p:nvPr>
        </p:nvSpPr>
        <p:spPr>
          <a:xfrm>
            <a:off x="731520" y="731520"/>
            <a:ext cx="7315200" cy="274320"/>
          </a:xfrm>
          <a:prstGeom prst="rect">
            <a:avLst/>
          </a:prstGeom>
          <a:noFill/>
          <a:ln/>
        </p:spPr>
        <p:txBody>
          <a:bodyPr wrap="square" rtlCol="0"/>
          <a:lstStyle>
            <a:lvl1pPr indent="0" marL="0">
              <a:buNone/>
              <a:defRPr lang="en-US" sz="1100" b="1" spc="300" kern="0" dirty="0">
                <a:solidFill>
                  <a:schemeClr val="accent6"/>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14" name="Text 11"/>
          <p:cNvSpPr/>
          <p:nvPr>
            <p:ph idx="112" type="title" hasCustomPrompt="1"/>
          </p:nvPr>
        </p:nvSpPr>
        <p:spPr>
          <a:xfrm>
            <a:off x="731520" y="1874520"/>
            <a:ext cx="7680960" cy="1371600"/>
          </a:xfrm>
          <a:prstGeom prst="rect">
            <a:avLst/>
          </a:prstGeom>
          <a:noFill/>
          <a:ln/>
        </p:spPr>
        <p:txBody>
          <a:bodyPr wrap="square" rtlCol="0"/>
          <a:lstStyle>
            <a:lvl1pPr algn="l" indent="0" marL="0">
              <a:buNone/>
              <a:defRPr lang="en-US" sz="5400" b="1" dirty="0">
                <a:solidFill>
                  <a:schemeClr val="bg1"/>
                </a:solidFill>
                <a:latin typeface="Arial Narrow" pitchFamily="34" charset="0"/>
                <a:ea typeface="Arial Narrow" pitchFamily="34" charset="-122"/>
                <a:cs typeface="Arial Narrow" pitchFamily="34" charset="-120"/>
              </a:defRPr>
            </a:lvl1pPr>
          </a:lstStyle>
          <a:p>
            <a:pPr algn="l" indent="0" marL="0">
              <a:buNone/>
            </a:pPr>
            <a:endParaRPr lang="en-US" sz="5400" dirty="0"/>
          </a:p>
        </p:txBody>
      </p:sp>
      <p:sp>
        <p:nvSpPr>
          <p:cNvPr id="15" name="Text 11"/>
          <p:cNvSpPr/>
          <p:nvPr>
            <p:ph idx="113" type="body" hasCustomPrompt="1"/>
          </p:nvPr>
        </p:nvSpPr>
        <p:spPr>
          <a:xfrm>
            <a:off x="731520" y="3337560"/>
            <a:ext cx="7680960" cy="457200"/>
          </a:xfrm>
          <a:prstGeom prst="rect">
            <a:avLst/>
          </a:prstGeom>
          <a:noFill/>
          <a:ln/>
        </p:spPr>
        <p:txBody>
          <a:bodyPr wrap="square" rtlCol="0"/>
          <a:lstStyle>
            <a:lvl1pPr indent="0" marL="0">
              <a:buNone/>
              <a:defRPr lang="en-US" sz="2000" dirty="0">
                <a:solidFill>
                  <a:schemeClr val="accent6"/>
                </a:solidFill>
                <a:latin typeface="Calibri" pitchFamily="34" charset="0"/>
                <a:ea typeface="Calibri" pitchFamily="34" charset="-122"/>
                <a:cs typeface="Calibri" pitchFamily="34" charset="-120"/>
              </a:defRPr>
            </a:lvl1pPr>
          </a:lstStyle>
          <a:p>
            <a:pPr indent="0" marL="0">
              <a:buNone/>
            </a:pPr>
            <a:endParaRPr lang="en-US" sz="2000" dirty="0"/>
          </a:p>
        </p:txBody>
      </p:sp>
      <p:sp>
        <p:nvSpPr>
          <p:cNvPr id="16" name="Text 11"/>
          <p:cNvSpPr/>
          <p:nvPr>
            <p:ph idx="114" type="body" hasCustomPrompt="1"/>
          </p:nvPr>
        </p:nvSpPr>
        <p:spPr>
          <a:xfrm>
            <a:off x="731520" y="4160520"/>
            <a:ext cx="7680960" cy="320040"/>
          </a:xfrm>
          <a:prstGeom prst="rect">
            <a:avLst/>
          </a:prstGeom>
          <a:noFill/>
          <a:ln/>
        </p:spPr>
        <p:txBody>
          <a:bodyPr wrap="square" rtlCol="0"/>
          <a:lstStyle>
            <a:lvl1pPr indent="0" marL="0">
              <a:buNone/>
              <a:defRPr lang="en-US" sz="1200" dirty="0">
                <a:solidFill>
                  <a:schemeClr val="bg2"/>
                </a:solidFill>
                <a:latin typeface="Calibri" pitchFamily="34" charset="0"/>
                <a:ea typeface="Calibri" pitchFamily="34" charset="-122"/>
                <a:cs typeface="Calibri" pitchFamily="34" charset="-120"/>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LOUSE_CONTENU">
    <p:bg>
      <p:bgPr>
        <a:solidFill>
          <a:srgbClr val="1F4A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4A1A"/>
          </a:solidFill>
          <a:ln/>
        </p:spPr>
      </p:sp>
      <p:sp>
        <p:nvSpPr>
          <p:cNvPr id="3" name="Shape 1"/>
          <p:cNvSpPr/>
          <p:nvPr/>
        </p:nvSpPr>
        <p:spPr>
          <a:xfrm>
            <a:off x="0" y="0"/>
            <a:ext cx="914400" cy="5143500"/>
          </a:xfrm>
          <a:prstGeom prst="rect">
            <a:avLst/>
          </a:prstGeom>
          <a:solidFill>
            <a:srgbClr val="245421"/>
          </a:solidFill>
          <a:ln/>
        </p:spPr>
      </p:sp>
      <p:sp>
        <p:nvSpPr>
          <p:cNvPr id="4" name="Shape 2"/>
          <p:cNvSpPr/>
          <p:nvPr/>
        </p:nvSpPr>
        <p:spPr>
          <a:xfrm>
            <a:off x="1828800" y="0"/>
            <a:ext cx="914400" cy="5143500"/>
          </a:xfrm>
          <a:prstGeom prst="rect">
            <a:avLst/>
          </a:prstGeom>
          <a:solidFill>
            <a:srgbClr val="245421"/>
          </a:solidFill>
          <a:ln/>
        </p:spPr>
      </p:sp>
      <p:sp>
        <p:nvSpPr>
          <p:cNvPr id="5" name="Shape 3"/>
          <p:cNvSpPr/>
          <p:nvPr/>
        </p:nvSpPr>
        <p:spPr>
          <a:xfrm>
            <a:off x="3657600" y="0"/>
            <a:ext cx="914400" cy="5143500"/>
          </a:xfrm>
          <a:prstGeom prst="rect">
            <a:avLst/>
          </a:prstGeom>
          <a:solidFill>
            <a:srgbClr val="245421"/>
          </a:solidFill>
          <a:ln/>
        </p:spPr>
      </p:sp>
      <p:sp>
        <p:nvSpPr>
          <p:cNvPr id="6" name="Shape 4"/>
          <p:cNvSpPr/>
          <p:nvPr/>
        </p:nvSpPr>
        <p:spPr>
          <a:xfrm>
            <a:off x="5486400" y="0"/>
            <a:ext cx="914400" cy="5143500"/>
          </a:xfrm>
          <a:prstGeom prst="rect">
            <a:avLst/>
          </a:prstGeom>
          <a:solidFill>
            <a:srgbClr val="245421"/>
          </a:solidFill>
          <a:ln/>
        </p:spPr>
      </p:sp>
      <p:sp>
        <p:nvSpPr>
          <p:cNvPr id="7" name="Shape 5"/>
          <p:cNvSpPr/>
          <p:nvPr/>
        </p:nvSpPr>
        <p:spPr>
          <a:xfrm>
            <a:off x="7315200" y="0"/>
            <a:ext cx="914400" cy="5143500"/>
          </a:xfrm>
          <a:prstGeom prst="rect">
            <a:avLst/>
          </a:prstGeom>
          <a:solidFill>
            <a:srgbClr val="245421"/>
          </a:solidFill>
          <a:ln/>
        </p:spPr>
      </p:sp>
      <p:sp>
        <p:nvSpPr>
          <p:cNvPr id="8" name="Shape 6"/>
          <p:cNvSpPr/>
          <p:nvPr/>
        </p:nvSpPr>
        <p:spPr>
          <a:xfrm>
            <a:off x="4572000" y="0"/>
            <a:ext cx="0" cy="5143500"/>
          </a:xfrm>
          <a:prstGeom prst="line">
            <a:avLst/>
          </a:prstGeom>
          <a:noFill/>
          <a:ln w="15875">
            <a:solidFill>
              <a:srgbClr val="3F6D38"/>
            </a:solidFill>
            <a:prstDash val="solid"/>
          </a:ln>
        </p:spPr>
      </p:sp>
      <p:sp>
        <p:nvSpPr>
          <p:cNvPr id="9" name="Shape 7"/>
          <p:cNvSpPr/>
          <p:nvPr/>
        </p:nvSpPr>
        <p:spPr>
          <a:xfrm>
            <a:off x="3749040" y="1746504"/>
            <a:ext cx="1645920" cy="1645920"/>
          </a:xfrm>
          <a:prstGeom prst="rect">
            <a:avLst/>
          </a:prstGeom>
          <a:ln w="15875">
            <a:solidFill>
              <a:srgbClr val="3F6D38"/>
            </a:solidFill>
            <a:prstDash val="solid"/>
          </a:ln>
        </p:spPr>
      </p:sp>
      <p:sp>
        <p:nvSpPr>
          <p:cNvPr id="10" name="Text 8"/>
          <p:cNvSpPr/>
          <p:nvPr>
            <p:ph idx="108" type="body" hasCustomPrompt="1"/>
          </p:nvPr>
        </p:nvSpPr>
        <p:spPr>
          <a:xfrm>
            <a:off x="548640" y="411480"/>
            <a:ext cx="5486400" cy="274320"/>
          </a:xfrm>
          <a:prstGeom prst="rect">
            <a:avLst/>
          </a:prstGeom>
          <a:noFill/>
          <a:ln/>
        </p:spPr>
        <p:txBody>
          <a:bodyPr wrap="square" rtlCol="0"/>
          <a:lstStyle>
            <a:lvl1pPr indent="0" marL="0">
              <a:buNone/>
              <a:defRPr lang="en-US" sz="1100" b="1" spc="300" kern="0" dirty="0">
                <a:solidFill>
                  <a:schemeClr val="accent6"/>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11" name="Text 8"/>
          <p:cNvSpPr/>
          <p:nvPr>
            <p:ph idx="109" type="title" hasCustomPrompt="1"/>
          </p:nvPr>
        </p:nvSpPr>
        <p:spPr>
          <a:xfrm>
            <a:off x="548640" y="658368"/>
            <a:ext cx="8046720" cy="731520"/>
          </a:xfrm>
          <a:prstGeom prst="rect">
            <a:avLst/>
          </a:prstGeom>
          <a:noFill/>
          <a:ln/>
        </p:spPr>
        <p:txBody>
          <a:bodyPr wrap="square" rtlCol="0"/>
          <a:lstStyle>
            <a:lvl1pPr algn="l" indent="0" marL="0">
              <a:buNone/>
              <a:defRPr lang="en-US" sz="3600" b="1" dirty="0">
                <a:solidFill>
                  <a:schemeClr val="bg1"/>
                </a:solidFill>
                <a:latin typeface="Arial Narrow" pitchFamily="34" charset="0"/>
                <a:ea typeface="Arial Narrow" pitchFamily="34" charset="-122"/>
                <a:cs typeface="Arial Narrow" pitchFamily="34" charset="-120"/>
              </a:defRPr>
            </a:lvl1pPr>
          </a:lstStyle>
          <a:p>
            <a:pPr algn="l" indent="0" marL="0">
              <a:buNone/>
            </a:pPr>
            <a:endParaRPr lang="en-US" sz="3600" dirty="0"/>
          </a:p>
        </p:txBody>
      </p:sp>
      <p:sp>
        <p:nvSpPr>
          <p:cNvPr id="12" name="Text 8"/>
          <p:cNvSpPr/>
          <p:nvPr>
            <p:ph idx="110" type="body" hasCustomPrompt="1"/>
          </p:nvPr>
        </p:nvSpPr>
        <p:spPr>
          <a:xfrm>
            <a:off x="5943600" y="4754880"/>
            <a:ext cx="2651760" cy="228600"/>
          </a:xfrm>
          <a:prstGeom prst="rect">
            <a:avLst/>
          </a:prstGeom>
          <a:noFill/>
          <a:ln/>
        </p:spPr>
        <p:txBody>
          <a:bodyPr wrap="square" rtlCol="0"/>
          <a:lstStyle>
            <a:lvl1pPr algn="r" indent="0" marL="0">
              <a:buNone/>
              <a:defRPr lang="en-US" sz="1000" dirty="0">
                <a:solidFill>
                  <a:schemeClr val="accent6"/>
                </a:solidFill>
                <a:latin typeface="Calibri" pitchFamily="34" charset="0"/>
                <a:ea typeface="Calibri" pitchFamily="34" charset="-122"/>
                <a:cs typeface="Calibri" pitchFamily="34" charset="-120"/>
              </a:defRPr>
            </a:lvl1pPr>
          </a:lstStyle>
          <a:p>
            <a:pPr algn="r" indent="0" marL="0">
              <a:buNone/>
            </a:pPr>
            <a:endParaRPr lang="en-US" sz="10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AIR_CONTENU">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rtlCol="0"/>
          <a:lstStyle>
            <a:lvl1pPr indent="0" marL="0">
              <a:buNone/>
              <a:defRPr lang="en-US" sz="1100" b="1" spc="3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rtlCol="0"/>
          <a:lstStyle>
            <a:lvl1pPr algn="l" indent="0" marL="0">
              <a:buNone/>
              <a:defRPr lang="en-US" sz="3600" b="1" dirty="0">
                <a:solidFill>
                  <a:schemeClr val="tx1"/>
                </a:solidFill>
                <a:latin typeface="Arial Narrow" pitchFamily="34" charset="0"/>
                <a:ea typeface="Arial Narrow" pitchFamily="34" charset="-122"/>
                <a:cs typeface="Arial Narrow" pitchFamily="34" charset="-120"/>
              </a:defRPr>
            </a:lvl1pPr>
          </a:lstStyle>
          <a:p>
            <a:pPr algn="l" indent="0" marL="0">
              <a:buNone/>
            </a:pP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rtlCol="0"/>
          <a:lstStyle>
            <a:lvl1pPr algn="r" indent="0" marL="0">
              <a:buNone/>
              <a:defRPr lang="en-US" sz="1000" dirty="0">
                <a:solidFill>
                  <a:schemeClr val="accent5"/>
                </a:solidFill>
                <a:latin typeface="Calibri" pitchFamily="34" charset="0"/>
                <a:ea typeface="Calibri" pitchFamily="34" charset="-122"/>
                <a:cs typeface="Calibri" pitchFamily="34" charset="-120"/>
              </a:defRPr>
            </a:lvl1pPr>
          </a:lstStyle>
          <a:p>
            <a:pPr algn="r" indent="0" marL="0">
              <a:buNone/>
            </a:pPr>
            <a:endParaRPr lang="en-US" sz="10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1"/>
          <p:cNvSpPr/>
          <p:nvPr>
            <p:ph idx="111" type="body" hasCustomPrompt="1"/>
          </p:nvPr>
        </p:nvSpPr>
        <p:spPr>
          <a:xfrm>
            <a:off x="731520" y="731520"/>
            <a:ext cx="7315200" cy="274320"/>
          </a:xfrm>
          <a:prstGeom prst="rect">
            <a:avLst/>
          </a:prstGeom>
          <a:noFill/>
          <a:ln/>
        </p:spPr>
        <p:txBody>
          <a:bodyPr wrap="square" lIns="0" tIns="0" rIns="0" bIns="0" rtlCol="0"/>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ETHICS OF AI #4 · ECE PARIS · ING5 DATA &amp; IA</a:t>
            </a:r>
            <a:endParaRPr lang="en-US" sz="1100" dirty="0"/>
          </a:p>
        </p:txBody>
      </p:sp>
      <p:sp>
        <p:nvSpPr>
          <p:cNvPr id="3" name="Text 11"/>
          <p:cNvSpPr/>
          <p:nvPr>
            <p:ph idx="112" type="title" hasCustomPrompt="1"/>
          </p:nvPr>
        </p:nvSpPr>
        <p:spPr>
          <a:xfrm>
            <a:off x="731520" y="1874520"/>
            <a:ext cx="7680960" cy="1371600"/>
          </a:xfrm>
          <a:prstGeom prst="rect">
            <a:avLst/>
          </a:prstGeom>
          <a:noFill/>
          <a:ln/>
        </p:spPr>
        <p:txBody>
          <a:bodyPr wrap="square" lIns="0" tIns="0" rIns="0" bIns="0" rtlCol="0" anchor="b"/>
          <a:lstStyle/>
          <a:p>
            <a:pPr algn="l" indent="0" marL="0">
              <a:buNone/>
            </a:pPr>
            <a:r>
              <a:rPr lang="en-US" sz="5400" b="1" dirty="0">
                <a:solidFill>
                  <a:schemeClr val="bg1"/>
                </a:solidFill>
                <a:latin typeface="Arial Narrow" pitchFamily="34" charset="0"/>
                <a:ea typeface="Arial Narrow" pitchFamily="34" charset="-122"/>
                <a:cs typeface="Arial Narrow" pitchFamily="34" charset="-120"/>
              </a:rPr>
              <a:t>MÊME STATS, PAS LE MÊME PRIX</a:t>
            </a:r>
            <a:endParaRPr lang="en-US" sz="5400" dirty="0"/>
          </a:p>
        </p:txBody>
      </p:sp>
      <p:sp>
        <p:nvSpPr>
          <p:cNvPr id="4" name="Text 11"/>
          <p:cNvSpPr/>
          <p:nvPr>
            <p:ph idx="113" type="body" hasCustomPrompt="1"/>
          </p:nvPr>
        </p:nvSpPr>
        <p:spPr>
          <a:xfrm>
            <a:off x="731520" y="3337560"/>
            <a:ext cx="7680960" cy="457200"/>
          </a:xfrm>
          <a:prstGeom prst="rect">
            <a:avLst/>
          </a:prstGeom>
          <a:noFill/>
          <a:ln/>
        </p:spPr>
        <p:txBody>
          <a:bodyPr wrap="square" lIns="0" tIns="0" rIns="0" bIns="0" rtlCol="0"/>
          <a:lstStyle/>
          <a:p>
            <a:pPr indent="0" marL="0">
              <a:buNone/>
            </a:pPr>
            <a:r>
              <a:rPr lang="en-US" sz="2000" dirty="0">
                <a:solidFill>
                  <a:schemeClr val="accent6"/>
                </a:solidFill>
                <a:latin typeface="Calibri" pitchFamily="34" charset="0"/>
                <a:ea typeface="Calibri" pitchFamily="34" charset="-122"/>
                <a:cs typeface="Calibri" pitchFamily="34" charset="-120"/>
              </a:rPr>
              <a:t>Débiaiser un LLM de recrutement d'attaquants</a:t>
            </a:r>
            <a:endParaRPr lang="en-US" sz="2000" dirty="0"/>
          </a:p>
        </p:txBody>
      </p:sp>
      <p:sp>
        <p:nvSpPr>
          <p:cNvPr id="5" name="Text 11"/>
          <p:cNvSpPr/>
          <p:nvPr>
            <p:ph idx="114" type="body" hasCustomPrompt="1"/>
          </p:nvPr>
        </p:nvSpPr>
        <p:spPr>
          <a:xfrm>
            <a:off x="731520" y="4160520"/>
            <a:ext cx="7680960" cy="320040"/>
          </a:xfrm>
          <a:prstGeom prst="rect">
            <a:avLst/>
          </a:prstGeom>
          <a:noFill/>
          <a:ln/>
        </p:spPr>
        <p:txBody>
          <a:bodyPr wrap="square" lIns="0" tIns="0" rIns="0" bIns="0" rtlCol="0"/>
          <a:lstStyle/>
          <a:p>
            <a:pPr indent="0" marL="0">
              <a:buNone/>
            </a:pPr>
            <a:r>
              <a:rPr lang="en-US" sz="1200" dirty="0">
                <a:solidFill>
                  <a:schemeClr val="bg2"/>
                </a:solidFill>
                <a:latin typeface="Calibri" pitchFamily="34" charset="0"/>
                <a:ea typeface="Calibri" pitchFamily="34" charset="-122"/>
                <a:cs typeface="Calibri" pitchFamily="34" charset="-120"/>
              </a:rPr>
              <a:t>Simon Gallais · Gautier Deplanque · Mathis Leitao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01 · LE CAS D'USAGE</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UN ASSISTANT DE SHORT-LIST</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Gautier</a:t>
            </a:r>
            <a:endParaRPr lang="en-US" sz="1000" dirty="0"/>
          </a:p>
        </p:txBody>
      </p:sp>
      <p:sp>
        <p:nvSpPr>
          <p:cNvPr id="5" name="Text 3"/>
          <p:cNvSpPr txBox="1"/>
          <p:nvPr/>
        </p:nvSpPr>
        <p:spPr>
          <a:xfrm>
            <a:off x="548640" y="1417320"/>
            <a:ext cx="374904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Le club demande : cet attaquant doit-il entrer dans la short-list des cibles prioritaires (valeur attendue ≥ 10 M€) ?</a:t>
            </a:r>
            <a:endParaRPr lang="en-US" sz="1600" dirty="0"/>
          </a:p>
        </p:txBody>
      </p:sp>
      <p:sp>
        <p:nvSpPr>
          <p:cNvPr id="6" name="Text 4"/>
          <p:cNvSpPr txBox="1"/>
          <p:nvPr/>
        </p:nvSpPr>
        <p:spPr>
          <a:xfrm>
            <a:off x="548640" y="2468880"/>
            <a:ext cx="3749040" cy="64008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Une décision à fort impact sur des personnes : transfert, salaire, carrière.</a:t>
            </a:r>
            <a:endParaRPr lang="en-US" sz="1400" dirty="0"/>
          </a:p>
        </p:txBody>
      </p:sp>
      <p:sp>
        <p:nvSpPr>
          <p:cNvPr id="7" name="Text 5"/>
          <p:cNvSpPr txBox="1"/>
          <p:nvPr/>
        </p:nvSpPr>
        <p:spPr>
          <a:xfrm>
            <a:off x="4754880" y="1417320"/>
            <a:ext cx="3840480" cy="274320"/>
          </a:xfrm>
          <a:prstGeom prst="rect">
            <a:avLst/>
          </a:prstGeom>
          <a:noFill/>
          <a:ln/>
        </p:spPr>
        <p:txBody>
          <a:bodyPr wrap="square" lIns="0" tIns="0" rIns="0" bIns="0" rtlCol="0" anchor="ctr"/>
          <a:lstStyle/>
          <a:p>
            <a:pPr indent="0" marL="0">
              <a:buNone/>
            </a:pPr>
            <a:r>
              <a:rPr lang="en-US" sz="1100" b="1" spc="300" kern="0" dirty="0">
                <a:solidFill>
                  <a:schemeClr val="accent5"/>
                </a:solidFill>
                <a:latin typeface="Calibri" pitchFamily="34" charset="0"/>
                <a:ea typeface="Calibri" pitchFamily="34" charset="-122"/>
                <a:cs typeface="Calibri" pitchFamily="34" charset="-120"/>
              </a:rPr>
              <a:t>PARTIES PRENANTES</a:t>
            </a:r>
            <a:endParaRPr lang="en-US" sz="1100" dirty="0"/>
          </a:p>
        </p:txBody>
      </p:sp>
      <p:sp>
        <p:nvSpPr>
          <p:cNvPr id="8" name="partie_0"/>
          <p:cNvSpPr/>
          <p:nvPr/>
        </p:nvSpPr>
        <p:spPr>
          <a:xfrm>
            <a:off x="4754880" y="1783080"/>
            <a:ext cx="3840480" cy="566928"/>
          </a:xfrm>
          <a:prstGeom prst="roundRect">
            <a:avLst>
              <a:gd name="adj" fmla="val 12903"/>
            </a:avLst>
          </a:prstGeom>
          <a:solidFill>
            <a:srgbClr val="EEF3EA"/>
          </a:solidFill>
          <a:ln/>
        </p:spPr>
      </p:sp>
      <p:sp>
        <p:nvSpPr>
          <p:cNvPr id="9" name="Text 7"/>
          <p:cNvSpPr txBox="1"/>
          <p:nvPr/>
        </p:nvSpPr>
        <p:spPr>
          <a:xfrm>
            <a:off x="4937760" y="1856232"/>
            <a:ext cx="1645920" cy="42062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Joueurs évalués</a:t>
            </a:r>
            <a:endParaRPr lang="en-US" sz="1400" dirty="0"/>
          </a:p>
        </p:txBody>
      </p:sp>
      <p:sp>
        <p:nvSpPr>
          <p:cNvPr id="10" name="Text 8"/>
          <p:cNvSpPr txBox="1"/>
          <p:nvPr/>
        </p:nvSpPr>
        <p:spPr>
          <a:xfrm>
            <a:off x="6583680" y="1856232"/>
            <a:ext cx="1920240" cy="42062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Risque de discrimination</a:t>
            </a:r>
            <a:endParaRPr lang="en-US" sz="1300" dirty="0"/>
          </a:p>
        </p:txBody>
      </p:sp>
      <p:sp>
        <p:nvSpPr>
          <p:cNvPr id="11" name="partie_1"/>
          <p:cNvSpPr/>
          <p:nvPr/>
        </p:nvSpPr>
        <p:spPr>
          <a:xfrm>
            <a:off x="4754880" y="2468880"/>
            <a:ext cx="3840480" cy="566928"/>
          </a:xfrm>
          <a:prstGeom prst="roundRect">
            <a:avLst>
              <a:gd name="adj" fmla="val 12903"/>
            </a:avLst>
          </a:prstGeom>
          <a:solidFill>
            <a:srgbClr val="EEF3EA"/>
          </a:solidFill>
          <a:ln/>
        </p:spPr>
      </p:sp>
      <p:sp>
        <p:nvSpPr>
          <p:cNvPr id="12" name="Text 10"/>
          <p:cNvSpPr txBox="1"/>
          <p:nvPr/>
        </p:nvSpPr>
        <p:spPr>
          <a:xfrm>
            <a:off x="4937760" y="2542032"/>
            <a:ext cx="1645920" cy="42062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Club</a:t>
            </a:r>
            <a:endParaRPr lang="en-US" sz="1400" dirty="0"/>
          </a:p>
        </p:txBody>
      </p:sp>
      <p:sp>
        <p:nvSpPr>
          <p:cNvPr id="13" name="Text 11"/>
          <p:cNvSpPr txBox="1"/>
          <p:nvPr/>
        </p:nvSpPr>
        <p:spPr>
          <a:xfrm>
            <a:off x="6583680" y="2542032"/>
            <a:ext cx="1920240" cy="42062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Talents écartés à tort</a:t>
            </a:r>
            <a:endParaRPr lang="en-US" sz="1300" dirty="0"/>
          </a:p>
        </p:txBody>
      </p:sp>
      <p:sp>
        <p:nvSpPr>
          <p:cNvPr id="14" name="partie_2"/>
          <p:cNvSpPr/>
          <p:nvPr/>
        </p:nvSpPr>
        <p:spPr>
          <a:xfrm>
            <a:off x="4754880" y="3154680"/>
            <a:ext cx="3840480" cy="566928"/>
          </a:xfrm>
          <a:prstGeom prst="roundRect">
            <a:avLst>
              <a:gd name="adj" fmla="val 12903"/>
            </a:avLst>
          </a:prstGeom>
          <a:solidFill>
            <a:srgbClr val="EEF3EA"/>
          </a:solidFill>
          <a:ln/>
        </p:spPr>
      </p:sp>
      <p:sp>
        <p:nvSpPr>
          <p:cNvPr id="15" name="Text 13"/>
          <p:cNvSpPr txBox="1"/>
          <p:nvPr/>
        </p:nvSpPr>
        <p:spPr>
          <a:xfrm>
            <a:off x="4937760" y="3227832"/>
            <a:ext cx="1645920" cy="42062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Agents</a:t>
            </a:r>
            <a:endParaRPr lang="en-US" sz="1400" dirty="0"/>
          </a:p>
        </p:txBody>
      </p:sp>
      <p:sp>
        <p:nvSpPr>
          <p:cNvPr id="16" name="Text 14"/>
          <p:cNvSpPr txBox="1"/>
          <p:nvPr/>
        </p:nvSpPr>
        <p:spPr>
          <a:xfrm>
            <a:off x="6583680" y="3227832"/>
            <a:ext cx="1920240" cy="42062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Pouvoir de négociation</a:t>
            </a:r>
            <a:endParaRPr lang="en-US" sz="1300" dirty="0"/>
          </a:p>
        </p:txBody>
      </p:sp>
      <p:sp>
        <p:nvSpPr>
          <p:cNvPr id="17" name="partie_3"/>
          <p:cNvSpPr/>
          <p:nvPr/>
        </p:nvSpPr>
        <p:spPr>
          <a:xfrm>
            <a:off x="4754880" y="3840480"/>
            <a:ext cx="3840480" cy="566928"/>
          </a:xfrm>
          <a:prstGeom prst="roundRect">
            <a:avLst>
              <a:gd name="adj" fmla="val 12903"/>
            </a:avLst>
          </a:prstGeom>
          <a:solidFill>
            <a:srgbClr val="EEF3EA"/>
          </a:solidFill>
          <a:ln/>
        </p:spPr>
      </p:sp>
      <p:sp>
        <p:nvSpPr>
          <p:cNvPr id="18" name="Text 16"/>
          <p:cNvSpPr txBox="1"/>
          <p:nvPr/>
        </p:nvSpPr>
        <p:spPr>
          <a:xfrm>
            <a:off x="4937760" y="3913632"/>
            <a:ext cx="1645920" cy="42062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Régulateurs</a:t>
            </a:r>
            <a:endParaRPr lang="en-US" sz="1400" dirty="0"/>
          </a:p>
        </p:txBody>
      </p:sp>
      <p:sp>
        <p:nvSpPr>
          <p:cNvPr id="19" name="Text 17"/>
          <p:cNvSpPr txBox="1"/>
          <p:nvPr/>
        </p:nvSpPr>
        <p:spPr>
          <a:xfrm>
            <a:off x="6583680" y="3913632"/>
            <a:ext cx="1920240" cy="420624"/>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AI Act : transparence</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02 · LES DONNÉES</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TRANSFERMARKT, 14 SAISONS</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Gautier</a:t>
            </a:r>
            <a:endParaRPr lang="en-US" sz="1000" dirty="0"/>
          </a:p>
        </p:txBody>
      </p:sp>
      <p:sp>
        <p:nvSpPr>
          <p:cNvPr id="5" name="stat_0"/>
          <p:cNvSpPr/>
          <p:nvPr/>
        </p:nvSpPr>
        <p:spPr>
          <a:xfrm>
            <a:off x="548640" y="1554480"/>
            <a:ext cx="1874520" cy="1463040"/>
          </a:xfrm>
          <a:prstGeom prst="roundRect">
            <a:avLst>
              <a:gd name="adj" fmla="val 5000"/>
            </a:avLst>
          </a:prstGeom>
          <a:solidFill>
            <a:srgbClr val="EEF3EA"/>
          </a:solidFill>
          <a:ln/>
        </p:spPr>
      </p:sp>
      <p:sp>
        <p:nvSpPr>
          <p:cNvPr id="6" name="Text 4"/>
          <p:cNvSpPr txBox="1"/>
          <p:nvPr/>
        </p:nvSpPr>
        <p:spPr>
          <a:xfrm>
            <a:off x="685800" y="1691640"/>
            <a:ext cx="160020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Narrow" pitchFamily="34" charset="0"/>
                <a:ea typeface="Arial Narrow" pitchFamily="34" charset="-122"/>
                <a:cs typeface="Arial Narrow" pitchFamily="34" charset="-120"/>
              </a:rPr>
              <a:t>6 872</a:t>
            </a:r>
            <a:endParaRPr lang="en-US" sz="4000" dirty="0"/>
          </a:p>
        </p:txBody>
      </p:sp>
      <p:sp>
        <p:nvSpPr>
          <p:cNvPr id="7" name="Text 5"/>
          <p:cNvSpPr txBox="1"/>
          <p:nvPr/>
        </p:nvSpPr>
        <p:spPr>
          <a:xfrm>
            <a:off x="685800" y="2514600"/>
            <a:ext cx="1600200" cy="36576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saisons joueur</a:t>
            </a:r>
            <a:endParaRPr lang="en-US" sz="1300" dirty="0"/>
          </a:p>
        </p:txBody>
      </p:sp>
      <p:sp>
        <p:nvSpPr>
          <p:cNvPr id="8" name="stat_1"/>
          <p:cNvSpPr/>
          <p:nvPr/>
        </p:nvSpPr>
        <p:spPr>
          <a:xfrm>
            <a:off x="2606040" y="1554480"/>
            <a:ext cx="1874520" cy="1463040"/>
          </a:xfrm>
          <a:prstGeom prst="roundRect">
            <a:avLst>
              <a:gd name="adj" fmla="val 5000"/>
            </a:avLst>
          </a:prstGeom>
          <a:solidFill>
            <a:srgbClr val="EEF3EA"/>
          </a:solidFill>
          <a:ln/>
        </p:spPr>
      </p:sp>
      <p:sp>
        <p:nvSpPr>
          <p:cNvPr id="9" name="Text 7"/>
          <p:cNvSpPr txBox="1"/>
          <p:nvPr/>
        </p:nvSpPr>
        <p:spPr>
          <a:xfrm>
            <a:off x="2743200" y="1691640"/>
            <a:ext cx="160020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Narrow" pitchFamily="34" charset="0"/>
                <a:ea typeface="Arial Narrow" pitchFamily="34" charset="-122"/>
                <a:cs typeface="Arial Narrow" pitchFamily="34" charset="-120"/>
              </a:rPr>
              <a:t>Big 5</a:t>
            </a:r>
            <a:endParaRPr lang="en-US" sz="4000" dirty="0"/>
          </a:p>
        </p:txBody>
      </p:sp>
      <p:sp>
        <p:nvSpPr>
          <p:cNvPr id="10" name="Text 8"/>
          <p:cNvSpPr txBox="1"/>
          <p:nvPr/>
        </p:nvSpPr>
        <p:spPr>
          <a:xfrm>
            <a:off x="2743200" y="2514600"/>
            <a:ext cx="1600200" cy="36576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championnats</a:t>
            </a:r>
            <a:endParaRPr lang="en-US" sz="1300" dirty="0"/>
          </a:p>
        </p:txBody>
      </p:sp>
      <p:sp>
        <p:nvSpPr>
          <p:cNvPr id="11" name="stat_2"/>
          <p:cNvSpPr/>
          <p:nvPr/>
        </p:nvSpPr>
        <p:spPr>
          <a:xfrm>
            <a:off x="4663440" y="1554480"/>
            <a:ext cx="1874520" cy="1463040"/>
          </a:xfrm>
          <a:prstGeom prst="roundRect">
            <a:avLst>
              <a:gd name="adj" fmla="val 5000"/>
            </a:avLst>
          </a:prstGeom>
          <a:solidFill>
            <a:srgbClr val="EEF3EA"/>
          </a:solidFill>
          <a:ln/>
        </p:spPr>
      </p:sp>
      <p:sp>
        <p:nvSpPr>
          <p:cNvPr id="12" name="Text 10"/>
          <p:cNvSpPr txBox="1"/>
          <p:nvPr/>
        </p:nvSpPr>
        <p:spPr>
          <a:xfrm>
            <a:off x="4800600" y="1691640"/>
            <a:ext cx="160020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Narrow" pitchFamily="34" charset="0"/>
                <a:ea typeface="Arial Narrow" pitchFamily="34" charset="-122"/>
                <a:cs typeface="Arial Narrow" pitchFamily="34" charset="-120"/>
              </a:rPr>
              <a:t>2012-26</a:t>
            </a:r>
            <a:endParaRPr lang="en-US" sz="4000" dirty="0"/>
          </a:p>
        </p:txBody>
      </p:sp>
      <p:sp>
        <p:nvSpPr>
          <p:cNvPr id="13" name="Text 11"/>
          <p:cNvSpPr txBox="1"/>
          <p:nvPr/>
        </p:nvSpPr>
        <p:spPr>
          <a:xfrm>
            <a:off x="4800600" y="2514600"/>
            <a:ext cx="1600200" cy="36576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14 saisons</a:t>
            </a:r>
            <a:endParaRPr lang="en-US" sz="1300" dirty="0"/>
          </a:p>
        </p:txBody>
      </p:sp>
      <p:sp>
        <p:nvSpPr>
          <p:cNvPr id="14" name="stat_3"/>
          <p:cNvSpPr/>
          <p:nvPr/>
        </p:nvSpPr>
        <p:spPr>
          <a:xfrm>
            <a:off x="6720840" y="1554480"/>
            <a:ext cx="1874520" cy="1463040"/>
          </a:xfrm>
          <a:prstGeom prst="roundRect">
            <a:avLst>
              <a:gd name="adj" fmla="val 5000"/>
            </a:avLst>
          </a:prstGeom>
          <a:solidFill>
            <a:srgbClr val="EEF3EA"/>
          </a:solidFill>
          <a:ln/>
        </p:spPr>
      </p:sp>
      <p:sp>
        <p:nvSpPr>
          <p:cNvPr id="15" name="Text 13"/>
          <p:cNvSpPr txBox="1"/>
          <p:nvPr/>
        </p:nvSpPr>
        <p:spPr>
          <a:xfrm>
            <a:off x="6858000" y="1691640"/>
            <a:ext cx="160020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Narrow" pitchFamily="34" charset="0"/>
                <a:ea typeface="Arial Narrow" pitchFamily="34" charset="-122"/>
                <a:cs typeface="Arial Narrow" pitchFamily="34" charset="-120"/>
              </a:rPr>
              <a:t>≥ 450</a:t>
            </a:r>
            <a:endParaRPr lang="en-US" sz="4000" dirty="0"/>
          </a:p>
        </p:txBody>
      </p:sp>
      <p:sp>
        <p:nvSpPr>
          <p:cNvPr id="16" name="Text 14"/>
          <p:cNvSpPr txBox="1"/>
          <p:nvPr/>
        </p:nvSpPr>
        <p:spPr>
          <a:xfrm>
            <a:off x="6858000" y="2514600"/>
            <a:ext cx="1600200" cy="36576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minutes jouées</a:t>
            </a:r>
            <a:endParaRPr lang="en-US" sz="1300" dirty="0"/>
          </a:p>
        </p:txBody>
      </p:sp>
      <p:sp>
        <p:nvSpPr>
          <p:cNvPr id="17" name="Text 15"/>
          <p:cNvSpPr txBox="1"/>
          <p:nvPr/>
        </p:nvSpPr>
        <p:spPr>
          <a:xfrm>
            <a:off x="548640" y="3337560"/>
            <a:ext cx="8046720" cy="64008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Une ligne par attaquant et par saison : matchs, minutes, buts, passes, âge, nationalité, club, championnat et valeur marchande.</a:t>
            </a:r>
            <a:endParaRPr lang="en-US" sz="1500" dirty="0"/>
          </a:p>
        </p:txBody>
      </p:sp>
      <p:sp>
        <p:nvSpPr>
          <p:cNvPr id="18" name="Text 16"/>
          <p:cNvSpPr txBox="1"/>
          <p:nvPr/>
        </p:nvSpPr>
        <p:spPr>
          <a:xfrm>
            <a:off x="548640" y="4114800"/>
            <a:ext cx="804672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Source : Football Data from Transfermarkt (Kaggle)</a:t>
            </a:r>
            <a:endParaRPr lang="en-US" sz="10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8"/>
          <p:cNvSpPr/>
          <p:nvPr>
            <p:ph idx="108"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03 · LE BIAIS</a:t>
            </a:r>
            <a:endParaRPr lang="en-US" sz="1100" dirty="0"/>
          </a:p>
        </p:txBody>
      </p:sp>
      <p:sp>
        <p:nvSpPr>
          <p:cNvPr id="3" name="Text 8"/>
          <p:cNvSpPr/>
          <p:nvPr>
            <p:ph idx="109"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Narrow" pitchFamily="34" charset="0"/>
                <a:ea typeface="Arial Narrow" pitchFamily="34" charset="-122"/>
                <a:cs typeface="Arial Narrow" pitchFamily="34" charset="-120"/>
              </a:rPr>
              <a:t>MÊME STATS, PAS LE MÊME PRIX</a:t>
            </a:r>
            <a:endParaRPr lang="en-US" sz="3600" dirty="0"/>
          </a:p>
        </p:txBody>
      </p:sp>
      <p:sp>
        <p:nvSpPr>
          <p:cNvPr id="4" name="Text 8"/>
          <p:cNvSpPr/>
          <p:nvPr>
            <p:ph idx="110"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6"/>
                </a:solidFill>
                <a:latin typeface="Calibri" pitchFamily="34" charset="0"/>
                <a:ea typeface="Calibri" pitchFamily="34" charset="-122"/>
                <a:cs typeface="Calibri" pitchFamily="34" charset="-120"/>
              </a:rPr>
              <a:t>Gautier</a:t>
            </a:r>
            <a:endParaRPr lang="en-US" sz="1000" dirty="0"/>
          </a:p>
        </p:txBody>
      </p:sp>
      <p:sp>
        <p:nvSpPr>
          <p:cNvPr id="5" name="scoreboard"/>
          <p:cNvSpPr/>
          <p:nvPr/>
        </p:nvSpPr>
        <p:spPr>
          <a:xfrm>
            <a:off x="548640" y="1600200"/>
            <a:ext cx="8046720" cy="1417320"/>
          </a:xfrm>
          <a:prstGeom prst="roundRect">
            <a:avLst>
              <a:gd name="adj" fmla="val 5161"/>
            </a:avLst>
          </a:prstGeom>
          <a:solidFill>
            <a:srgbClr val="0F2A0C"/>
          </a:solidFill>
          <a:ln/>
        </p:spPr>
      </p:sp>
      <p:sp>
        <p:nvSpPr>
          <p:cNvPr id="6" name="Text 4"/>
          <p:cNvSpPr txBox="1"/>
          <p:nvPr/>
        </p:nvSpPr>
        <p:spPr>
          <a:xfrm>
            <a:off x="777240" y="1737360"/>
            <a:ext cx="3017520" cy="274320"/>
          </a:xfrm>
          <a:prstGeom prst="rect">
            <a:avLst/>
          </a:prstGeom>
          <a:noFill/>
          <a:ln/>
        </p:spPr>
        <p:txBody>
          <a:bodyPr wrap="square" lIns="0" tIns="0" rIns="0" bIns="0" rtlCol="0" anchor="ctr"/>
          <a:lstStyle/>
          <a:p>
            <a:pPr indent="0" marL="0">
              <a:buNone/>
            </a:pPr>
            <a:r>
              <a:rPr lang="en-US" sz="1100" b="1" spc="200" kern="0" dirty="0">
                <a:solidFill>
                  <a:schemeClr val="accent6"/>
                </a:solidFill>
                <a:latin typeface="Calibri" pitchFamily="34" charset="0"/>
                <a:ea typeface="Calibri" pitchFamily="34" charset="-122"/>
                <a:cs typeface="Calibri" pitchFamily="34" charset="-120"/>
              </a:rPr>
              <a:t>GERVINHO · CÔTE D'IVOIRE · PARMA</a:t>
            </a:r>
            <a:endParaRPr lang="en-US" sz="1100" dirty="0"/>
          </a:p>
        </p:txBody>
      </p:sp>
      <p:sp>
        <p:nvSpPr>
          <p:cNvPr id="7" name="Text 5"/>
          <p:cNvSpPr txBox="1"/>
          <p:nvPr/>
        </p:nvSpPr>
        <p:spPr>
          <a:xfrm>
            <a:off x="777240" y="2011680"/>
            <a:ext cx="2743200" cy="868680"/>
          </a:xfrm>
          <a:prstGeom prst="rect">
            <a:avLst/>
          </a:prstGeom>
          <a:noFill/>
          <a:ln/>
        </p:spPr>
        <p:txBody>
          <a:bodyPr wrap="square" lIns="0" tIns="0" rIns="0" bIns="0" rtlCol="0" anchor="ctr"/>
          <a:lstStyle/>
          <a:p>
            <a:pPr indent="0" marL="0">
              <a:buNone/>
            </a:pPr>
            <a:r>
              <a:rPr lang="en-US" sz="5400" b="1" dirty="0">
                <a:solidFill>
                  <a:schemeClr val="bg1"/>
                </a:solidFill>
                <a:latin typeface="Arial Narrow" pitchFamily="34" charset="0"/>
                <a:ea typeface="Arial Narrow" pitchFamily="34" charset="-122"/>
                <a:cs typeface="Arial Narrow" pitchFamily="34" charset="-120"/>
              </a:rPr>
              <a:t>5,5 M€</a:t>
            </a:r>
            <a:endParaRPr lang="en-US" sz="5400" dirty="0"/>
          </a:p>
        </p:txBody>
      </p:sp>
      <p:sp>
        <p:nvSpPr>
          <p:cNvPr id="8" name="Text 6"/>
          <p:cNvSpPr txBox="1"/>
          <p:nvPr/>
        </p:nvSpPr>
        <p:spPr>
          <a:xfrm>
            <a:off x="3566160" y="1965960"/>
            <a:ext cx="2011680" cy="822960"/>
          </a:xfrm>
          <a:prstGeom prst="rect">
            <a:avLst/>
          </a:prstGeom>
          <a:noFill/>
          <a:ln/>
        </p:spPr>
        <p:txBody>
          <a:bodyPr wrap="square" lIns="0" tIns="0" rIns="0" bIns="0" rtlCol="0" anchor="ctr"/>
          <a:lstStyle/>
          <a:p>
            <a:pPr algn="ctr" indent="0" marL="0">
              <a:buNone/>
            </a:pPr>
            <a:r>
              <a:rPr lang="en-US" sz="1000" dirty="0">
                <a:solidFill>
                  <a:schemeClr val="accent6"/>
                </a:solidFill>
                <a:latin typeface="Calibri" pitchFamily="34" charset="0"/>
                <a:ea typeface="Calibri" pitchFamily="34" charset="-122"/>
                <a:cs typeface="Calibri" pitchFamily="34" charset="-120"/>
              </a:rPr>
              <a:t>SERIE A 2019/20</a:t>
            </a:r>
            <a:endParaRPr lang="en-US" sz="1000" dirty="0"/>
          </a:p>
          <a:p>
            <a:pPr algn="ctr" indent="0" marL="0">
              <a:buNone/>
            </a:pPr>
            <a:r>
              <a:rPr lang="en-US" sz="1500" b="1" dirty="0">
                <a:solidFill>
                  <a:schemeClr val="bg1"/>
                </a:solidFill>
                <a:latin typeface="Calibri" pitchFamily="34" charset="0"/>
                <a:ea typeface="Calibri" pitchFamily="34" charset="-122"/>
                <a:cs typeface="Calibri" pitchFamily="34" charset="-120"/>
              </a:rPr>
              <a:t>6 buts · 4 passes</a:t>
            </a:r>
            <a:endParaRPr lang="en-US" sz="1000" dirty="0"/>
          </a:p>
        </p:txBody>
      </p:sp>
      <p:sp>
        <p:nvSpPr>
          <p:cNvPr id="9" name="Text 7"/>
          <p:cNvSpPr txBox="1"/>
          <p:nvPr/>
        </p:nvSpPr>
        <p:spPr>
          <a:xfrm>
            <a:off x="5349240" y="1737360"/>
            <a:ext cx="3017520" cy="274320"/>
          </a:xfrm>
          <a:prstGeom prst="rect">
            <a:avLst/>
          </a:prstGeom>
          <a:noFill/>
          <a:ln/>
        </p:spPr>
        <p:txBody>
          <a:bodyPr wrap="square" lIns="0" tIns="0" rIns="0" bIns="0" rtlCol="0" anchor="ctr"/>
          <a:lstStyle/>
          <a:p>
            <a:pPr algn="r" indent="0" marL="0">
              <a:buNone/>
            </a:pPr>
            <a:r>
              <a:rPr lang="en-US" sz="1100" b="1" spc="200" kern="0" dirty="0">
                <a:solidFill>
                  <a:schemeClr val="accent6"/>
                </a:solidFill>
                <a:latin typeface="Calibri" pitchFamily="34" charset="0"/>
                <a:ea typeface="Calibri" pitchFamily="34" charset="-122"/>
                <a:cs typeface="Calibri" pitchFamily="34" charset="-120"/>
              </a:rPr>
              <a:t>HIGUAÍN · ARGENTINE · JUVENTUS</a:t>
            </a:r>
            <a:endParaRPr lang="en-US" sz="1100" dirty="0"/>
          </a:p>
        </p:txBody>
      </p:sp>
      <p:sp>
        <p:nvSpPr>
          <p:cNvPr id="10" name="Text 8"/>
          <p:cNvSpPr txBox="1"/>
          <p:nvPr/>
        </p:nvSpPr>
        <p:spPr>
          <a:xfrm>
            <a:off x="5623560" y="2011680"/>
            <a:ext cx="2743200" cy="868680"/>
          </a:xfrm>
          <a:prstGeom prst="rect">
            <a:avLst/>
          </a:prstGeom>
          <a:noFill/>
          <a:ln/>
        </p:spPr>
        <p:txBody>
          <a:bodyPr wrap="square" lIns="0" tIns="0" rIns="0" bIns="0" rtlCol="0" anchor="ctr"/>
          <a:lstStyle/>
          <a:p>
            <a:pPr algn="r" indent="0" marL="0">
              <a:buNone/>
            </a:pPr>
            <a:r>
              <a:rPr lang="en-US" sz="5400" b="1" dirty="0">
                <a:solidFill>
                  <a:schemeClr val="accent3"/>
                </a:solidFill>
                <a:latin typeface="Arial Narrow" pitchFamily="34" charset="0"/>
                <a:ea typeface="Arial Narrow" pitchFamily="34" charset="-122"/>
                <a:cs typeface="Arial Narrow" pitchFamily="34" charset="-120"/>
              </a:rPr>
              <a:t>25,5 M€</a:t>
            </a:r>
            <a:endParaRPr lang="en-US" sz="5400" dirty="0"/>
          </a:p>
        </p:txBody>
      </p:sp>
      <p:sp>
        <p:nvSpPr>
          <p:cNvPr id="11" name="Text 9"/>
          <p:cNvSpPr txBox="1"/>
          <p:nvPr/>
        </p:nvSpPr>
        <p:spPr>
          <a:xfrm>
            <a:off x="548640" y="3246120"/>
            <a:ext cx="2468880" cy="685800"/>
          </a:xfrm>
          <a:prstGeom prst="rect">
            <a:avLst/>
          </a:prstGeom>
          <a:noFill/>
          <a:ln/>
        </p:spPr>
        <p:txBody>
          <a:bodyPr wrap="square" lIns="0" tIns="0" rIns="0" bIns="0" rtlCol="0" anchor="ctr"/>
          <a:lstStyle/>
          <a:p>
            <a:pPr indent="0" marL="0">
              <a:buNone/>
            </a:pPr>
            <a:r>
              <a:rPr lang="en-US" sz="4000" b="1" dirty="0">
                <a:solidFill>
                  <a:schemeClr val="accent3"/>
                </a:solidFill>
                <a:latin typeface="Arial Narrow" pitchFamily="34" charset="0"/>
                <a:ea typeface="Arial Narrow" pitchFamily="34" charset="-122"/>
                <a:cs typeface="Arial Narrow" pitchFamily="34" charset="-120"/>
              </a:rPr>
              <a:t>+25 %</a:t>
            </a:r>
            <a:endParaRPr lang="en-US" sz="4000" dirty="0"/>
          </a:p>
        </p:txBody>
      </p:sp>
      <p:sp>
        <p:nvSpPr>
          <p:cNvPr id="12" name="Text 10"/>
          <p:cNvSpPr txBox="1"/>
          <p:nvPr/>
        </p:nvSpPr>
        <p:spPr>
          <a:xfrm>
            <a:off x="548640" y="3931920"/>
            <a:ext cx="2468880" cy="54864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Amérique du Sud</a:t>
            </a:r>
            <a:endParaRPr lang="en-US" sz="1300" dirty="0"/>
          </a:p>
        </p:txBody>
      </p:sp>
      <p:sp>
        <p:nvSpPr>
          <p:cNvPr id="13" name="Text 11"/>
          <p:cNvSpPr txBox="1"/>
          <p:nvPr/>
        </p:nvSpPr>
        <p:spPr>
          <a:xfrm>
            <a:off x="3246120" y="3246120"/>
            <a:ext cx="2468880" cy="685800"/>
          </a:xfrm>
          <a:prstGeom prst="rect">
            <a:avLst/>
          </a:prstGeom>
          <a:noFill/>
          <a:ln/>
        </p:spPr>
        <p:txBody>
          <a:bodyPr wrap="square" lIns="0" tIns="0" rIns="0" bIns="0" rtlCol="0" anchor="ctr"/>
          <a:lstStyle/>
          <a:p>
            <a:pPr indent="0" marL="0">
              <a:buNone/>
            </a:pPr>
            <a:r>
              <a:rPr lang="en-US" sz="4000" b="1" dirty="0">
                <a:solidFill>
                  <a:schemeClr val="accent4"/>
                </a:solidFill>
                <a:latin typeface="Arial Narrow" pitchFamily="34" charset="0"/>
                <a:ea typeface="Arial Narrow" pitchFamily="34" charset="-122"/>
                <a:cs typeface="Arial Narrow" pitchFamily="34" charset="-120"/>
              </a:rPr>
              <a:t>-8 %</a:t>
            </a:r>
            <a:endParaRPr lang="en-US" sz="4000" dirty="0"/>
          </a:p>
        </p:txBody>
      </p:sp>
      <p:sp>
        <p:nvSpPr>
          <p:cNvPr id="14" name="Text 12"/>
          <p:cNvSpPr txBox="1"/>
          <p:nvPr/>
        </p:nvSpPr>
        <p:spPr>
          <a:xfrm>
            <a:off x="3246120" y="3931920"/>
            <a:ext cx="2468880" cy="54864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Afrique</a:t>
            </a:r>
            <a:endParaRPr lang="en-US" sz="1300" dirty="0"/>
          </a:p>
        </p:txBody>
      </p:sp>
      <p:sp>
        <p:nvSpPr>
          <p:cNvPr id="15" name="Text 13"/>
          <p:cNvSpPr txBox="1"/>
          <p:nvPr/>
        </p:nvSpPr>
        <p:spPr>
          <a:xfrm>
            <a:off x="5943600" y="3246120"/>
            <a:ext cx="2468880" cy="685800"/>
          </a:xfrm>
          <a:prstGeom prst="rect">
            <a:avLst/>
          </a:prstGeom>
          <a:noFill/>
          <a:ln/>
        </p:spPr>
        <p:txBody>
          <a:bodyPr wrap="square" lIns="0" tIns="0" rIns="0" bIns="0" rtlCol="0" anchor="ctr"/>
          <a:lstStyle/>
          <a:p>
            <a:pPr indent="0" marL="0">
              <a:buNone/>
            </a:pPr>
            <a:r>
              <a:rPr lang="en-US" sz="4000" b="1" dirty="0">
                <a:solidFill>
                  <a:schemeClr val="bg1"/>
                </a:solidFill>
                <a:latin typeface="Arial Narrow" pitchFamily="34" charset="0"/>
                <a:ea typeface="Arial Narrow" pitchFamily="34" charset="-122"/>
                <a:cs typeface="Arial Narrow" pitchFamily="34" charset="-120"/>
              </a:rPr>
              <a:t>0,65</a:t>
            </a:r>
            <a:endParaRPr lang="en-US" sz="4000" dirty="0"/>
          </a:p>
        </p:txBody>
      </p:sp>
      <p:sp>
        <p:nvSpPr>
          <p:cNvPr id="16" name="Text 14"/>
          <p:cNvSpPr txBox="1"/>
          <p:nvPr/>
        </p:nvSpPr>
        <p:spPr>
          <a:xfrm>
            <a:off x="5943600" y="3931920"/>
            <a:ext cx="2468880" cy="54864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disparate impact du label historique (seuil : 0,8)</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04 · RÉDUCTION DU BIAIS</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TROIS LEVIERS, À TROIS ENDROITS</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Simon</a:t>
            </a:r>
            <a:endParaRPr lang="en-US" sz="1000" dirty="0"/>
          </a:p>
        </p:txBody>
      </p:sp>
      <p:sp>
        <p:nvSpPr>
          <p:cNvPr id="5" name="levier_0"/>
          <p:cNvSpPr/>
          <p:nvPr/>
        </p:nvSpPr>
        <p:spPr>
          <a:xfrm>
            <a:off x="548640" y="1508760"/>
            <a:ext cx="2560320" cy="2926080"/>
          </a:xfrm>
          <a:prstGeom prst="roundRect">
            <a:avLst>
              <a:gd name="adj" fmla="val 2857"/>
            </a:avLst>
          </a:prstGeom>
          <a:solidFill>
            <a:srgbClr val="EEF3EA"/>
          </a:solidFill>
          <a:ln/>
        </p:spPr>
      </p:sp>
      <p:sp>
        <p:nvSpPr>
          <p:cNvPr id="6" name="Text 4"/>
          <p:cNvSpPr txBox="1"/>
          <p:nvPr/>
        </p:nvSpPr>
        <p:spPr>
          <a:xfrm>
            <a:off x="731520" y="1645920"/>
            <a:ext cx="914400" cy="548640"/>
          </a:xfrm>
          <a:prstGeom prst="rect">
            <a:avLst/>
          </a:prstGeom>
          <a:noFill/>
          <a:ln/>
        </p:spPr>
        <p:txBody>
          <a:bodyPr wrap="square" lIns="0" tIns="0" rIns="0" bIns="0" rtlCol="0" anchor="ctr"/>
          <a:lstStyle/>
          <a:p>
            <a:pPr indent="0" marL="0">
              <a:buNone/>
            </a:pPr>
            <a:r>
              <a:rPr lang="en-US" sz="3200" b="1" dirty="0">
                <a:solidFill>
                  <a:schemeClr val="accent2"/>
                </a:solidFill>
                <a:latin typeface="Arial Narrow" pitchFamily="34" charset="0"/>
                <a:ea typeface="Arial Narrow" pitchFamily="34" charset="-122"/>
                <a:cs typeface="Arial Narrow" pitchFamily="34" charset="-120"/>
              </a:rPr>
              <a:t>01</a:t>
            </a:r>
            <a:endParaRPr lang="en-US" sz="3200" dirty="0"/>
          </a:p>
        </p:txBody>
      </p:sp>
      <p:sp>
        <p:nvSpPr>
          <p:cNvPr id="7" name="Text 5"/>
          <p:cNvSpPr txBox="1"/>
          <p:nvPr/>
        </p:nvSpPr>
        <p:spPr>
          <a:xfrm>
            <a:off x="731520" y="2240280"/>
            <a:ext cx="2194560" cy="274320"/>
          </a:xfrm>
          <a:prstGeom prst="rect">
            <a:avLst/>
          </a:prstGeom>
          <a:noFill/>
          <a:ln/>
        </p:spPr>
        <p:txBody>
          <a:bodyPr wrap="square" lIns="0" tIns="0" rIns="0" bIns="0" rtlCol="0" anchor="ctr"/>
          <a:lstStyle/>
          <a:p>
            <a:pPr indent="0" marL="0">
              <a:buNone/>
            </a:pPr>
            <a:r>
              <a:rPr lang="en-US" sz="1100" b="1" spc="300" kern="0" dirty="0">
                <a:solidFill>
                  <a:schemeClr val="accent5"/>
                </a:solidFill>
                <a:latin typeface="Calibri" pitchFamily="34" charset="0"/>
                <a:ea typeface="Calibri" pitchFamily="34" charset="-122"/>
                <a:cs typeface="Calibri" pitchFamily="34" charset="-120"/>
              </a:rPr>
              <a:t>DONNÉES</a:t>
            </a:r>
            <a:endParaRPr lang="en-US" sz="1100" dirty="0"/>
          </a:p>
        </p:txBody>
      </p:sp>
      <p:sp>
        <p:nvSpPr>
          <p:cNvPr id="8" name="Text 6"/>
          <p:cNvSpPr txBox="1"/>
          <p:nvPr/>
        </p:nvSpPr>
        <p:spPr>
          <a:xfrm>
            <a:off x="731520" y="2514600"/>
            <a:ext cx="2194560" cy="5943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Relabeling et reweighing</a:t>
            </a:r>
            <a:endParaRPr lang="en-US" sz="1600" dirty="0"/>
          </a:p>
        </p:txBody>
      </p:sp>
      <p:sp>
        <p:nvSpPr>
          <p:cNvPr id="9" name="Text 7"/>
          <p:cNvSpPr txBox="1"/>
          <p:nvPr/>
        </p:nvSpPr>
        <p:spPr>
          <a:xfrm>
            <a:off x="731520" y="3154680"/>
            <a:ext cx="219456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Label corrigé : valeur attendue d'après la seule performance. Poids qui rendent le label indépendant du groupe.</a:t>
            </a:r>
            <a:endParaRPr lang="en-US" sz="1300" dirty="0"/>
          </a:p>
        </p:txBody>
      </p:sp>
      <p:sp>
        <p:nvSpPr>
          <p:cNvPr id="10" name="levier_1"/>
          <p:cNvSpPr/>
          <p:nvPr/>
        </p:nvSpPr>
        <p:spPr>
          <a:xfrm>
            <a:off x="3291840" y="1508760"/>
            <a:ext cx="2560320" cy="2926080"/>
          </a:xfrm>
          <a:prstGeom prst="roundRect">
            <a:avLst>
              <a:gd name="adj" fmla="val 2857"/>
            </a:avLst>
          </a:prstGeom>
          <a:solidFill>
            <a:srgbClr val="EEF3EA"/>
          </a:solidFill>
          <a:ln/>
        </p:spPr>
      </p:sp>
      <p:sp>
        <p:nvSpPr>
          <p:cNvPr id="11" name="Text 9"/>
          <p:cNvSpPr txBox="1"/>
          <p:nvPr/>
        </p:nvSpPr>
        <p:spPr>
          <a:xfrm>
            <a:off x="3474720" y="1645920"/>
            <a:ext cx="914400" cy="548640"/>
          </a:xfrm>
          <a:prstGeom prst="rect">
            <a:avLst/>
          </a:prstGeom>
          <a:noFill/>
          <a:ln/>
        </p:spPr>
        <p:txBody>
          <a:bodyPr wrap="square" lIns="0" tIns="0" rIns="0" bIns="0" rtlCol="0" anchor="ctr"/>
          <a:lstStyle/>
          <a:p>
            <a:pPr indent="0" marL="0">
              <a:buNone/>
            </a:pPr>
            <a:r>
              <a:rPr lang="en-US" sz="3200" b="1" dirty="0">
                <a:solidFill>
                  <a:schemeClr val="accent2"/>
                </a:solidFill>
                <a:latin typeface="Arial Narrow" pitchFamily="34" charset="0"/>
                <a:ea typeface="Arial Narrow" pitchFamily="34" charset="-122"/>
                <a:cs typeface="Arial Narrow" pitchFamily="34" charset="-120"/>
              </a:rPr>
              <a:t>02</a:t>
            </a:r>
            <a:endParaRPr lang="en-US" sz="3200" dirty="0"/>
          </a:p>
        </p:txBody>
      </p:sp>
      <p:sp>
        <p:nvSpPr>
          <p:cNvPr id="12" name="Text 10"/>
          <p:cNvSpPr txBox="1"/>
          <p:nvPr/>
        </p:nvSpPr>
        <p:spPr>
          <a:xfrm>
            <a:off x="3474720" y="2240280"/>
            <a:ext cx="2194560" cy="274320"/>
          </a:xfrm>
          <a:prstGeom prst="rect">
            <a:avLst/>
          </a:prstGeom>
          <a:noFill/>
          <a:ln/>
        </p:spPr>
        <p:txBody>
          <a:bodyPr wrap="square" lIns="0" tIns="0" rIns="0" bIns="0" rtlCol="0" anchor="ctr"/>
          <a:lstStyle/>
          <a:p>
            <a:pPr indent="0" marL="0">
              <a:buNone/>
            </a:pPr>
            <a:r>
              <a:rPr lang="en-US" sz="1100" b="1" spc="300" kern="0" dirty="0">
                <a:solidFill>
                  <a:schemeClr val="accent5"/>
                </a:solidFill>
                <a:latin typeface="Calibri" pitchFamily="34" charset="0"/>
                <a:ea typeface="Calibri" pitchFamily="34" charset="-122"/>
                <a:cs typeface="Calibri" pitchFamily="34" charset="-120"/>
              </a:rPr>
              <a:t>ENTRÉE</a:t>
            </a:r>
            <a:endParaRPr lang="en-US" sz="1100" dirty="0"/>
          </a:p>
        </p:txBody>
      </p:sp>
      <p:sp>
        <p:nvSpPr>
          <p:cNvPr id="13" name="Text 11"/>
          <p:cNvSpPr txBox="1"/>
          <p:nvPr/>
        </p:nvSpPr>
        <p:spPr>
          <a:xfrm>
            <a:off x="3474720" y="2514600"/>
            <a:ext cx="2194560" cy="5943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Masquage de la nationalité</a:t>
            </a:r>
            <a:endParaRPr lang="en-US" sz="1600" dirty="0"/>
          </a:p>
        </p:txBody>
      </p:sp>
      <p:sp>
        <p:nvSpPr>
          <p:cNvPr id="14" name="Text 12"/>
          <p:cNvSpPr txBox="1"/>
          <p:nvPr/>
        </p:nvSpPr>
        <p:spPr>
          <a:xfrm>
            <a:off x="3474720" y="3154680"/>
            <a:ext cx="219456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 nationalité disparaît du prompt. Insuffisant seul : le club peut servir de proxy.</a:t>
            </a:r>
            <a:endParaRPr lang="en-US" sz="1300" dirty="0"/>
          </a:p>
        </p:txBody>
      </p:sp>
      <p:sp>
        <p:nvSpPr>
          <p:cNvPr id="15" name="levier_2"/>
          <p:cNvSpPr/>
          <p:nvPr/>
        </p:nvSpPr>
        <p:spPr>
          <a:xfrm>
            <a:off x="6035040" y="1508760"/>
            <a:ext cx="2560320" cy="2926080"/>
          </a:xfrm>
          <a:prstGeom prst="roundRect">
            <a:avLst>
              <a:gd name="adj" fmla="val 2857"/>
            </a:avLst>
          </a:prstGeom>
          <a:solidFill>
            <a:srgbClr val="EEF3EA"/>
          </a:solidFill>
          <a:ln/>
        </p:spPr>
      </p:sp>
      <p:sp>
        <p:nvSpPr>
          <p:cNvPr id="16" name="Text 14"/>
          <p:cNvSpPr txBox="1"/>
          <p:nvPr/>
        </p:nvSpPr>
        <p:spPr>
          <a:xfrm>
            <a:off x="6217920" y="1645920"/>
            <a:ext cx="914400" cy="548640"/>
          </a:xfrm>
          <a:prstGeom prst="rect">
            <a:avLst/>
          </a:prstGeom>
          <a:noFill/>
          <a:ln/>
        </p:spPr>
        <p:txBody>
          <a:bodyPr wrap="square" lIns="0" tIns="0" rIns="0" bIns="0" rtlCol="0" anchor="ctr"/>
          <a:lstStyle/>
          <a:p>
            <a:pPr indent="0" marL="0">
              <a:buNone/>
            </a:pPr>
            <a:r>
              <a:rPr lang="en-US" sz="3200" b="1" dirty="0">
                <a:solidFill>
                  <a:schemeClr val="accent2"/>
                </a:solidFill>
                <a:latin typeface="Arial Narrow" pitchFamily="34" charset="0"/>
                <a:ea typeface="Arial Narrow" pitchFamily="34" charset="-122"/>
                <a:cs typeface="Arial Narrow" pitchFamily="34" charset="-120"/>
              </a:rPr>
              <a:t>03</a:t>
            </a:r>
            <a:endParaRPr lang="en-US" sz="3200" dirty="0"/>
          </a:p>
        </p:txBody>
      </p:sp>
      <p:sp>
        <p:nvSpPr>
          <p:cNvPr id="17" name="Text 15"/>
          <p:cNvSpPr txBox="1"/>
          <p:nvPr/>
        </p:nvSpPr>
        <p:spPr>
          <a:xfrm>
            <a:off x="6217920" y="2240280"/>
            <a:ext cx="2194560" cy="274320"/>
          </a:xfrm>
          <a:prstGeom prst="rect">
            <a:avLst/>
          </a:prstGeom>
          <a:noFill/>
          <a:ln/>
        </p:spPr>
        <p:txBody>
          <a:bodyPr wrap="square" lIns="0" tIns="0" rIns="0" bIns="0" rtlCol="0" anchor="ctr"/>
          <a:lstStyle/>
          <a:p>
            <a:pPr indent="0" marL="0">
              <a:buNone/>
            </a:pPr>
            <a:r>
              <a:rPr lang="en-US" sz="1100" b="1" spc="300" kern="0" dirty="0">
                <a:solidFill>
                  <a:schemeClr val="accent5"/>
                </a:solidFill>
                <a:latin typeface="Calibri" pitchFamily="34" charset="0"/>
                <a:ea typeface="Calibri" pitchFamily="34" charset="-122"/>
                <a:cs typeface="Calibri" pitchFamily="34" charset="-120"/>
              </a:rPr>
              <a:t>SORTIE</a:t>
            </a:r>
            <a:endParaRPr lang="en-US" sz="1100" dirty="0"/>
          </a:p>
        </p:txBody>
      </p:sp>
      <p:sp>
        <p:nvSpPr>
          <p:cNvPr id="18" name="Text 16"/>
          <p:cNvSpPr txBox="1"/>
          <p:nvPr/>
        </p:nvSpPr>
        <p:spPr>
          <a:xfrm>
            <a:off x="6217920" y="2514600"/>
            <a:ext cx="2194560" cy="5943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Seuils par groupe</a:t>
            </a:r>
            <a:endParaRPr lang="en-US" sz="1600" dirty="0"/>
          </a:p>
        </p:txBody>
      </p:sp>
      <p:sp>
        <p:nvSpPr>
          <p:cNvPr id="19" name="Text 17"/>
          <p:cNvSpPr txBox="1"/>
          <p:nvPr/>
        </p:nvSpPr>
        <p:spPr>
          <a:xfrm>
            <a:off x="6217920" y="3154680"/>
            <a:ext cx="219456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Post-traitement sur P(YES) pour viser la parité démographique.</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05 · ADAPTER LE LLM</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QWEN2.5-0.5B, TROIS MÉTHODES</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Simon</a:t>
            </a:r>
            <a:endParaRPr lang="en-US" sz="1000" dirty="0"/>
          </a:p>
        </p:txBody>
      </p:sp>
      <p:sp>
        <p:nvSpPr>
          <p:cNvPr id="5" name="methode_0"/>
          <p:cNvSpPr/>
          <p:nvPr/>
        </p:nvSpPr>
        <p:spPr>
          <a:xfrm>
            <a:off x="548640" y="1508760"/>
            <a:ext cx="2560320" cy="2514600"/>
          </a:xfrm>
          <a:prstGeom prst="roundRect">
            <a:avLst>
              <a:gd name="adj" fmla="val 2909"/>
            </a:avLst>
          </a:prstGeom>
          <a:solidFill>
            <a:srgbClr val="EEF3EA"/>
          </a:solidFill>
          <a:ln/>
        </p:spPr>
      </p:sp>
      <p:sp>
        <p:nvSpPr>
          <p:cNvPr id="6" name="Text 4"/>
          <p:cNvSpPr txBox="1"/>
          <p:nvPr/>
        </p:nvSpPr>
        <p:spPr>
          <a:xfrm>
            <a:off x="731520" y="1645920"/>
            <a:ext cx="2194560" cy="36576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Fine-tuning complet</a:t>
            </a:r>
            <a:endParaRPr lang="en-US" sz="1600" dirty="0"/>
          </a:p>
        </p:txBody>
      </p:sp>
      <p:sp>
        <p:nvSpPr>
          <p:cNvPr id="7" name="Text 5"/>
          <p:cNvSpPr txBox="1"/>
          <p:nvPr/>
        </p:nvSpPr>
        <p:spPr>
          <a:xfrm>
            <a:off x="731520" y="205740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Narrow" pitchFamily="34" charset="0"/>
                <a:ea typeface="Arial Narrow" pitchFamily="34" charset="-122"/>
                <a:cs typeface="Arial Narrow" pitchFamily="34" charset="-120"/>
              </a:rPr>
              <a:t>494 M</a:t>
            </a:r>
            <a:endParaRPr lang="en-US" sz="4000" dirty="0"/>
          </a:p>
        </p:txBody>
      </p:sp>
      <p:sp>
        <p:nvSpPr>
          <p:cNvPr id="8" name="Text 6"/>
          <p:cNvSpPr txBox="1"/>
          <p:nvPr/>
        </p:nvSpPr>
        <p:spPr>
          <a:xfrm>
            <a:off x="731520" y="2743200"/>
            <a:ext cx="2194560" cy="27432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paramètres entraînés</a:t>
            </a:r>
            <a:endParaRPr lang="en-US" sz="1100" dirty="0"/>
          </a:p>
        </p:txBody>
      </p:sp>
      <p:sp>
        <p:nvSpPr>
          <p:cNvPr id="9" name="Text 7"/>
          <p:cNvSpPr txBox="1"/>
          <p:nvPr/>
        </p:nvSpPr>
        <p:spPr>
          <a:xfrm>
            <a:off x="731520" y="3063240"/>
            <a:ext cx="219456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Tous les poids sont ajustés. Le plus performant attendu, le plus coûteux.</a:t>
            </a:r>
            <a:endParaRPr lang="en-US" sz="1300" dirty="0"/>
          </a:p>
        </p:txBody>
      </p:sp>
      <p:sp>
        <p:nvSpPr>
          <p:cNvPr id="10" name="methode_1"/>
          <p:cNvSpPr/>
          <p:nvPr/>
        </p:nvSpPr>
        <p:spPr>
          <a:xfrm>
            <a:off x="3291840" y="1508760"/>
            <a:ext cx="2560320" cy="2514600"/>
          </a:xfrm>
          <a:prstGeom prst="roundRect">
            <a:avLst>
              <a:gd name="adj" fmla="val 2909"/>
            </a:avLst>
          </a:prstGeom>
          <a:solidFill>
            <a:srgbClr val="EEF3EA"/>
          </a:solidFill>
          <a:ln/>
        </p:spPr>
      </p:sp>
      <p:sp>
        <p:nvSpPr>
          <p:cNvPr id="11" name="Text 9"/>
          <p:cNvSpPr txBox="1"/>
          <p:nvPr/>
        </p:nvSpPr>
        <p:spPr>
          <a:xfrm>
            <a:off x="3474720" y="1645920"/>
            <a:ext cx="2194560" cy="36576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LoRA</a:t>
            </a:r>
            <a:endParaRPr lang="en-US" sz="1600" dirty="0"/>
          </a:p>
        </p:txBody>
      </p:sp>
      <p:sp>
        <p:nvSpPr>
          <p:cNvPr id="12" name="Text 10"/>
          <p:cNvSpPr txBox="1"/>
          <p:nvPr/>
        </p:nvSpPr>
        <p:spPr>
          <a:xfrm>
            <a:off x="3474720" y="205740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Narrow" pitchFamily="34" charset="0"/>
                <a:ea typeface="Arial Narrow" pitchFamily="34" charset="-122"/>
                <a:cs typeface="Arial Narrow" pitchFamily="34" charset="-120"/>
              </a:rPr>
              <a:t>2,2 M</a:t>
            </a:r>
            <a:endParaRPr lang="en-US" sz="4000" dirty="0"/>
          </a:p>
        </p:txBody>
      </p:sp>
      <p:sp>
        <p:nvSpPr>
          <p:cNvPr id="13" name="Text 11"/>
          <p:cNvSpPr txBox="1"/>
          <p:nvPr/>
        </p:nvSpPr>
        <p:spPr>
          <a:xfrm>
            <a:off x="3474720" y="2743200"/>
            <a:ext cx="2194560" cy="27432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paramètres entraînés</a:t>
            </a:r>
            <a:endParaRPr lang="en-US" sz="1100" dirty="0"/>
          </a:p>
        </p:txBody>
      </p:sp>
      <p:sp>
        <p:nvSpPr>
          <p:cNvPr id="14" name="Text 12"/>
          <p:cNvSpPr txBox="1"/>
          <p:nvPr/>
        </p:nvSpPr>
        <p:spPr>
          <a:xfrm>
            <a:off x="3474720" y="3063240"/>
            <a:ext cx="219456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Matrices de rang 16 sur l'attention, environ 0,4 % du modèle.</a:t>
            </a:r>
            <a:endParaRPr lang="en-US" sz="1300" dirty="0"/>
          </a:p>
        </p:txBody>
      </p:sp>
      <p:sp>
        <p:nvSpPr>
          <p:cNvPr id="15" name="methode_2"/>
          <p:cNvSpPr/>
          <p:nvPr/>
        </p:nvSpPr>
        <p:spPr>
          <a:xfrm>
            <a:off x="6035040" y="1508760"/>
            <a:ext cx="2560320" cy="2514600"/>
          </a:xfrm>
          <a:prstGeom prst="roundRect">
            <a:avLst>
              <a:gd name="adj" fmla="val 2909"/>
            </a:avLst>
          </a:prstGeom>
          <a:solidFill>
            <a:srgbClr val="1F4A1A"/>
          </a:solidFill>
          <a:ln/>
        </p:spPr>
      </p:sp>
      <p:sp>
        <p:nvSpPr>
          <p:cNvPr id="16" name="Text 14"/>
          <p:cNvSpPr txBox="1"/>
          <p:nvPr/>
        </p:nvSpPr>
        <p:spPr>
          <a:xfrm>
            <a:off x="6217920" y="1645920"/>
            <a:ext cx="2194560" cy="36576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Distillation</a:t>
            </a:r>
            <a:endParaRPr lang="en-US" sz="1600" dirty="0"/>
          </a:p>
        </p:txBody>
      </p:sp>
      <p:sp>
        <p:nvSpPr>
          <p:cNvPr id="17" name="Text 15"/>
          <p:cNvSpPr txBox="1"/>
          <p:nvPr/>
        </p:nvSpPr>
        <p:spPr>
          <a:xfrm>
            <a:off x="6217920" y="2057400"/>
            <a:ext cx="2194560" cy="685800"/>
          </a:xfrm>
          <a:prstGeom prst="rect">
            <a:avLst/>
          </a:prstGeom>
          <a:noFill/>
          <a:ln/>
        </p:spPr>
        <p:txBody>
          <a:bodyPr wrap="square" lIns="0" tIns="0" rIns="0" bIns="0" rtlCol="0" anchor="ctr"/>
          <a:lstStyle/>
          <a:p>
            <a:pPr indent="0" marL="0">
              <a:buNone/>
            </a:pPr>
            <a:r>
              <a:rPr lang="en-US" sz="4000" b="1" dirty="0">
                <a:solidFill>
                  <a:schemeClr val="accent6"/>
                </a:solidFill>
                <a:latin typeface="Arial Narrow" pitchFamily="34" charset="0"/>
                <a:ea typeface="Arial Narrow" pitchFamily="34" charset="-122"/>
                <a:cs typeface="Arial Narrow" pitchFamily="34" charset="-120"/>
              </a:rPr>
              <a:t>8 / 24</a:t>
            </a:r>
            <a:endParaRPr lang="en-US" sz="4000" dirty="0"/>
          </a:p>
        </p:txBody>
      </p:sp>
      <p:sp>
        <p:nvSpPr>
          <p:cNvPr id="18" name="Text 16"/>
          <p:cNvSpPr txBox="1"/>
          <p:nvPr/>
        </p:nvSpPr>
        <p:spPr>
          <a:xfrm>
            <a:off x="6217920" y="2743200"/>
            <a:ext cx="2194560" cy="274320"/>
          </a:xfrm>
          <a:prstGeom prst="rect">
            <a:avLst/>
          </a:prstGeom>
          <a:noFill/>
          <a:ln/>
        </p:spPr>
        <p:txBody>
          <a:bodyPr wrap="square" lIns="0" tIns="0" rIns="0" bIns="0" rtlCol="0" anchor="ctr"/>
          <a:lstStyle/>
          <a:p>
            <a:pPr indent="0" marL="0">
              <a:buNone/>
            </a:pPr>
            <a:r>
              <a:rPr lang="en-US" sz="1100" dirty="0">
                <a:solidFill>
                  <a:schemeClr val="accent6"/>
                </a:solidFill>
                <a:latin typeface="Calibri" pitchFamily="34" charset="0"/>
                <a:ea typeface="Calibri" pitchFamily="34" charset="-122"/>
                <a:cs typeface="Calibri" pitchFamily="34" charset="-120"/>
              </a:rPr>
              <a:t>couches pour l'élève</a:t>
            </a:r>
            <a:endParaRPr lang="en-US" sz="1100" dirty="0"/>
          </a:p>
        </p:txBody>
      </p:sp>
      <p:sp>
        <p:nvSpPr>
          <p:cNvPr id="19" name="Text 17"/>
          <p:cNvSpPr txBox="1"/>
          <p:nvPr/>
        </p:nvSpPr>
        <p:spPr>
          <a:xfrm>
            <a:off x="6217920" y="3063240"/>
            <a:ext cx="2194560" cy="86868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Un élève plus petit imite le modèle fine-tuné : KL + vrai label.</a:t>
            </a:r>
            <a:endParaRPr lang="en-US" sz="1300" dirty="0"/>
          </a:p>
        </p:txBody>
      </p:sp>
      <p:sp>
        <p:nvSpPr>
          <p:cNvPr id="20" name="Text 18"/>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i="1" dirty="0">
                <a:solidFill>
                  <a:schemeClr val="accent5"/>
                </a:solidFill>
                <a:latin typeface="Calibri" pitchFamily="34" charset="0"/>
                <a:ea typeface="Calibri" pitchFamily="34" charset="-122"/>
                <a:cs typeface="Calibri" pitchFamily="34" charset="-120"/>
              </a:rPr>
              <a:t>Chaque méthode en version biaisée et corrigée. Références sans entraînement : zero-shot, few-shot, RAG.</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06 · BENCHMARK</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TROIS MÉTHODES COMPARÉES</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Simon</a:t>
            </a:r>
            <a:endParaRPr lang="en-US" sz="1000" dirty="0"/>
          </a:p>
        </p:txBody>
      </p:sp>
      <p:graphicFrame>
        <p:nvGraphicFramePr>
          <p:cNvPr id="8" name="tableau_benchmark"/>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914400"/>
        </p:xfrm>
        <a:graphic>
          <a:graphicData uri="http://schemas.openxmlformats.org/drawingml/2006/table">
            <a:tbl>
              <a:tblPr/>
              <a:tblGrid>
                <a:gridCol w="2103120"/>
                <a:gridCol w="1097280"/>
                <a:gridCol w="914400"/>
                <a:gridCol w="1371600"/>
                <a:gridCol w="1280160"/>
                <a:gridCol w="12801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Version corrigée</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1F4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F1 (mérite)</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1F4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1F4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 entraînés</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1F4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Entraînement</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1F4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Inférence / 100</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1F4A1A"/>
                    </a:solidFill>
                  </a:tcPr>
                </a:tc>
              </a:tr>
              <a:tr h="384048">
                <a:tc>
                  <a:txBody>
                    <a:bodyPr/>
                    <a:lstStyle/>
                    <a:p>
                      <a:pPr indent="0" marL="0">
                        <a:buNone/>
                      </a:pPr>
                      <a:r>
                        <a:rPr lang="en-US" sz="1200" b="1" dirty="0">
                          <a:solidFill>
                            <a:srgbClr val="16261A"/>
                          </a:solidFill>
                          <a:latin typeface="Calibri" pitchFamily="34" charset="0"/>
                          <a:ea typeface="Calibri" pitchFamily="34" charset="-122"/>
                          <a:cs typeface="Calibri" pitchFamily="34" charset="-120"/>
                        </a:rPr>
                        <a:t>LoRA</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DDEBD0"/>
                    </a:solidFill>
                  </a:tcPr>
                </a:tc>
                <a:tc>
                  <a:txBody>
                    <a:bodyPr/>
                    <a:lstStyle/>
                    <a:p>
                      <a:pPr indent="0" marL="0">
                        <a:buNone/>
                      </a:pPr>
                      <a:r>
                        <a:rPr lang="en-US" sz="1200" b="1" dirty="0">
                          <a:solidFill>
                            <a:srgbClr val="16261A"/>
                          </a:solidFill>
                          <a:latin typeface="Calibri" pitchFamily="34" charset="0"/>
                          <a:ea typeface="Calibri" pitchFamily="34" charset="-122"/>
                          <a:cs typeface="Calibri" pitchFamily="34" charset="-120"/>
                        </a:rPr>
                        <a:t>0,839</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DDEBD0"/>
                    </a:solidFill>
                  </a:tcPr>
                </a:tc>
                <a:tc>
                  <a:txBody>
                    <a:bodyPr/>
                    <a:lstStyle/>
                    <a:p>
                      <a:pPr indent="0" marL="0">
                        <a:buNone/>
                      </a:pPr>
                      <a:r>
                        <a:rPr lang="en-US" sz="1200" b="1" dirty="0">
                          <a:solidFill>
                            <a:srgbClr val="16261A"/>
                          </a:solidFill>
                          <a:latin typeface="Calibri" pitchFamily="34" charset="0"/>
                          <a:ea typeface="Calibri" pitchFamily="34" charset="-122"/>
                          <a:cs typeface="Calibri" pitchFamily="34" charset="-120"/>
                        </a:rPr>
                        <a:t>0,990</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DDEBD0"/>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2,2 M</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DDEBD0"/>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 10 min*</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DDEBD0"/>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1,1 s</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DDEBD0"/>
                    </a:solidFill>
                  </a:tcPr>
                </a:tc>
              </a:tr>
              <a:tr h="384048">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Fine-tuning complet</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0,725</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0,964</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494 M</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8,8 min</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1,0 s</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Distillation</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EEF3EA"/>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0,737</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EEF3EA"/>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0,968</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EEF3EA"/>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255 M</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EEF3EA"/>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5,1 min</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EEF3EA"/>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0,5 s</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EEF3EA"/>
                    </a:solidFill>
                  </a:tcPr>
                </a:tc>
              </a:tr>
              <a:tr h="384048">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Few-shot (référence)</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0,644</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0,697</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c>
                  <a:txBody>
                    <a:bodyPr/>
                    <a:lstStyle/>
                    <a:p>
                      <a:pPr indent="0" marL="0">
                        <a:buNone/>
                      </a:pPr>
                      <a:r>
                        <a:rPr lang="en-US" sz="1200" dirty="0">
                          <a:solidFill>
                            <a:srgbClr val="16261A"/>
                          </a:solidFill>
                          <a:latin typeface="Calibri" pitchFamily="34" charset="0"/>
                          <a:ea typeface="Calibri" pitchFamily="34" charset="-122"/>
                          <a:cs typeface="Calibri" pitchFamily="34" charset="-120"/>
                        </a:rPr>
                        <a:t>3,0 s</a:t>
                      </a:r>
                      <a:endParaRPr lang="en-US" sz="1200" dirty="0">
                        <a:latin typeface="Calibri" charset="0"/>
                        <a:ea typeface="Calibri" charset="0"/>
                        <a:cs typeface="Calibri" charset="0"/>
                      </a:endParaRPr>
                    </a:p>
                  </a:txBody>
                  <a:tcPr marL="91440" marR="91440" marT="45720" marB="45720" anchor="ctr">
                    <a:lnL w="6350" cap="flat" cmpd="sng" algn="ctr">
                      <a:solidFill>
                        <a:srgbClr val="D8E2D2"/>
                      </a:solidFill>
                      <a:prstDash val="solid"/>
                      <a:round/>
                      <a:headEnd type="none" w="med" len="med"/>
                      <a:tailEnd type="none" w="med" len="med"/>
                    </a:lnL>
                    <a:lnR w="6350" cap="flat" cmpd="sng" algn="ctr">
                      <a:solidFill>
                        <a:srgbClr val="D8E2D2"/>
                      </a:solidFill>
                      <a:prstDash val="solid"/>
                      <a:round/>
                      <a:headEnd type="none" w="med" len="med"/>
                      <a:tailEnd type="none" w="med" len="med"/>
                    </a:lnR>
                    <a:lnT w="6350" cap="flat" cmpd="sng" algn="ctr">
                      <a:solidFill>
                        <a:srgbClr val="D8E2D2"/>
                      </a:solidFill>
                      <a:prstDash val="solid"/>
                      <a:round/>
                      <a:headEnd type="none" w="med" len="med"/>
                      <a:tailEnd type="none" w="med" len="med"/>
                    </a:lnT>
                    <a:lnB w="6350" cap="flat" cmpd="sng" algn="ctr">
                      <a:solidFill>
                        <a:srgbClr val="D8E2D2"/>
                      </a:solidFill>
                      <a:prstDash val="solid"/>
                      <a:round/>
                      <a:headEnd type="none" w="med" len="med"/>
                      <a:tailEnd type="none" w="med" len="med"/>
                    </a:lnB>
                    <a:solidFill>
                      <a:srgbClr val="FFFFFF"/>
                    </a:solidFill>
                  </a:tcPr>
                </a:tc>
              </a:tr>
            </a:tbl>
          </a:graphicData>
        </a:graphic>
      </p:graphicFrame>
      <p:sp>
        <p:nvSpPr>
          <p:cNvPr id="6" name="retenu"/>
          <p:cNvSpPr/>
          <p:nvPr/>
        </p:nvSpPr>
        <p:spPr>
          <a:xfrm>
            <a:off x="548640" y="3611880"/>
            <a:ext cx="8046720" cy="731520"/>
          </a:xfrm>
          <a:prstGeom prst="roundRect">
            <a:avLst>
              <a:gd name="adj" fmla="val 10000"/>
            </a:avLst>
          </a:prstGeom>
          <a:solidFill>
            <a:srgbClr val="EEF3EA"/>
          </a:solidFill>
          <a:ln/>
        </p:spPr>
      </p:sp>
      <p:sp>
        <p:nvSpPr>
          <p:cNvPr id="7" name="Text 4"/>
          <p:cNvSpPr txBox="1"/>
          <p:nvPr/>
        </p:nvSpPr>
        <p:spPr>
          <a:xfrm>
            <a:off x="731520" y="3675888"/>
            <a:ext cx="7680960" cy="60350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Retenu : LoRA corrigé.  </a:t>
            </a:r>
            <a:pPr indent="0" marL="0">
              <a:buNone/>
            </a:pPr>
            <a:r>
              <a:rPr lang="en-US" sz="1300" dirty="0">
                <a:solidFill>
                  <a:schemeClr val="tx1"/>
                </a:solidFill>
                <a:latin typeface="Calibri" pitchFamily="34" charset="0"/>
                <a:ea typeface="Calibri" pitchFamily="34" charset="-122"/>
                <a:cs typeface="Calibri" pitchFamily="34" charset="-120"/>
              </a:rPr>
              <a:t>Meilleure F1 avec 200 fois moins de paramètres entraînés que le fine-tuning complet. L'élève distillé est 2 fois plus rapide en inférence.</a:t>
            </a:r>
            <a:endParaRPr lang="en-US" sz="1300" dirty="0"/>
          </a:p>
        </p:txBody>
      </p:sp>
      <p:sp>
        <p:nvSpPr>
          <p:cNvPr id="8" name="Text 5"/>
          <p:cNvSpPr txBox="1"/>
          <p:nvPr/>
        </p:nvSpPr>
        <p:spPr>
          <a:xfrm>
            <a:off x="548640" y="4416552"/>
            <a:ext cx="8046720" cy="22860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 adaptateurs entraînés lors d'un run précédent. F1 et AUC mesurées par rapport au label corrigé, sur 300 joueurs de la saison 2025/26.</a:t>
            </a:r>
            <a:endParaRPr lang="en-US" sz="10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07 · ÉQUITÉ</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MÉRITE OU PARITÉ ?</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Simon</a:t>
            </a:r>
            <a:endParaRPr lang="en-US" sz="1000" dirty="0"/>
          </a:p>
        </p:txBody>
      </p:sp>
      <p:sp>
        <p:nvSpPr>
          <p:cNvPr id="5" name="equite_0"/>
          <p:cNvSpPr/>
          <p:nvPr/>
        </p:nvSpPr>
        <p:spPr>
          <a:xfrm>
            <a:off x="548640" y="1463040"/>
            <a:ext cx="2560320" cy="2377440"/>
          </a:xfrm>
          <a:prstGeom prst="roundRect">
            <a:avLst>
              <a:gd name="adj" fmla="val 3077"/>
            </a:avLst>
          </a:prstGeom>
          <a:solidFill>
            <a:srgbClr val="EEF3EA"/>
          </a:solidFill>
          <a:ln/>
        </p:spPr>
      </p:sp>
      <p:sp>
        <p:nvSpPr>
          <p:cNvPr id="6" name="Text 4"/>
          <p:cNvSpPr txBox="1"/>
          <p:nvPr/>
        </p:nvSpPr>
        <p:spPr>
          <a:xfrm>
            <a:off x="731520" y="1572768"/>
            <a:ext cx="219456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Modèle biaisé</a:t>
            </a:r>
            <a:endParaRPr lang="en-US" sz="1500" dirty="0"/>
          </a:p>
        </p:txBody>
      </p:sp>
      <p:sp>
        <p:nvSpPr>
          <p:cNvPr id="7" name="Text 5"/>
          <p:cNvSpPr txBox="1"/>
          <p:nvPr/>
        </p:nvSpPr>
        <p:spPr>
          <a:xfrm>
            <a:off x="731520" y="1920240"/>
            <a:ext cx="1097280" cy="594360"/>
          </a:xfrm>
          <a:prstGeom prst="rect">
            <a:avLst/>
          </a:prstGeom>
          <a:noFill/>
          <a:ln/>
        </p:spPr>
        <p:txBody>
          <a:bodyPr wrap="square" lIns="0" tIns="0" rIns="0" bIns="0" rtlCol="0" anchor="ctr"/>
          <a:lstStyle/>
          <a:p>
            <a:pPr indent="0" marL="0">
              <a:buNone/>
            </a:pPr>
            <a:r>
              <a:rPr lang="en-US" sz="3600" b="1" dirty="0">
                <a:solidFill>
                  <a:schemeClr val="accent1"/>
                </a:solidFill>
                <a:latin typeface="Arial Narrow" pitchFamily="34" charset="0"/>
                <a:ea typeface="Arial Narrow" pitchFamily="34" charset="-122"/>
                <a:cs typeface="Arial Narrow" pitchFamily="34" charset="-120"/>
              </a:rPr>
              <a:t>0,83</a:t>
            </a:r>
            <a:endParaRPr lang="en-US" sz="3600" dirty="0"/>
          </a:p>
        </p:txBody>
      </p:sp>
      <p:sp>
        <p:nvSpPr>
          <p:cNvPr id="8" name="Text 6"/>
          <p:cNvSpPr txBox="1"/>
          <p:nvPr/>
        </p:nvSpPr>
        <p:spPr>
          <a:xfrm>
            <a:off x="731520" y="2514600"/>
            <a:ext cx="109728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disparate impact</a:t>
            </a:r>
            <a:endParaRPr lang="en-US" sz="1000" dirty="0"/>
          </a:p>
        </p:txBody>
      </p:sp>
      <p:sp>
        <p:nvSpPr>
          <p:cNvPr id="9" name="Text 7"/>
          <p:cNvSpPr txBox="1"/>
          <p:nvPr/>
        </p:nvSpPr>
        <p:spPr>
          <a:xfrm>
            <a:off x="1828800" y="1920240"/>
            <a:ext cx="1097280" cy="594360"/>
          </a:xfrm>
          <a:prstGeom prst="rect">
            <a:avLst/>
          </a:prstGeom>
          <a:noFill/>
          <a:ln/>
        </p:spPr>
        <p:txBody>
          <a:bodyPr wrap="square" lIns="0" tIns="0" rIns="0" bIns="0" rtlCol="0" anchor="ctr"/>
          <a:lstStyle/>
          <a:p>
            <a:pPr indent="0" marL="0">
              <a:buNone/>
            </a:pPr>
            <a:r>
              <a:rPr lang="en-US" sz="3600" b="1" dirty="0">
                <a:solidFill>
                  <a:schemeClr val="tx1"/>
                </a:solidFill>
                <a:latin typeface="Arial Narrow" pitchFamily="34" charset="0"/>
                <a:ea typeface="Arial Narrow" pitchFamily="34" charset="-122"/>
                <a:cs typeface="Arial Narrow" pitchFamily="34" charset="-120"/>
              </a:rPr>
              <a:t>0,80</a:t>
            </a:r>
            <a:endParaRPr lang="en-US" sz="3600" dirty="0"/>
          </a:p>
        </p:txBody>
      </p:sp>
      <p:sp>
        <p:nvSpPr>
          <p:cNvPr id="10" name="Text 8"/>
          <p:cNvSpPr txBox="1"/>
          <p:nvPr/>
        </p:nvSpPr>
        <p:spPr>
          <a:xfrm>
            <a:off x="1828800" y="2514600"/>
            <a:ext cx="109728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exactitude (mérite)</a:t>
            </a:r>
            <a:endParaRPr lang="en-US" sz="1000" dirty="0"/>
          </a:p>
        </p:txBody>
      </p:sp>
      <p:sp>
        <p:nvSpPr>
          <p:cNvPr id="11" name="Text 9"/>
          <p:cNvSpPr txBox="1"/>
          <p:nvPr/>
        </p:nvSpPr>
        <p:spPr>
          <a:xfrm>
            <a:off x="731520" y="2880360"/>
            <a:ext cx="219456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Apprend les valeurs du marché, préjugés compris</a:t>
            </a:r>
            <a:endParaRPr lang="en-US" sz="1300" dirty="0"/>
          </a:p>
        </p:txBody>
      </p:sp>
      <p:sp>
        <p:nvSpPr>
          <p:cNvPr id="12" name="equite_1"/>
          <p:cNvSpPr/>
          <p:nvPr/>
        </p:nvSpPr>
        <p:spPr>
          <a:xfrm>
            <a:off x="3291840" y="1463040"/>
            <a:ext cx="2560320" cy="2377440"/>
          </a:xfrm>
          <a:prstGeom prst="roundRect">
            <a:avLst>
              <a:gd name="adj" fmla="val 3077"/>
            </a:avLst>
          </a:prstGeom>
          <a:solidFill>
            <a:srgbClr val="EEF3EA"/>
          </a:solidFill>
          <a:ln/>
        </p:spPr>
      </p:sp>
      <p:sp>
        <p:nvSpPr>
          <p:cNvPr id="13" name="Text 11"/>
          <p:cNvSpPr txBox="1"/>
          <p:nvPr/>
        </p:nvSpPr>
        <p:spPr>
          <a:xfrm>
            <a:off x="3474720" y="1572768"/>
            <a:ext cx="219456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Modèle corrigé</a:t>
            </a:r>
            <a:endParaRPr lang="en-US" sz="1500" dirty="0"/>
          </a:p>
        </p:txBody>
      </p:sp>
      <p:sp>
        <p:nvSpPr>
          <p:cNvPr id="14" name="Text 12"/>
          <p:cNvSpPr txBox="1"/>
          <p:nvPr/>
        </p:nvSpPr>
        <p:spPr>
          <a:xfrm>
            <a:off x="3474720" y="1920240"/>
            <a:ext cx="1097280" cy="594360"/>
          </a:xfrm>
          <a:prstGeom prst="rect">
            <a:avLst/>
          </a:prstGeom>
          <a:noFill/>
          <a:ln/>
        </p:spPr>
        <p:txBody>
          <a:bodyPr wrap="square" lIns="0" tIns="0" rIns="0" bIns="0" rtlCol="0" anchor="ctr"/>
          <a:lstStyle/>
          <a:p>
            <a:pPr indent="0" marL="0">
              <a:buNone/>
            </a:pPr>
            <a:r>
              <a:rPr lang="en-US" sz="3600" b="1" dirty="0">
                <a:solidFill>
                  <a:schemeClr val="accent1"/>
                </a:solidFill>
                <a:latin typeface="Arial Narrow" pitchFamily="34" charset="0"/>
                <a:ea typeface="Arial Narrow" pitchFamily="34" charset="-122"/>
                <a:cs typeface="Arial Narrow" pitchFamily="34" charset="-120"/>
              </a:rPr>
              <a:t>0,62</a:t>
            </a:r>
            <a:endParaRPr lang="en-US" sz="3600" dirty="0"/>
          </a:p>
        </p:txBody>
      </p:sp>
      <p:sp>
        <p:nvSpPr>
          <p:cNvPr id="15" name="Text 13"/>
          <p:cNvSpPr txBox="1"/>
          <p:nvPr/>
        </p:nvSpPr>
        <p:spPr>
          <a:xfrm>
            <a:off x="3474720" y="2514600"/>
            <a:ext cx="109728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disparate impact</a:t>
            </a:r>
            <a:endParaRPr lang="en-US" sz="1000" dirty="0"/>
          </a:p>
        </p:txBody>
      </p:sp>
      <p:sp>
        <p:nvSpPr>
          <p:cNvPr id="16" name="Text 14"/>
          <p:cNvSpPr txBox="1"/>
          <p:nvPr/>
        </p:nvSpPr>
        <p:spPr>
          <a:xfrm>
            <a:off x="4572000" y="1920240"/>
            <a:ext cx="1097280" cy="594360"/>
          </a:xfrm>
          <a:prstGeom prst="rect">
            <a:avLst/>
          </a:prstGeom>
          <a:noFill/>
          <a:ln/>
        </p:spPr>
        <p:txBody>
          <a:bodyPr wrap="square" lIns="0" tIns="0" rIns="0" bIns="0" rtlCol="0" anchor="ctr"/>
          <a:lstStyle/>
          <a:p>
            <a:pPr indent="0" marL="0">
              <a:buNone/>
            </a:pPr>
            <a:r>
              <a:rPr lang="en-US" sz="3600" b="1" dirty="0">
                <a:solidFill>
                  <a:schemeClr val="tx1"/>
                </a:solidFill>
                <a:latin typeface="Arial Narrow" pitchFamily="34" charset="0"/>
                <a:ea typeface="Arial Narrow" pitchFamily="34" charset="-122"/>
                <a:cs typeface="Arial Narrow" pitchFamily="34" charset="-120"/>
              </a:rPr>
              <a:t>0,88</a:t>
            </a:r>
            <a:endParaRPr lang="en-US" sz="3600" dirty="0"/>
          </a:p>
        </p:txBody>
      </p:sp>
      <p:sp>
        <p:nvSpPr>
          <p:cNvPr id="17" name="Text 15"/>
          <p:cNvSpPr txBox="1"/>
          <p:nvPr/>
        </p:nvSpPr>
        <p:spPr>
          <a:xfrm>
            <a:off x="4572000" y="2514600"/>
            <a:ext cx="109728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exactitude (mérite)</a:t>
            </a:r>
            <a:endParaRPr lang="en-US" sz="1000" dirty="0"/>
          </a:p>
        </p:txBody>
      </p:sp>
      <p:sp>
        <p:nvSpPr>
          <p:cNvPr id="18" name="Text 16"/>
          <p:cNvSpPr txBox="1"/>
          <p:nvPr/>
        </p:nvSpPr>
        <p:spPr>
          <a:xfrm>
            <a:off x="3474720" y="2880360"/>
            <a:ext cx="219456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Suit le mérite sportif : invariant à la nationalité et au club</a:t>
            </a:r>
            <a:endParaRPr lang="en-US" sz="1300" dirty="0"/>
          </a:p>
        </p:txBody>
      </p:sp>
      <p:sp>
        <p:nvSpPr>
          <p:cNvPr id="19" name="equite_2"/>
          <p:cNvSpPr/>
          <p:nvPr/>
        </p:nvSpPr>
        <p:spPr>
          <a:xfrm>
            <a:off x="6035040" y="1463040"/>
            <a:ext cx="2560320" cy="2377440"/>
          </a:xfrm>
          <a:prstGeom prst="roundRect">
            <a:avLst>
              <a:gd name="adj" fmla="val 3077"/>
            </a:avLst>
          </a:prstGeom>
          <a:solidFill>
            <a:srgbClr val="1F4A1A"/>
          </a:solidFill>
          <a:ln/>
        </p:spPr>
      </p:sp>
      <p:sp>
        <p:nvSpPr>
          <p:cNvPr id="20" name="Text 18"/>
          <p:cNvSpPr txBox="1"/>
          <p:nvPr/>
        </p:nvSpPr>
        <p:spPr>
          <a:xfrm>
            <a:off x="6217920" y="1572768"/>
            <a:ext cx="2194560" cy="32004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Corrigé + seuils par groupe</a:t>
            </a:r>
            <a:endParaRPr lang="en-US" sz="1500" dirty="0"/>
          </a:p>
        </p:txBody>
      </p:sp>
      <p:sp>
        <p:nvSpPr>
          <p:cNvPr id="21" name="Text 19"/>
          <p:cNvSpPr txBox="1"/>
          <p:nvPr/>
        </p:nvSpPr>
        <p:spPr>
          <a:xfrm>
            <a:off x="6217920" y="1920240"/>
            <a:ext cx="1097280" cy="594360"/>
          </a:xfrm>
          <a:prstGeom prst="rect">
            <a:avLst/>
          </a:prstGeom>
          <a:noFill/>
          <a:ln/>
        </p:spPr>
        <p:txBody>
          <a:bodyPr wrap="square" lIns="0" tIns="0" rIns="0" bIns="0" rtlCol="0" anchor="ctr"/>
          <a:lstStyle/>
          <a:p>
            <a:pPr indent="0" marL="0">
              <a:buNone/>
            </a:pPr>
            <a:r>
              <a:rPr lang="en-US" sz="3600" b="1" dirty="0">
                <a:solidFill>
                  <a:schemeClr val="accent6"/>
                </a:solidFill>
                <a:latin typeface="Arial Narrow" pitchFamily="34" charset="0"/>
                <a:ea typeface="Arial Narrow" pitchFamily="34" charset="-122"/>
                <a:cs typeface="Arial Narrow" pitchFamily="34" charset="-120"/>
              </a:rPr>
              <a:t>0,94</a:t>
            </a:r>
            <a:endParaRPr lang="en-US" sz="3600" dirty="0"/>
          </a:p>
        </p:txBody>
      </p:sp>
      <p:sp>
        <p:nvSpPr>
          <p:cNvPr id="22" name="Text 20"/>
          <p:cNvSpPr txBox="1"/>
          <p:nvPr/>
        </p:nvSpPr>
        <p:spPr>
          <a:xfrm>
            <a:off x="6217920" y="2514600"/>
            <a:ext cx="109728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disparate impact</a:t>
            </a:r>
            <a:endParaRPr lang="en-US" sz="1000" dirty="0"/>
          </a:p>
        </p:txBody>
      </p:sp>
      <p:sp>
        <p:nvSpPr>
          <p:cNvPr id="23" name="Text 21"/>
          <p:cNvSpPr txBox="1"/>
          <p:nvPr/>
        </p:nvSpPr>
        <p:spPr>
          <a:xfrm>
            <a:off x="7315200" y="1920240"/>
            <a:ext cx="1097280" cy="594360"/>
          </a:xfrm>
          <a:prstGeom prst="rect">
            <a:avLst/>
          </a:prstGeom>
          <a:noFill/>
          <a:ln/>
        </p:spPr>
        <p:txBody>
          <a:bodyPr wrap="square" lIns="0" tIns="0" rIns="0" bIns="0" rtlCol="0" anchor="ctr"/>
          <a:lstStyle/>
          <a:p>
            <a:pPr indent="0" marL="0">
              <a:buNone/>
            </a:pPr>
            <a:r>
              <a:rPr lang="en-US" sz="3600" b="1" dirty="0">
                <a:solidFill>
                  <a:schemeClr val="bg1"/>
                </a:solidFill>
                <a:latin typeface="Arial Narrow" pitchFamily="34" charset="0"/>
                <a:ea typeface="Arial Narrow" pitchFamily="34" charset="-122"/>
                <a:cs typeface="Arial Narrow" pitchFamily="34" charset="-120"/>
              </a:rPr>
              <a:t>0,87</a:t>
            </a:r>
            <a:endParaRPr lang="en-US" sz="3600" dirty="0"/>
          </a:p>
        </p:txBody>
      </p:sp>
      <p:sp>
        <p:nvSpPr>
          <p:cNvPr id="24" name="Text 22"/>
          <p:cNvSpPr txBox="1"/>
          <p:nvPr/>
        </p:nvSpPr>
        <p:spPr>
          <a:xfrm>
            <a:off x="7315200" y="2514600"/>
            <a:ext cx="109728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exactitude (mérite)</a:t>
            </a:r>
            <a:endParaRPr lang="en-US" sz="1000" dirty="0"/>
          </a:p>
        </p:txBody>
      </p:sp>
      <p:sp>
        <p:nvSpPr>
          <p:cNvPr id="25" name="Text 23"/>
          <p:cNvSpPr txBox="1"/>
          <p:nvPr/>
        </p:nvSpPr>
        <p:spPr>
          <a:xfrm>
            <a:off x="6217920" y="2880360"/>
            <a:ext cx="2194560" cy="86868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Parité retrouvée pour 1 point d'exactitude</a:t>
            </a:r>
            <a:endParaRPr lang="en-US" sz="1300" dirty="0"/>
          </a:p>
        </p:txBody>
      </p:sp>
      <p:sp>
        <p:nvSpPr>
          <p:cNvPr id="26" name="Text 24"/>
          <p:cNvSpPr txBox="1"/>
          <p:nvPr/>
        </p:nvSpPr>
        <p:spPr>
          <a:xfrm>
            <a:off x="548640" y="3977640"/>
            <a:ext cx="8046720" cy="68580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Pourquoi le corrigé passe sous 0,8 : </a:t>
            </a:r>
            <a:pPr indent="0" marL="0">
              <a:buNone/>
            </a:pPr>
            <a:r>
              <a:rPr lang="en-US" sz="1300" dirty="0">
                <a:solidFill>
                  <a:schemeClr val="tx1"/>
                </a:solidFill>
                <a:latin typeface="Calibri" pitchFamily="34" charset="0"/>
                <a:ea typeface="Calibri" pitchFamily="34" charset="-122"/>
                <a:cs typeface="Calibri" pitchFamily="34" charset="-120"/>
              </a:rPr>
              <a:t>sur la saison test, les attaquants sud-américains ont en moyenne de meilleures stats. Un modèle fidèle au mérite les sélectionne donc plus souvent. Égalité des chances ou parité stricte : un choix éthique à assumer.</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08 · EXPLICABILITÉ</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SHAP : LE CLUB FAIT LE PRIX</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Simon</a:t>
            </a:r>
            <a:endParaRPr lang="en-US" sz="1000" dirty="0"/>
          </a:p>
        </p:txBody>
      </p:sp>
      <p:pic>
        <p:nvPicPr>
          <p:cNvPr id="5" name="shap_gervinho" descr="img/shap_gervinho_biaise.png">    </p:cNvPr>
          <p:cNvPicPr>
            <a:picLocks noChangeAspect="1"/>
          </p:cNvPicPr>
          <p:nvPr/>
        </p:nvPicPr>
        <p:blipFill>
          <a:blip r:embed="rId1"/>
          <a:stretch>
            <a:fillRect/>
          </a:stretch>
        </p:blipFill>
        <p:spPr>
          <a:xfrm>
            <a:off x="548640" y="1371600"/>
            <a:ext cx="3931920" cy="2258568"/>
          </a:xfrm>
          <a:prstGeom prst="rect">
            <a:avLst/>
          </a:prstGeom>
        </p:spPr>
      </p:pic>
      <p:pic>
        <p:nvPicPr>
          <p:cNvPr id="6" name="shap_higuain" descr="img/shap_higuain_biaise.png">    </p:cNvPr>
          <p:cNvPicPr>
            <a:picLocks noChangeAspect="1"/>
          </p:cNvPicPr>
          <p:nvPr/>
        </p:nvPicPr>
        <p:blipFill>
          <a:blip r:embed="rId2"/>
          <a:stretch>
            <a:fillRect/>
          </a:stretch>
        </p:blipFill>
        <p:spPr>
          <a:xfrm>
            <a:off x="4663440" y="1371600"/>
            <a:ext cx="3931920" cy="2313432"/>
          </a:xfrm>
          <a:prstGeom prst="rect">
            <a:avLst/>
          </a:prstGeom>
        </p:spPr>
      </p:pic>
      <p:sp>
        <p:nvSpPr>
          <p:cNvPr id="7" name="lecture_shap"/>
          <p:cNvSpPr/>
          <p:nvPr/>
        </p:nvSpPr>
        <p:spPr>
          <a:xfrm>
            <a:off x="548640" y="3794760"/>
            <a:ext cx="8046720" cy="777240"/>
          </a:xfrm>
          <a:prstGeom prst="roundRect">
            <a:avLst>
              <a:gd name="adj" fmla="val 9412"/>
            </a:avLst>
          </a:prstGeom>
          <a:solidFill>
            <a:srgbClr val="EEF3EA"/>
          </a:solidFill>
          <a:ln/>
        </p:spPr>
      </p:sp>
      <p:sp>
        <p:nvSpPr>
          <p:cNvPr id="8" name="Text 4"/>
          <p:cNvSpPr txBox="1"/>
          <p:nvPr/>
        </p:nvSpPr>
        <p:spPr>
          <a:xfrm>
            <a:off x="731520" y="3840480"/>
            <a:ext cx="7680960" cy="68580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Modèle biaisé. </a:t>
            </a:r>
            <a:pPr indent="0" marL="0">
              <a:buNone/>
            </a:pPr>
            <a:r>
              <a:rPr lang="en-US" sz="1200" dirty="0">
                <a:solidFill>
                  <a:schemeClr val="tx1"/>
                </a:solidFill>
                <a:latin typeface="Calibri" pitchFamily="34" charset="0"/>
                <a:ea typeface="Calibri" pitchFamily="34" charset="-122"/>
                <a:cs typeface="Calibri" pitchFamily="34" charset="-120"/>
              </a:rPr>
              <a:t>La nationalité ne pèse presque rien en direct. L'écart est dans la valeur de base, fixée par le club : 0,08 à Parme, 0,77 à la Juventus. Contrefactuel : même joueur à l'Inter 0,20, au Chievo 0,01. Le club sert de proxy. Le modèle corrigé reste à 0,02 partout.</a:t>
            </a:r>
            <a:endParaRPr lang="en-US" sz="12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8"/>
          <p:cNvSpPr/>
          <p:nvPr>
            <p:ph idx="108"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09 · DÉMO FINALE</a:t>
            </a:r>
            <a:endParaRPr lang="en-US" sz="1100" dirty="0"/>
          </a:p>
        </p:txBody>
      </p:sp>
      <p:sp>
        <p:nvSpPr>
          <p:cNvPr id="3" name="Text 8"/>
          <p:cNvSpPr/>
          <p:nvPr>
            <p:ph idx="109"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Narrow" pitchFamily="34" charset="0"/>
                <a:ea typeface="Arial Narrow" pitchFamily="34" charset="-122"/>
                <a:cs typeface="Arial Narrow" pitchFamily="34" charset="-120"/>
              </a:rPr>
              <a:t>GERVINHO CONTRE HIGUAÍN</a:t>
            </a:r>
            <a:endParaRPr lang="en-US" sz="3600" dirty="0"/>
          </a:p>
        </p:txBody>
      </p:sp>
      <p:sp>
        <p:nvSpPr>
          <p:cNvPr id="4" name="Text 8"/>
          <p:cNvSpPr/>
          <p:nvPr>
            <p:ph idx="110"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6"/>
                </a:solidFill>
                <a:latin typeface="Calibri" pitchFamily="34" charset="0"/>
                <a:ea typeface="Calibri" pitchFamily="34" charset="-122"/>
                <a:cs typeface="Calibri" pitchFamily="34" charset="-120"/>
              </a:rPr>
              <a:t>Mathis</a:t>
            </a:r>
            <a:endParaRPr lang="en-US" sz="1000" dirty="0"/>
          </a:p>
        </p:txBody>
      </p:sp>
      <p:sp>
        <p:nvSpPr>
          <p:cNvPr id="5" name="Text 3"/>
          <p:cNvSpPr txBox="1"/>
          <p:nvPr/>
        </p:nvSpPr>
        <p:spPr>
          <a:xfrm>
            <a:off x="548640" y="1417320"/>
            <a:ext cx="8046720" cy="365760"/>
          </a:xfrm>
          <a:prstGeom prst="rect">
            <a:avLst/>
          </a:prstGeom>
          <a:noFill/>
          <a:ln/>
        </p:spPr>
        <p:txBody>
          <a:bodyPr wrap="square" lIns="0" tIns="0" rIns="0" bIns="0" rtlCol="0" anchor="ctr"/>
          <a:lstStyle/>
          <a:p>
            <a:pPr indent="0" marL="0">
              <a:buNone/>
            </a:pPr>
            <a:r>
              <a:rPr lang="en-US" sz="1600" dirty="0">
                <a:solidFill>
                  <a:schemeClr val="accent6"/>
                </a:solidFill>
                <a:latin typeface="Calibri" pitchFamily="34" charset="0"/>
                <a:ea typeface="Calibri" pitchFamily="34" charset="-122"/>
                <a:cs typeface="Calibri" pitchFamily="34" charset="-120"/>
              </a:rPr>
              <a:t>Serie A 2019/20 · 6 buts · 4 passes chacun · probabilité d'entrer dans la short-list</a:t>
            </a:r>
            <a:endParaRPr lang="en-US" sz="1600" dirty="0"/>
          </a:p>
        </p:txBody>
      </p:sp>
      <p:sp>
        <p:nvSpPr>
          <p:cNvPr id="6" name="demo_0"/>
          <p:cNvSpPr/>
          <p:nvPr/>
        </p:nvSpPr>
        <p:spPr>
          <a:xfrm>
            <a:off x="548640" y="1920240"/>
            <a:ext cx="3931920" cy="2514600"/>
          </a:xfrm>
          <a:prstGeom prst="roundRect">
            <a:avLst>
              <a:gd name="adj" fmla="val 2909"/>
            </a:avLst>
          </a:prstGeom>
          <a:solidFill>
            <a:srgbClr val="0F2A0C"/>
          </a:solidFill>
          <a:ln/>
        </p:spPr>
      </p:sp>
      <p:sp>
        <p:nvSpPr>
          <p:cNvPr id="7" name="Text 5"/>
          <p:cNvSpPr txBox="1"/>
          <p:nvPr/>
        </p:nvSpPr>
        <p:spPr>
          <a:xfrm>
            <a:off x="777240" y="2029968"/>
            <a:ext cx="3474720" cy="457200"/>
          </a:xfrm>
          <a:prstGeom prst="rect">
            <a:avLst/>
          </a:prstGeom>
          <a:noFill/>
          <a:ln/>
        </p:spPr>
        <p:txBody>
          <a:bodyPr wrap="square" lIns="0" tIns="0" rIns="0" bIns="0" rtlCol="0" anchor="ctr"/>
          <a:lstStyle/>
          <a:p>
            <a:pPr indent="0" marL="0">
              <a:buNone/>
            </a:pPr>
            <a:r>
              <a:rPr lang="en-US" sz="2800" b="1" dirty="0">
                <a:solidFill>
                  <a:schemeClr val="bg1"/>
                </a:solidFill>
                <a:latin typeface="Arial Narrow" pitchFamily="34" charset="0"/>
                <a:ea typeface="Arial Narrow" pitchFamily="34" charset="-122"/>
                <a:cs typeface="Arial Narrow" pitchFamily="34" charset="-120"/>
              </a:rPr>
              <a:t>GERVINHO</a:t>
            </a:r>
            <a:endParaRPr lang="en-US" sz="2800" dirty="0"/>
          </a:p>
        </p:txBody>
      </p:sp>
      <p:sp>
        <p:nvSpPr>
          <p:cNvPr id="8" name="Text 6"/>
          <p:cNvSpPr txBox="1"/>
          <p:nvPr/>
        </p:nvSpPr>
        <p:spPr>
          <a:xfrm>
            <a:off x="777240" y="2487168"/>
            <a:ext cx="3474720" cy="27432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Côte d'Ivoire · Parme</a:t>
            </a:r>
            <a:endParaRPr lang="en-US" sz="1200" dirty="0"/>
          </a:p>
        </p:txBody>
      </p:sp>
      <p:sp>
        <p:nvSpPr>
          <p:cNvPr id="9" name="Text 7"/>
          <p:cNvSpPr txBox="1"/>
          <p:nvPr/>
        </p:nvSpPr>
        <p:spPr>
          <a:xfrm>
            <a:off x="777240" y="2852928"/>
            <a:ext cx="2194560" cy="365760"/>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Modèle biaisé</a:t>
            </a:r>
            <a:endParaRPr lang="en-US" sz="1300" dirty="0"/>
          </a:p>
        </p:txBody>
      </p:sp>
      <p:sp>
        <p:nvSpPr>
          <p:cNvPr id="10" name="Text 8"/>
          <p:cNvSpPr txBox="1"/>
          <p:nvPr/>
        </p:nvSpPr>
        <p:spPr>
          <a:xfrm>
            <a:off x="2971800" y="2852928"/>
            <a:ext cx="1280160" cy="365760"/>
          </a:xfrm>
          <a:prstGeom prst="rect">
            <a:avLst/>
          </a:prstGeom>
          <a:noFill/>
          <a:ln/>
        </p:spPr>
        <p:txBody>
          <a:bodyPr wrap="square" lIns="0" tIns="0" rIns="0" bIns="0" rtlCol="0" anchor="ctr"/>
          <a:lstStyle/>
          <a:p>
            <a:pPr algn="r" indent="0" marL="0">
              <a:buNone/>
            </a:pPr>
            <a:r>
              <a:rPr lang="en-US" sz="2600" b="1" dirty="0">
                <a:solidFill>
                  <a:schemeClr val="accent3"/>
                </a:solidFill>
                <a:latin typeface="Arial Narrow" pitchFamily="34" charset="0"/>
                <a:ea typeface="Arial Narrow" pitchFamily="34" charset="-122"/>
                <a:cs typeface="Arial Narrow" pitchFamily="34" charset="-120"/>
              </a:rPr>
              <a:t>0,03</a:t>
            </a:r>
            <a:endParaRPr lang="en-US" sz="2600" dirty="0"/>
          </a:p>
        </p:txBody>
      </p:sp>
      <p:sp>
        <p:nvSpPr>
          <p:cNvPr id="11" name="Text 9"/>
          <p:cNvSpPr txBox="1"/>
          <p:nvPr/>
        </p:nvSpPr>
        <p:spPr>
          <a:xfrm>
            <a:off x="777240" y="3310128"/>
            <a:ext cx="2194560" cy="365760"/>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Modèle corrigé</a:t>
            </a:r>
            <a:endParaRPr lang="en-US" sz="1300" dirty="0"/>
          </a:p>
        </p:txBody>
      </p:sp>
      <p:sp>
        <p:nvSpPr>
          <p:cNvPr id="12" name="Text 10"/>
          <p:cNvSpPr txBox="1"/>
          <p:nvPr/>
        </p:nvSpPr>
        <p:spPr>
          <a:xfrm>
            <a:off x="2971800" y="3310128"/>
            <a:ext cx="1280160" cy="365760"/>
          </a:xfrm>
          <a:prstGeom prst="rect">
            <a:avLst/>
          </a:prstGeom>
          <a:noFill/>
          <a:ln/>
        </p:spPr>
        <p:txBody>
          <a:bodyPr wrap="square" lIns="0" tIns="0" rIns="0" bIns="0" rtlCol="0" anchor="ctr"/>
          <a:lstStyle/>
          <a:p>
            <a:pPr algn="r" indent="0" marL="0">
              <a:buNone/>
            </a:pPr>
            <a:r>
              <a:rPr lang="en-US" sz="2600" b="1" dirty="0">
                <a:solidFill>
                  <a:schemeClr val="bg1"/>
                </a:solidFill>
                <a:latin typeface="Arial Narrow" pitchFamily="34" charset="0"/>
                <a:ea typeface="Arial Narrow" pitchFamily="34" charset="-122"/>
                <a:cs typeface="Arial Narrow" pitchFamily="34" charset="-120"/>
              </a:rPr>
              <a:t>0,01</a:t>
            </a:r>
            <a:endParaRPr lang="en-US" sz="2600" dirty="0"/>
          </a:p>
        </p:txBody>
      </p:sp>
      <p:sp>
        <p:nvSpPr>
          <p:cNvPr id="13" name="Text 11"/>
          <p:cNvSpPr txBox="1"/>
          <p:nvPr/>
        </p:nvSpPr>
        <p:spPr>
          <a:xfrm>
            <a:off x="777240" y="3840480"/>
            <a:ext cx="3474720" cy="411480"/>
          </a:xfrm>
          <a:prstGeom prst="rect">
            <a:avLst/>
          </a:prstGeom>
          <a:noFill/>
          <a:ln/>
        </p:spPr>
        <p:txBody>
          <a:bodyPr wrap="square" lIns="0" tIns="0" rIns="0" bIns="0" rtlCol="0" anchor="ctr"/>
          <a:lstStyle/>
          <a:p>
            <a:pPr indent="0" marL="0">
              <a:buNone/>
            </a:pPr>
            <a:r>
              <a:rPr lang="en-US" sz="1200" i="1" dirty="0">
                <a:solidFill>
                  <a:schemeClr val="accent6"/>
                </a:solidFill>
                <a:latin typeface="Calibri" pitchFamily="34" charset="0"/>
                <a:ea typeface="Calibri" pitchFamily="34" charset="-122"/>
                <a:cs typeface="Calibri" pitchFamily="34" charset="-120"/>
              </a:rPr>
              <a:t>Mérite la short-list selon ses stats : non</a:t>
            </a:r>
            <a:endParaRPr lang="en-US" sz="1200" dirty="0"/>
          </a:p>
        </p:txBody>
      </p:sp>
      <p:sp>
        <p:nvSpPr>
          <p:cNvPr id="14" name="demo_1"/>
          <p:cNvSpPr/>
          <p:nvPr/>
        </p:nvSpPr>
        <p:spPr>
          <a:xfrm>
            <a:off x="4663440" y="1920240"/>
            <a:ext cx="3931920" cy="2514600"/>
          </a:xfrm>
          <a:prstGeom prst="roundRect">
            <a:avLst>
              <a:gd name="adj" fmla="val 2909"/>
            </a:avLst>
          </a:prstGeom>
          <a:solidFill>
            <a:srgbClr val="0F2A0C"/>
          </a:solidFill>
          <a:ln/>
        </p:spPr>
      </p:sp>
      <p:sp>
        <p:nvSpPr>
          <p:cNvPr id="15" name="Text 13"/>
          <p:cNvSpPr txBox="1"/>
          <p:nvPr/>
        </p:nvSpPr>
        <p:spPr>
          <a:xfrm>
            <a:off x="4892040" y="2029968"/>
            <a:ext cx="3474720" cy="457200"/>
          </a:xfrm>
          <a:prstGeom prst="rect">
            <a:avLst/>
          </a:prstGeom>
          <a:noFill/>
          <a:ln/>
        </p:spPr>
        <p:txBody>
          <a:bodyPr wrap="square" lIns="0" tIns="0" rIns="0" bIns="0" rtlCol="0" anchor="ctr"/>
          <a:lstStyle/>
          <a:p>
            <a:pPr indent="0" marL="0">
              <a:buNone/>
            </a:pPr>
            <a:r>
              <a:rPr lang="en-US" sz="2800" b="1" dirty="0">
                <a:solidFill>
                  <a:schemeClr val="bg1"/>
                </a:solidFill>
                <a:latin typeface="Arial Narrow" pitchFamily="34" charset="0"/>
                <a:ea typeface="Arial Narrow" pitchFamily="34" charset="-122"/>
                <a:cs typeface="Arial Narrow" pitchFamily="34" charset="-120"/>
              </a:rPr>
              <a:t>HIGUAÍN</a:t>
            </a:r>
            <a:endParaRPr lang="en-US" sz="2800" dirty="0"/>
          </a:p>
        </p:txBody>
      </p:sp>
      <p:sp>
        <p:nvSpPr>
          <p:cNvPr id="16" name="Text 14"/>
          <p:cNvSpPr txBox="1"/>
          <p:nvPr/>
        </p:nvSpPr>
        <p:spPr>
          <a:xfrm>
            <a:off x="4892040" y="2487168"/>
            <a:ext cx="3474720" cy="274320"/>
          </a:xfrm>
          <a:prstGeom prst="rect">
            <a:avLst/>
          </a:prstGeom>
          <a:noFill/>
          <a:ln/>
        </p:spPr>
        <p:txBody>
          <a:bodyPr wrap="square" lIns="0" tIns="0" rIns="0" bIns="0" rtlCol="0" anchor="ctr"/>
          <a:lstStyle/>
          <a:p>
            <a:pPr indent="0" marL="0">
              <a:buNone/>
            </a:pPr>
            <a:r>
              <a:rPr lang="en-US" sz="1200" dirty="0">
                <a:solidFill>
                  <a:schemeClr val="accent6"/>
                </a:solidFill>
                <a:latin typeface="Calibri" pitchFamily="34" charset="0"/>
                <a:ea typeface="Calibri" pitchFamily="34" charset="-122"/>
                <a:cs typeface="Calibri" pitchFamily="34" charset="-120"/>
              </a:rPr>
              <a:t>Argentine · Juventus</a:t>
            </a:r>
            <a:endParaRPr lang="en-US" sz="1200" dirty="0"/>
          </a:p>
        </p:txBody>
      </p:sp>
      <p:sp>
        <p:nvSpPr>
          <p:cNvPr id="17" name="Text 15"/>
          <p:cNvSpPr txBox="1"/>
          <p:nvPr/>
        </p:nvSpPr>
        <p:spPr>
          <a:xfrm>
            <a:off x="4892040" y="2852928"/>
            <a:ext cx="2194560" cy="365760"/>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Modèle biaisé</a:t>
            </a:r>
            <a:endParaRPr lang="en-US" sz="1300" dirty="0"/>
          </a:p>
        </p:txBody>
      </p:sp>
      <p:sp>
        <p:nvSpPr>
          <p:cNvPr id="18" name="Text 16"/>
          <p:cNvSpPr txBox="1"/>
          <p:nvPr/>
        </p:nvSpPr>
        <p:spPr>
          <a:xfrm>
            <a:off x="7086600" y="2852928"/>
            <a:ext cx="1280160" cy="365760"/>
          </a:xfrm>
          <a:prstGeom prst="rect">
            <a:avLst/>
          </a:prstGeom>
          <a:noFill/>
          <a:ln/>
        </p:spPr>
        <p:txBody>
          <a:bodyPr wrap="square" lIns="0" tIns="0" rIns="0" bIns="0" rtlCol="0" anchor="ctr"/>
          <a:lstStyle/>
          <a:p>
            <a:pPr algn="r" indent="0" marL="0">
              <a:buNone/>
            </a:pPr>
            <a:r>
              <a:rPr lang="en-US" sz="2600" b="1" dirty="0">
                <a:solidFill>
                  <a:schemeClr val="accent3"/>
                </a:solidFill>
                <a:latin typeface="Arial Narrow" pitchFamily="34" charset="0"/>
                <a:ea typeface="Arial Narrow" pitchFamily="34" charset="-122"/>
                <a:cs typeface="Arial Narrow" pitchFamily="34" charset="-120"/>
              </a:rPr>
              <a:t>0,60</a:t>
            </a:r>
            <a:endParaRPr lang="en-US" sz="2600" dirty="0"/>
          </a:p>
        </p:txBody>
      </p:sp>
      <p:sp>
        <p:nvSpPr>
          <p:cNvPr id="19" name="Text 17"/>
          <p:cNvSpPr txBox="1"/>
          <p:nvPr/>
        </p:nvSpPr>
        <p:spPr>
          <a:xfrm>
            <a:off x="4892040" y="3310128"/>
            <a:ext cx="2194560" cy="365760"/>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Modèle corrigé</a:t>
            </a:r>
            <a:endParaRPr lang="en-US" sz="1300" dirty="0"/>
          </a:p>
        </p:txBody>
      </p:sp>
      <p:sp>
        <p:nvSpPr>
          <p:cNvPr id="20" name="Text 18"/>
          <p:cNvSpPr txBox="1"/>
          <p:nvPr/>
        </p:nvSpPr>
        <p:spPr>
          <a:xfrm>
            <a:off x="7086600" y="3310128"/>
            <a:ext cx="1280160" cy="365760"/>
          </a:xfrm>
          <a:prstGeom prst="rect">
            <a:avLst/>
          </a:prstGeom>
          <a:noFill/>
          <a:ln/>
        </p:spPr>
        <p:txBody>
          <a:bodyPr wrap="square" lIns="0" tIns="0" rIns="0" bIns="0" rtlCol="0" anchor="ctr"/>
          <a:lstStyle/>
          <a:p>
            <a:pPr algn="r" indent="0" marL="0">
              <a:buNone/>
            </a:pPr>
            <a:r>
              <a:rPr lang="en-US" sz="2600" b="1" dirty="0">
                <a:solidFill>
                  <a:schemeClr val="bg1"/>
                </a:solidFill>
                <a:latin typeface="Arial Narrow" pitchFamily="34" charset="0"/>
                <a:ea typeface="Arial Narrow" pitchFamily="34" charset="-122"/>
                <a:cs typeface="Arial Narrow" pitchFamily="34" charset="-120"/>
              </a:rPr>
              <a:t>0,03</a:t>
            </a:r>
            <a:endParaRPr lang="en-US" sz="2600" dirty="0"/>
          </a:p>
        </p:txBody>
      </p:sp>
      <p:sp>
        <p:nvSpPr>
          <p:cNvPr id="21" name="Text 19"/>
          <p:cNvSpPr txBox="1"/>
          <p:nvPr/>
        </p:nvSpPr>
        <p:spPr>
          <a:xfrm>
            <a:off x="4892040" y="3840480"/>
            <a:ext cx="3474720" cy="411480"/>
          </a:xfrm>
          <a:prstGeom prst="rect">
            <a:avLst/>
          </a:prstGeom>
          <a:noFill/>
          <a:ln/>
        </p:spPr>
        <p:txBody>
          <a:bodyPr wrap="square" lIns="0" tIns="0" rIns="0" bIns="0" rtlCol="0" anchor="ctr"/>
          <a:lstStyle/>
          <a:p>
            <a:pPr indent="0" marL="0">
              <a:buNone/>
            </a:pPr>
            <a:r>
              <a:rPr lang="en-US" sz="1200" i="1" dirty="0">
                <a:solidFill>
                  <a:schemeClr val="accent6"/>
                </a:solidFill>
                <a:latin typeface="Calibri" pitchFamily="34" charset="0"/>
                <a:ea typeface="Calibri" pitchFamily="34" charset="-122"/>
                <a:cs typeface="Calibri" pitchFamily="34" charset="-120"/>
              </a:rPr>
              <a:t>Mérite la short-list selon ses stats : non</a:t>
            </a:r>
            <a:endParaRPr lang="en-US" sz="12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8"/>
          <p:cNvSpPr/>
          <p:nvPr>
            <p:ph idx="108"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10 · BONUS INTERACTIF</a:t>
            </a:r>
            <a:endParaRPr lang="en-US" sz="1100" dirty="0"/>
          </a:p>
        </p:txBody>
      </p:sp>
      <p:sp>
        <p:nvSpPr>
          <p:cNvPr id="3" name="Text 8"/>
          <p:cNvSpPr/>
          <p:nvPr>
            <p:ph idx="109"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bg1"/>
                </a:solidFill>
                <a:latin typeface="Arial Narrow" pitchFamily="34" charset="0"/>
                <a:ea typeface="Arial Narrow" pitchFamily="34" charset="-122"/>
                <a:cs typeface="Arial Narrow" pitchFamily="34" charset="-120"/>
              </a:rPr>
              <a:t>SURCOTÉ OU SOUS-COTÉ ?</a:t>
            </a:r>
            <a:endParaRPr lang="en-US" sz="3600" dirty="0"/>
          </a:p>
        </p:txBody>
      </p:sp>
      <p:sp>
        <p:nvSpPr>
          <p:cNvPr id="4" name="Text 8"/>
          <p:cNvSpPr/>
          <p:nvPr>
            <p:ph idx="110"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6"/>
                </a:solidFill>
                <a:latin typeface="Calibri" pitchFamily="34" charset="0"/>
                <a:ea typeface="Calibri" pitchFamily="34" charset="-122"/>
                <a:cs typeface="Calibri" pitchFamily="34" charset="-120"/>
              </a:rPr>
              <a:t>Mathis</a:t>
            </a:r>
            <a:endParaRPr lang="en-US" sz="1000" dirty="0"/>
          </a:p>
        </p:txBody>
      </p:sp>
      <p:sp>
        <p:nvSpPr>
          <p:cNvPr id="5" name="Text 3"/>
          <p:cNvSpPr txBox="1"/>
          <p:nvPr/>
        </p:nvSpPr>
        <p:spPr>
          <a:xfrm>
            <a:off x="548640" y="1417320"/>
            <a:ext cx="8046720" cy="640080"/>
          </a:xfrm>
          <a:prstGeom prst="rect">
            <a:avLst/>
          </a:prstGeom>
          <a:noFill/>
          <a:ln/>
        </p:spPr>
        <p:txBody>
          <a:bodyPr wrap="square" lIns="0" tIns="0" rIns="0" bIns="0" rtlCol="0" anchor="ctr"/>
          <a:lstStyle/>
          <a:p>
            <a:pPr indent="0" marL="0">
              <a:buNone/>
            </a:pPr>
            <a:r>
              <a:rPr lang="en-US" sz="1600" dirty="0">
                <a:solidFill>
                  <a:schemeClr val="bg2"/>
                </a:solidFill>
                <a:latin typeface="Calibri" pitchFamily="34" charset="0"/>
                <a:ea typeface="Calibri" pitchFamily="34" charset="-122"/>
                <a:cs typeface="Calibri" pitchFamily="34" charset="-120"/>
              </a:rPr>
              <a:t>N'importe quel attaquant, n'importe quelle saison : sa valeur Transfermarkt face à la valeur que justifient ses stats.</a:t>
            </a:r>
            <a:endParaRPr lang="en-US" sz="1600" dirty="0"/>
          </a:p>
        </p:txBody>
      </p:sp>
      <p:sp>
        <p:nvSpPr>
          <p:cNvPr id="6" name="verdict_0"/>
          <p:cNvSpPr/>
          <p:nvPr/>
        </p:nvSpPr>
        <p:spPr>
          <a:xfrm>
            <a:off x="548640" y="2286000"/>
            <a:ext cx="2560320" cy="1371600"/>
          </a:xfrm>
          <a:prstGeom prst="roundRect">
            <a:avLst>
              <a:gd name="adj" fmla="val 5333"/>
            </a:avLst>
          </a:prstGeom>
          <a:solidFill>
            <a:srgbClr val="0F2A0C"/>
          </a:solidFill>
          <a:ln/>
        </p:spPr>
      </p:sp>
      <p:sp>
        <p:nvSpPr>
          <p:cNvPr id="7" name="Text 5"/>
          <p:cNvSpPr txBox="1"/>
          <p:nvPr/>
        </p:nvSpPr>
        <p:spPr>
          <a:xfrm>
            <a:off x="731520" y="2395728"/>
            <a:ext cx="2194560" cy="502920"/>
          </a:xfrm>
          <a:prstGeom prst="rect">
            <a:avLst/>
          </a:prstGeom>
          <a:noFill/>
          <a:ln/>
        </p:spPr>
        <p:txBody>
          <a:bodyPr wrap="square" lIns="0" tIns="0" rIns="0" bIns="0" rtlCol="0" anchor="ctr"/>
          <a:lstStyle/>
          <a:p>
            <a:pPr indent="0" marL="0">
              <a:buNone/>
            </a:pPr>
            <a:r>
              <a:rPr lang="en-US" sz="2600" b="1" dirty="0">
                <a:solidFill>
                  <a:schemeClr val="accent3"/>
                </a:solidFill>
                <a:latin typeface="Arial Narrow" pitchFamily="34" charset="0"/>
                <a:ea typeface="Arial Narrow" pitchFamily="34" charset="-122"/>
                <a:cs typeface="Arial Narrow" pitchFamily="34" charset="-120"/>
              </a:rPr>
              <a:t>SURCOTÉ</a:t>
            </a:r>
            <a:endParaRPr lang="en-US" sz="2600" dirty="0"/>
          </a:p>
        </p:txBody>
      </p:sp>
      <p:sp>
        <p:nvSpPr>
          <p:cNvPr id="8" name="Text 6"/>
          <p:cNvSpPr txBox="1"/>
          <p:nvPr/>
        </p:nvSpPr>
        <p:spPr>
          <a:xfrm>
            <a:off x="731520" y="2971800"/>
            <a:ext cx="2194560" cy="36576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&gt; +20 %</a:t>
            </a:r>
            <a:endParaRPr lang="en-US" sz="1500" dirty="0"/>
          </a:p>
        </p:txBody>
      </p:sp>
      <p:sp>
        <p:nvSpPr>
          <p:cNvPr id="9" name="verdict_1"/>
          <p:cNvSpPr/>
          <p:nvPr/>
        </p:nvSpPr>
        <p:spPr>
          <a:xfrm>
            <a:off x="3291840" y="2286000"/>
            <a:ext cx="2560320" cy="1371600"/>
          </a:xfrm>
          <a:prstGeom prst="roundRect">
            <a:avLst>
              <a:gd name="adj" fmla="val 5333"/>
            </a:avLst>
          </a:prstGeom>
          <a:solidFill>
            <a:srgbClr val="0F2A0C"/>
          </a:solidFill>
          <a:ln/>
        </p:spPr>
      </p:sp>
      <p:sp>
        <p:nvSpPr>
          <p:cNvPr id="10" name="Text 8"/>
          <p:cNvSpPr txBox="1"/>
          <p:nvPr/>
        </p:nvSpPr>
        <p:spPr>
          <a:xfrm>
            <a:off x="3474720" y="2395728"/>
            <a:ext cx="2194560" cy="502920"/>
          </a:xfrm>
          <a:prstGeom prst="rect">
            <a:avLst/>
          </a:prstGeom>
          <a:noFill/>
          <a:ln/>
        </p:spPr>
        <p:txBody>
          <a:bodyPr wrap="square" lIns="0" tIns="0" rIns="0" bIns="0" rtlCol="0" anchor="ctr"/>
          <a:lstStyle/>
          <a:p>
            <a:pPr indent="0" marL="0">
              <a:buNone/>
            </a:pPr>
            <a:r>
              <a:rPr lang="en-US" sz="2600" b="1" dirty="0">
                <a:solidFill>
                  <a:schemeClr val="bg1"/>
                </a:solidFill>
                <a:latin typeface="Arial Narrow" pitchFamily="34" charset="0"/>
                <a:ea typeface="Arial Narrow" pitchFamily="34" charset="-122"/>
                <a:cs typeface="Arial Narrow" pitchFamily="34" charset="-120"/>
              </a:rPr>
              <a:t>JUSTE PRIX</a:t>
            </a:r>
            <a:endParaRPr lang="en-US" sz="2600" dirty="0"/>
          </a:p>
        </p:txBody>
      </p:sp>
      <p:sp>
        <p:nvSpPr>
          <p:cNvPr id="11" name="Text 9"/>
          <p:cNvSpPr txBox="1"/>
          <p:nvPr/>
        </p:nvSpPr>
        <p:spPr>
          <a:xfrm>
            <a:off x="3474720" y="2971800"/>
            <a:ext cx="2194560" cy="36576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 20 %</a:t>
            </a:r>
            <a:endParaRPr lang="en-US" sz="1500" dirty="0"/>
          </a:p>
        </p:txBody>
      </p:sp>
      <p:sp>
        <p:nvSpPr>
          <p:cNvPr id="12" name="verdict_2"/>
          <p:cNvSpPr/>
          <p:nvPr/>
        </p:nvSpPr>
        <p:spPr>
          <a:xfrm>
            <a:off x="6035040" y="2286000"/>
            <a:ext cx="2560320" cy="1371600"/>
          </a:xfrm>
          <a:prstGeom prst="roundRect">
            <a:avLst>
              <a:gd name="adj" fmla="val 5333"/>
            </a:avLst>
          </a:prstGeom>
          <a:solidFill>
            <a:srgbClr val="0F2A0C"/>
          </a:solidFill>
          <a:ln/>
        </p:spPr>
      </p:sp>
      <p:sp>
        <p:nvSpPr>
          <p:cNvPr id="13" name="Text 11"/>
          <p:cNvSpPr txBox="1"/>
          <p:nvPr/>
        </p:nvSpPr>
        <p:spPr>
          <a:xfrm>
            <a:off x="6217920" y="2395728"/>
            <a:ext cx="2194560" cy="502920"/>
          </a:xfrm>
          <a:prstGeom prst="rect">
            <a:avLst/>
          </a:prstGeom>
          <a:noFill/>
          <a:ln/>
        </p:spPr>
        <p:txBody>
          <a:bodyPr wrap="square" lIns="0" tIns="0" rIns="0" bIns="0" rtlCol="0" anchor="ctr"/>
          <a:lstStyle/>
          <a:p>
            <a:pPr indent="0" marL="0">
              <a:buNone/>
            </a:pPr>
            <a:r>
              <a:rPr lang="en-US" sz="2600" b="1" dirty="0">
                <a:solidFill>
                  <a:schemeClr val="accent6"/>
                </a:solidFill>
                <a:latin typeface="Arial Narrow" pitchFamily="34" charset="0"/>
                <a:ea typeface="Arial Narrow" pitchFamily="34" charset="-122"/>
                <a:cs typeface="Arial Narrow" pitchFamily="34" charset="-120"/>
              </a:rPr>
              <a:t>SOUS-COTÉ</a:t>
            </a:r>
            <a:endParaRPr lang="en-US" sz="2600" dirty="0"/>
          </a:p>
        </p:txBody>
      </p:sp>
      <p:sp>
        <p:nvSpPr>
          <p:cNvPr id="14" name="Text 12"/>
          <p:cNvSpPr txBox="1"/>
          <p:nvPr/>
        </p:nvSpPr>
        <p:spPr>
          <a:xfrm>
            <a:off x="6217920" y="2971800"/>
            <a:ext cx="2194560" cy="36576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&lt; -20 %</a:t>
            </a:r>
            <a:endParaRPr lang="en-US" sz="1500" dirty="0"/>
          </a:p>
        </p:txBody>
      </p:sp>
      <p:sp>
        <p:nvSpPr>
          <p:cNvPr id="15" name="Text 13"/>
          <p:cNvSpPr txBox="1"/>
          <p:nvPr/>
        </p:nvSpPr>
        <p:spPr>
          <a:xfrm>
            <a:off x="548640" y="3840480"/>
            <a:ext cx="8046720" cy="59436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Exemple : Erling Haaland 2025/26. </a:t>
            </a:r>
            <a:pPr indent="0" marL="0">
              <a:buNone/>
            </a:pPr>
            <a:r>
              <a:rPr lang="en-US" sz="1300" dirty="0">
                <a:solidFill>
                  <a:schemeClr val="accent6"/>
                </a:solidFill>
                <a:latin typeface="Calibri" pitchFamily="34" charset="0"/>
                <a:ea typeface="Calibri" pitchFamily="34" charset="-122"/>
                <a:cs typeface="Calibri" pitchFamily="34" charset="-120"/>
              </a:rPr>
              <a:t>200 M€ sur Transfermarkt, 164 M€ justifiés par ses stats (27 buts, 8 passes) : surcoté de 22 %. Le LLM commente ensuite le verdict.</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486400" cy="274320"/>
          </a:xfrm>
          <a:prstGeom prst="rect">
            <a:avLst/>
          </a:prstGeom>
          <a:noFill/>
          <a:ln/>
        </p:spPr>
        <p:txBody>
          <a:bodyPr wrap="square" lIns="0" tIns="0" rIns="0" bIns="0" rtlCol="0"/>
          <a:lstStyle/>
          <a:p>
            <a:pPr indent="0" marL="0">
              <a:buNone/>
            </a:pPr>
            <a:r>
              <a:rPr lang="en-US" sz="1100" b="1" spc="300" kern="0" dirty="0">
                <a:solidFill>
                  <a:schemeClr val="accent1"/>
                </a:solidFill>
                <a:latin typeface="Calibri" pitchFamily="34" charset="0"/>
                <a:ea typeface="Calibri" pitchFamily="34" charset="-122"/>
                <a:cs typeface="Calibri" pitchFamily="34" charset="-120"/>
              </a:rPr>
              <a:t>11 · RED TEAMING ET LIMITES</a:t>
            </a:r>
            <a:endParaRPr lang="en-US" sz="11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nchor="t"/>
          <a:lstStyle/>
          <a:p>
            <a:pPr algn="l" indent="0" marL="0">
              <a:buNone/>
            </a:pPr>
            <a:r>
              <a:rPr lang="en-US" sz="3600" b="1" dirty="0">
                <a:solidFill>
                  <a:schemeClr val="tx1"/>
                </a:solidFill>
                <a:latin typeface="Arial Narrow" pitchFamily="34" charset="0"/>
                <a:ea typeface="Arial Narrow" pitchFamily="34" charset="-122"/>
                <a:cs typeface="Arial Narrow" pitchFamily="34" charset="-120"/>
              </a:rPr>
              <a:t>PENSER COMME L'ADVERSAIRE</a:t>
            </a:r>
            <a:endParaRPr lang="en-US" sz="3600" dirty="0"/>
          </a:p>
        </p:txBody>
      </p:sp>
      <p:sp>
        <p:nvSpPr>
          <p:cNvPr id="4" name="Text 0"/>
          <p:cNvSpPr/>
          <p:nvPr>
            <p:ph idx="102" type="body" hasCustomPrompt="1"/>
          </p:nvPr>
        </p:nvSpPr>
        <p:spPr>
          <a:xfrm>
            <a:off x="5943600" y="4754880"/>
            <a:ext cx="2651760" cy="228600"/>
          </a:xfrm>
          <a:prstGeom prst="rect">
            <a:avLst/>
          </a:prstGeom>
          <a:noFill/>
          <a:ln/>
        </p:spPr>
        <p:txBody>
          <a:bodyPr wrap="square" lIns="0" tIns="0" rIns="0" bIns="0" rtlCol="0"/>
          <a:lstStyle/>
          <a:p>
            <a:pPr algn="r" indent="0" marL="0">
              <a:buNone/>
            </a:pPr>
            <a:r>
              <a:rPr lang="en-US" sz="1000" dirty="0">
                <a:solidFill>
                  <a:schemeClr val="accent5"/>
                </a:solidFill>
                <a:latin typeface="Calibri" pitchFamily="34" charset="0"/>
                <a:ea typeface="Calibri" pitchFamily="34" charset="-122"/>
                <a:cs typeface="Calibri" pitchFamily="34" charset="-120"/>
              </a:rPr>
              <a:t>Mathis</a:t>
            </a:r>
            <a:endParaRPr lang="en-US" sz="1000" dirty="0"/>
          </a:p>
        </p:txBody>
      </p:sp>
      <p:sp>
        <p:nvSpPr>
          <p:cNvPr id="5" name="Text 3"/>
          <p:cNvSpPr txBox="1"/>
          <p:nvPr/>
        </p:nvSpPr>
        <p:spPr>
          <a:xfrm>
            <a:off x="548640" y="1417320"/>
            <a:ext cx="3840480" cy="274320"/>
          </a:xfrm>
          <a:prstGeom prst="rect">
            <a:avLst/>
          </a:prstGeom>
          <a:noFill/>
          <a:ln/>
        </p:spPr>
        <p:txBody>
          <a:bodyPr wrap="square" lIns="0" tIns="0" rIns="0" bIns="0" rtlCol="0" anchor="ctr"/>
          <a:lstStyle/>
          <a:p>
            <a:pPr indent="0" marL="0">
              <a:buNone/>
            </a:pPr>
            <a:r>
              <a:rPr lang="en-US" sz="1100" b="1" spc="300" kern="0" dirty="0">
                <a:solidFill>
                  <a:schemeClr val="accent5"/>
                </a:solidFill>
                <a:latin typeface="Calibri" pitchFamily="34" charset="0"/>
                <a:ea typeface="Calibri" pitchFamily="34" charset="-122"/>
                <a:cs typeface="Calibri" pitchFamily="34" charset="-120"/>
              </a:rPr>
              <a:t>ATTAQUES SUR LE MODÈLE CORRIGÉ</a:t>
            </a:r>
            <a:endParaRPr lang="en-US" sz="1100" dirty="0"/>
          </a:p>
        </p:txBody>
      </p:sp>
      <p:sp>
        <p:nvSpPr>
          <p:cNvPr id="6" name="attaque_0"/>
          <p:cNvSpPr/>
          <p:nvPr/>
        </p:nvSpPr>
        <p:spPr>
          <a:xfrm>
            <a:off x="548640" y="1783080"/>
            <a:ext cx="3840480" cy="822960"/>
          </a:xfrm>
          <a:prstGeom prst="roundRect">
            <a:avLst>
              <a:gd name="adj" fmla="val 8889"/>
            </a:avLst>
          </a:prstGeom>
          <a:solidFill>
            <a:srgbClr val="EEF3EA"/>
          </a:solidFill>
          <a:ln/>
        </p:spPr>
      </p:sp>
      <p:sp>
        <p:nvSpPr>
          <p:cNvPr id="7" name="Text 5"/>
          <p:cNvSpPr txBox="1"/>
          <p:nvPr/>
        </p:nvSpPr>
        <p:spPr>
          <a:xfrm>
            <a:off x="731520" y="1874520"/>
            <a:ext cx="347472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Injection : 0,7 % → 1,5 %</a:t>
            </a:r>
            <a:endParaRPr lang="en-US" sz="1400" dirty="0"/>
          </a:p>
        </p:txBody>
      </p:sp>
      <p:sp>
        <p:nvSpPr>
          <p:cNvPr id="8" name="Text 6"/>
          <p:cNvSpPr txBox="1"/>
          <p:nvPr/>
        </p:nvSpPr>
        <p:spPr>
          <a:xfrm>
            <a:off x="731520" y="2167128"/>
            <a:ext cx="347472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 les Sud-Américains se vendent toujours cher » glissé dans le profil de Gervinho</a:t>
            </a:r>
            <a:endParaRPr lang="en-US" sz="1200" dirty="0"/>
          </a:p>
        </p:txBody>
      </p:sp>
      <p:sp>
        <p:nvSpPr>
          <p:cNvPr id="9" name="attaque_1"/>
          <p:cNvSpPr/>
          <p:nvPr/>
        </p:nvSpPr>
        <p:spPr>
          <a:xfrm>
            <a:off x="548640" y="2743200"/>
            <a:ext cx="3840480" cy="822960"/>
          </a:xfrm>
          <a:prstGeom prst="roundRect">
            <a:avLst>
              <a:gd name="adj" fmla="val 8889"/>
            </a:avLst>
          </a:prstGeom>
          <a:solidFill>
            <a:srgbClr val="EEF3EA"/>
          </a:solidFill>
          <a:ln/>
        </p:spPr>
      </p:sp>
      <p:sp>
        <p:nvSpPr>
          <p:cNvPr id="10" name="Text 8"/>
          <p:cNvSpPr txBox="1"/>
          <p:nvPr/>
        </p:nvSpPr>
        <p:spPr>
          <a:xfrm>
            <a:off x="731520" y="2834640"/>
            <a:ext cx="347472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Proxy : 0,7 % → 0,8 %</a:t>
            </a:r>
            <a:endParaRPr lang="en-US" sz="1400" dirty="0"/>
          </a:p>
        </p:txBody>
      </p:sp>
      <p:sp>
        <p:nvSpPr>
          <p:cNvPr id="11" name="Text 9"/>
          <p:cNvSpPr txBox="1"/>
          <p:nvPr/>
        </p:nvSpPr>
        <p:spPr>
          <a:xfrm>
            <a:off x="731520" y="3127248"/>
            <a:ext cx="347472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Gervinho placé à Flamengo, club brésilien</a:t>
            </a:r>
            <a:endParaRPr lang="en-US" sz="1200" dirty="0"/>
          </a:p>
        </p:txBody>
      </p:sp>
      <p:sp>
        <p:nvSpPr>
          <p:cNvPr id="12" name="Text 10"/>
          <p:cNvSpPr txBox="1"/>
          <p:nvPr/>
        </p:nvSpPr>
        <p:spPr>
          <a:xfrm>
            <a:off x="4754880" y="1417320"/>
            <a:ext cx="3840480" cy="274320"/>
          </a:xfrm>
          <a:prstGeom prst="rect">
            <a:avLst/>
          </a:prstGeom>
          <a:noFill/>
          <a:ln/>
        </p:spPr>
        <p:txBody>
          <a:bodyPr wrap="square" lIns="0" tIns="0" rIns="0" bIns="0" rtlCol="0" anchor="ctr"/>
          <a:lstStyle/>
          <a:p>
            <a:pPr indent="0" marL="0">
              <a:buNone/>
            </a:pPr>
            <a:r>
              <a:rPr lang="en-US" sz="1100" b="1" spc="300" kern="0" dirty="0">
                <a:solidFill>
                  <a:schemeClr val="accent5"/>
                </a:solidFill>
                <a:latin typeface="Calibri" pitchFamily="34" charset="0"/>
                <a:ea typeface="Calibri" pitchFamily="34" charset="-122"/>
                <a:cs typeface="Calibri" pitchFamily="34" charset="-120"/>
              </a:rPr>
              <a:t>LIMITES</a:t>
            </a:r>
            <a:endParaRPr lang="en-US" sz="1100" dirty="0"/>
          </a:p>
        </p:txBody>
      </p:sp>
      <p:sp>
        <p:nvSpPr>
          <p:cNvPr id="13" name="Text 11"/>
          <p:cNvSpPr txBox="1"/>
          <p:nvPr/>
        </p:nvSpPr>
        <p:spPr>
          <a:xfrm>
            <a:off x="4754880" y="178308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Transfermarkt est une estimation communautaire, pas un prix réel</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Le label corrigé ignore xG, dribbles, profil tactique</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Contrats absents : durée restante et salaire pèsent sur la valeur</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Une explication n'est pas une justification</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Équité contre performance : un arbitrage assumé</a:t>
            </a:r>
            <a:endParaRPr lang="en-US" sz="1300" dirty="0"/>
          </a:p>
        </p:txBody>
      </p:sp>
      <p:sp>
        <p:nvSpPr>
          <p:cNvPr id="25" name="Slide Number Placeholder 0"/>
          <p:cNvSpPr>
            <a:spLocks noGrp="1"/>
          </p:cNvSpPr>
          <p:nvPr>
            <p:ph type="sldNum" sz="quarter" idx="4294967295"/>
          </p:nvPr>
        </p:nvSpPr>
        <p:spPr>
          <a:xfrm>
            <a:off x="5486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1"/>
          <p:cNvSpPr/>
          <p:nvPr>
            <p:ph idx="111" type="body" hasCustomPrompt="1"/>
          </p:nvPr>
        </p:nvSpPr>
        <p:spPr>
          <a:xfrm>
            <a:off x="731520" y="731520"/>
            <a:ext cx="7315200" cy="274320"/>
          </a:xfrm>
          <a:prstGeom prst="rect">
            <a:avLst/>
          </a:prstGeom>
          <a:noFill/>
          <a:ln/>
        </p:spPr>
        <p:txBody>
          <a:bodyPr wrap="square" lIns="0" tIns="0" rIns="0" bIns="0" rtlCol="0"/>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CONCLUSION</a:t>
            </a:r>
            <a:endParaRPr lang="en-US" sz="1100" dirty="0"/>
          </a:p>
        </p:txBody>
      </p:sp>
      <p:sp>
        <p:nvSpPr>
          <p:cNvPr id="3" name="Text 11"/>
          <p:cNvSpPr/>
          <p:nvPr>
            <p:ph idx="112" type="title" hasCustomPrompt="1"/>
          </p:nvPr>
        </p:nvSpPr>
        <p:spPr>
          <a:xfrm>
            <a:off x="731520" y="1874520"/>
            <a:ext cx="7680960" cy="1371600"/>
          </a:xfrm>
          <a:prstGeom prst="rect">
            <a:avLst/>
          </a:prstGeom>
          <a:noFill/>
          <a:ln/>
        </p:spPr>
        <p:txBody>
          <a:bodyPr wrap="square" lIns="0" tIns="0" rIns="0" bIns="0" rtlCol="0" anchor="b"/>
          <a:lstStyle/>
          <a:p>
            <a:pPr algn="l" indent="0" marL="0">
              <a:buNone/>
            </a:pPr>
            <a:r>
              <a:rPr lang="en-US" sz="5400" b="1" dirty="0">
                <a:solidFill>
                  <a:schemeClr val="bg1"/>
                </a:solidFill>
                <a:latin typeface="Arial Narrow" pitchFamily="34" charset="0"/>
                <a:ea typeface="Arial Narrow" pitchFamily="34" charset="-122"/>
                <a:cs typeface="Arial Narrow" pitchFamily="34" charset="-120"/>
              </a:rPr>
              <a:t>ETHICS BY DESIGN</a:t>
            </a:r>
            <a:endParaRPr lang="en-US" sz="5400" dirty="0"/>
          </a:p>
        </p:txBody>
      </p:sp>
      <p:sp>
        <p:nvSpPr>
          <p:cNvPr id="4" name="Text 11"/>
          <p:cNvSpPr/>
          <p:nvPr>
            <p:ph idx="113" type="body" hasCustomPrompt="1"/>
          </p:nvPr>
        </p:nvSpPr>
        <p:spPr>
          <a:xfrm>
            <a:off x="731520" y="3337560"/>
            <a:ext cx="7680960" cy="457200"/>
          </a:xfrm>
          <a:prstGeom prst="rect">
            <a:avLst/>
          </a:prstGeom>
          <a:noFill/>
          <a:ln/>
        </p:spPr>
        <p:txBody>
          <a:bodyPr wrap="square" lIns="0" tIns="0" rIns="0" bIns="0" rtlCol="0"/>
          <a:lstStyle/>
          <a:p>
            <a:pPr indent="0" marL="0">
              <a:buNone/>
            </a:pPr>
            <a:r>
              <a:rPr lang="en-US" sz="2000" dirty="0">
                <a:solidFill>
                  <a:schemeClr val="accent6"/>
                </a:solidFill>
                <a:latin typeface="Calibri" pitchFamily="34" charset="0"/>
                <a:ea typeface="Calibri" pitchFamily="34" charset="-122"/>
                <a:cs typeface="Calibri" pitchFamily="34" charset="-120"/>
              </a:rPr>
              <a:t>Mesurer le biais, le réduire à trois niveaux, choisir le modèle sur un critère explicite, expliquer chaque décision.</a:t>
            </a:r>
            <a:endParaRPr lang="en-US" sz="2000" dirty="0"/>
          </a:p>
        </p:txBody>
      </p:sp>
      <p:sp>
        <p:nvSpPr>
          <p:cNvPr id="5" name="Text 11"/>
          <p:cNvSpPr/>
          <p:nvPr>
            <p:ph idx="114" type="body" hasCustomPrompt="1"/>
          </p:nvPr>
        </p:nvSpPr>
        <p:spPr>
          <a:xfrm>
            <a:off x="731520" y="4160520"/>
            <a:ext cx="7680960" cy="320040"/>
          </a:xfrm>
          <a:prstGeom prst="rect">
            <a:avLst/>
          </a:prstGeom>
          <a:noFill/>
          <a:ln/>
        </p:spPr>
        <p:txBody>
          <a:bodyPr wrap="square" lIns="0" tIns="0" rIns="0" bIns="0" rtlCol="0"/>
          <a:lstStyle/>
          <a:p>
            <a:pPr indent="0" marL="0">
              <a:buNone/>
            </a:pPr>
            <a:r>
              <a:rPr lang="en-US" sz="1200" dirty="0">
                <a:solidFill>
                  <a:schemeClr val="bg2"/>
                </a:solidFill>
                <a:latin typeface="Calibri" pitchFamily="34" charset="0"/>
                <a:ea typeface="Calibri" pitchFamily="34" charset="-122"/>
                <a:cs typeface="Calibri" pitchFamily="34" charset="-120"/>
              </a:rPr>
              <a:t>Merci. Questions ?</a:t>
            </a:r>
            <a:endParaRPr lang="en-US" sz="1200" dirty="0"/>
          </a:p>
        </p:txBody>
      </p:sp>
    </p:spTree>
  </p:cSld>
  <p:clrMapOvr>
    <a:masterClrMapping/>
  </p:clrMapOvr>
</p:sld>
</file>

<file path=ppt/theme/theme1.xml><?xml version="1.0" encoding="utf-8"?>
<a:theme xmlns:a="http://schemas.openxmlformats.org/drawingml/2006/main" name="Pelouse">
  <a:themeElements>
    <a:clrScheme name="Pelouse">
      <a:dk1>
        <a:srgbClr val="16261A"/>
      </a:dk1>
      <a:lt1>
        <a:srgbClr val="FFFFFF"/>
      </a:lt1>
      <a:dk2>
        <a:srgbClr val="1F4A1A"/>
      </a:dk2>
      <a:lt2>
        <a:srgbClr val="EEF3EA"/>
      </a:lt2>
      <a:accent1>
        <a:srgbClr val="1F4A1A"/>
      </a:accent1>
      <a:accent2>
        <a:srgbClr val="8DBF5A"/>
      </a:accent2>
      <a:accent3>
        <a:srgbClr val="E9A53A"/>
      </a:accent3>
      <a:accent4>
        <a:srgbClr val="D9534F"/>
      </a:accent4>
      <a:accent5>
        <a:srgbClr val="5F6B5C"/>
      </a:accent5>
      <a:accent6>
        <a:srgbClr val="C9DDB4"/>
      </a:accent6>
      <a:hlink>
        <a:srgbClr val="1F4A1A"/>
      </a:hlink>
      <a:folHlink>
        <a:srgbClr val="5F6B5C"/>
      </a:folHlink>
    </a:clrScheme>
    <a:fontScheme name="Pelouse">
      <a:majorFont>
        <a:latin typeface="Arial Narr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Même stats, pas le même prix</dc:title>
  <dc:subject>PptxGenJS Presentation</dc:subject>
  <dc:creator>Simon Gallais, Gautier Deplanque, Mathis Leitao</dc:creator>
  <cp:lastModifiedBy>Simon Gallais, Gautier Deplanque, Mathis Leitao</cp:lastModifiedBy>
  <cp:revision>1</cp:revision>
  <dcterms:created xsi:type="dcterms:W3CDTF">2026-10-05T21:57:16Z</dcterms:created>
  <dcterms:modified xsi:type="dcterms:W3CDTF">2026-10-05T21:57:16Z</dcterms:modified>
</cp:coreProperties>
</file>